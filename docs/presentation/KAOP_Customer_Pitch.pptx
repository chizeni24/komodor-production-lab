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1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2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75488"/>
            <a:ext cx="34747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" y="530352"/>
            <a:ext cx="3291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AGENT OPERATIONS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94944" y="1261872"/>
            <a:ext cx="67665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TEAMS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AGENTS.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" y="2880360"/>
            <a:ext cx="6035040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RISK?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13232" y="4892040"/>
            <a:ext cx="7863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D6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useful?  •  Can we see how?  •  Within the limits?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6089904"/>
            <a:ext cx="822960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Echizeni Ikpah    |    Product Engineer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35240" y="1051560"/>
            <a:ext cx="3931920" cy="3931920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2938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110728" y="1527048"/>
            <a:ext cx="2980944" cy="2980944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33536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586216" y="2002536"/>
            <a:ext cx="2029968" cy="2029968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087D7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58784" y="2450592"/>
            <a:ext cx="2103120" cy="1143000"/>
          </a:xfrm>
          <a:prstGeom prst="roundRect">
            <a:avLst>
              <a:gd name="adj" fmla="val 1920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41664" y="2651760"/>
            <a:ext cx="17373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14232" y="3072384"/>
            <a:ext cx="17830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PLANE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662672" y="131673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08392" y="158648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579608" y="149047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25328" y="176022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35240" y="427939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454914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634472" y="433425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680192" y="460400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 /  AGENDA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one real incident and a first step.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7" name="Rounded Rectangle 6"/>
          <p:cNvSpPr/>
          <p:nvPr/>
        </p:nvSpPr>
        <p:spPr>
          <a:xfrm>
            <a:off x="673100" y="1905000"/>
            <a:ext cx="3683000" cy="3683000"/>
          </a:xfrm>
          <a:prstGeom prst="roundRect">
            <a:avLst>
              <a:gd name="adj" fmla="val 8000"/>
            </a:avLst>
          </a:prstGeom>
          <a:solidFill>
            <a:srgbClr val="0C1423"/>
          </a:solidFill>
          <a:ln>
            <a:solidFill>
              <a:srgbClr val="0C1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500" y="2184400"/>
            <a:ext cx="3175000" cy="317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6F783"/>
                </a:solidFill>
                <a:latin typeface="Aptos"/>
              </a:rPr>
              <a:t>YOUR PRESENTER</a:t>
            </a:r>
          </a:p>
          <a:p>
            <a:pPr>
              <a:spcBef>
                <a:spcPts val="600"/>
              </a:spcBef>
            </a:pPr>
            <a:r>
              <a:rPr sz="2400" b="1">
                <a:solidFill>
                  <a:srgbClr val="FFFFFF"/>
                </a:solidFill>
                <a:latin typeface="Aptos"/>
              </a:rPr>
              <a:t>Echizeni Ikpah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8C4D6"/>
                </a:solidFill>
                <a:latin typeface="Aptos"/>
              </a:rPr>
              <a:t>Product Engineer, Komodor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E6ECF4"/>
                </a:solidFill>
                <a:latin typeface="Aptos"/>
              </a:rPr>
              <a:t>I help teams adopt KAOP: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Get the first workflow running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Measure the results with you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Bring your feedback to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978400"/>
            <a:ext cx="3175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6F783"/>
                </a:solidFill>
                <a:latin typeface="Aptos"/>
              </a:rPr>
              <a:t>Please ask questions any time. This is a conversation.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9000" y="19558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9000" y="20574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8600" y="19050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Your environment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Where agent sprawl would hurt 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99000" y="26924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9000" y="27940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8600" y="26416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Why KAOP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One view, real limits, work that closes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99000" y="34290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9000" y="35306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8600" y="33782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A live incident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A real alert, the evidence, a human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9000" y="41656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9000" y="42672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8600" y="41148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A reviewed fix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A separate code reviewer on a real pull request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9000" y="49022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9000" y="50038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8600" y="48514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Results and a first step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What I measured, and a pilot that fits your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DIAGNOSE THE REAL RISK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would agent sprawl hurt your team first?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6656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3F6F4"/>
          </a:solidFill>
          <a:ln w="1905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8696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138988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0586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 IT?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896112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inventory, no clear owner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372525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FDF1DE"/>
          </a:solidFill>
          <a:ln w="1905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82837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19413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5085757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4591981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CAN IT TOUCH?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4591981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tokens, unclear access</a:t>
            </a:r>
            <a:endParaRPr lang="en-US" sz="1510" dirty="0"/>
          </a:p>
        </p:txBody>
      </p:sp>
      <p:sp>
        <p:nvSpPr>
          <p:cNvPr id="20" name="Shape 18"/>
          <p:cNvSpPr/>
          <p:nvPr/>
        </p:nvSpPr>
        <p:spPr>
          <a:xfrm>
            <a:off x="8068394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8EFFD"/>
          </a:solidFill>
          <a:ln w="19050">
            <a:solidFill>
              <a:srgbClr val="3B78E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78706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3B78E7"/>
          </a:solidFill>
          <a:ln w="12700">
            <a:solidFill>
              <a:srgbClr val="3B78E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15282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8781626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2F6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8287850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ACTUALLY HAPPENED?</a:t>
            </a:r>
            <a:endParaRPr lang="en-US" sz="1820" dirty="0"/>
          </a:p>
        </p:txBody>
      </p:sp>
      <p:sp>
        <p:nvSpPr>
          <p:cNvPr id="25" name="Text 23"/>
          <p:cNvSpPr/>
          <p:nvPr/>
        </p:nvSpPr>
        <p:spPr>
          <a:xfrm>
            <a:off x="8287850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Scattered runs and no decision trail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676656" y="4828032"/>
            <a:ext cx="10808208" cy="886968"/>
          </a:xfrm>
          <a:prstGeom prst="roundRect">
            <a:avLst>
              <a:gd name="adj" fmla="val 18557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5010912"/>
            <a:ext cx="212140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3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QUESTION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9232" y="4965192"/>
            <a:ext cx="819302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would be hardest for your team to manage as usage grows?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VALUE BEFORE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outcomes. Not another agent dashboard.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Agents, owners,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and cost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3542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75488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LIMITS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 enforced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outside prompts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37590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9536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59536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THAT CLOSES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9536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→ evidence →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→ review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77240" y="5056632"/>
            <a:ext cx="51572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on KAOP’s shared operating model</a:t>
            </a:r>
            <a:endParaRPr lang="en-US" sz="1640" dirty="0"/>
          </a:p>
        </p:txBody>
      </p:sp>
      <p:sp>
        <p:nvSpPr>
          <p:cNvPr id="21" name="Shape 19"/>
          <p:cNvSpPr/>
          <p:nvPr/>
        </p:nvSpPr>
        <p:spPr>
          <a:xfrm>
            <a:off x="5760720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70448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7168896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278624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577072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0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9985248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094976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OPTIMIZE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COORDINATED, NOT CONFUSED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triggers. Two workflows. One operating model.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856232"/>
            <a:ext cx="10863072" cy="1676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77824" y="2039112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9264" y="2093976"/>
            <a:ext cx="265176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A  /  GRAFANA ALERT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950976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2416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42416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restart signal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3172968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19272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47872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39312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639312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K8s + Grafana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5769864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16168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44768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236208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36208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plan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8366760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513064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741664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833104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833104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</a:t>
            </a:r>
            <a:endParaRPr lang="en-US" sz="1140" dirty="0"/>
          </a:p>
        </p:txBody>
      </p:sp>
      <p:sp>
        <p:nvSpPr>
          <p:cNvPr id="29" name="Shape 27"/>
          <p:cNvSpPr/>
          <p:nvPr/>
        </p:nvSpPr>
        <p:spPr>
          <a:xfrm>
            <a:off x="658368" y="3853688"/>
            <a:ext cx="10863072" cy="167640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77824" y="4027424"/>
            <a:ext cx="2980944" cy="292608"/>
          </a:xfrm>
          <a:prstGeom prst="roundRect">
            <a:avLst>
              <a:gd name="adj" fmla="val 31250"/>
            </a:avLst>
          </a:prstGeom>
          <a:solidFill>
            <a:srgbClr val="5B91D5"/>
          </a:solidFill>
          <a:ln w="12700">
            <a:solidFill>
              <a:srgbClr val="5B91D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69264" y="4082288"/>
            <a:ext cx="27980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  /  FRESH GITHUB PR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950976" y="44937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42416" y="46126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42416" y="48686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one-line fix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3172968" y="47955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319272" y="47086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47872" y="44937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639312" y="46126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639312" y="48686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 on PR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5769864" y="47955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916168" y="47086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144768" y="44937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236208" y="46126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236208" y="48686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+ deploy</a:t>
            </a:r>
            <a:endParaRPr lang="en-US" sz="1120" dirty="0"/>
          </a:p>
        </p:txBody>
      </p:sp>
      <p:sp>
        <p:nvSpPr>
          <p:cNvPr id="45" name="Shape 43"/>
          <p:cNvSpPr/>
          <p:nvPr/>
        </p:nvSpPr>
        <p:spPr>
          <a:xfrm>
            <a:off x="8366760" y="47955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513064" y="47086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741664" y="44937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833104" y="46126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833104" y="48686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fault</a:t>
            </a:r>
            <a:endParaRPr lang="en-US" sz="1120" dirty="0"/>
          </a:p>
        </p:txBody>
      </p:sp>
      <p:sp>
        <p:nvSpPr>
          <p:cNvPr id="50" name="Text 48"/>
          <p:cNvSpPr/>
          <p:nvPr/>
        </p:nvSpPr>
        <p:spPr>
          <a:xfrm>
            <a:off x="722376" y="5867400"/>
            <a:ext cx="10607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 review does not auto-start from the incident. The two workflows have separate triggers and privileges.</a:t>
            </a:r>
            <a:endParaRPr lang="en-US" sz="1420" dirty="0"/>
          </a:p>
        </p:txBody>
      </p:sp>
      <p:sp>
        <p:nvSpPr>
          <p:cNvPr id="51" name="Rounded Rectangle 50"/>
          <p:cNvSpPr/>
          <p:nvPr/>
        </p:nvSpPr>
        <p:spPr>
          <a:xfrm>
            <a:off x="952500" y="3200400"/>
            <a:ext cx="1137920" cy="203200"/>
          </a:xfrm>
          <a:prstGeom prst="roundRect">
            <a:avLst>
              <a:gd name="adj" fmla="val 50000"/>
            </a:avLst>
          </a:prstGeom>
          <a:solidFill>
            <a:srgbClr val="FDF1DE"/>
          </a:solidFill>
          <a:ln>
            <a:solidFill>
              <a:srgbClr val="FD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2500" y="3232150"/>
            <a:ext cx="11379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B7791F"/>
                </a:solidFill>
                <a:latin typeface="Aptos"/>
              </a:rPr>
              <a:t>Grafana Cloud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3200400"/>
            <a:ext cx="429259" cy="203200"/>
          </a:xfrm>
          <a:prstGeom prst="roundRect">
            <a:avLst>
              <a:gd name="adj" fmla="val 50000"/>
            </a:avLst>
          </a:prstGeom>
          <a:solidFill>
            <a:srgbClr val="E3F6F4"/>
          </a:solidFill>
          <a:ln>
            <a:solidFill>
              <a:srgbClr val="E3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43300" y="3232150"/>
            <a:ext cx="42925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5867E"/>
                </a:solidFill>
                <a:latin typeface="Aptos"/>
              </a:rPr>
              <a:t>KAOP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036060" y="3200400"/>
            <a:ext cx="1059180" cy="203200"/>
          </a:xfrm>
          <a:prstGeom prst="roundRect">
            <a:avLst>
              <a:gd name="adj" fmla="val 50000"/>
            </a:avLst>
          </a:prstGeom>
          <a:solidFill>
            <a:srgbClr val="E8EFFD"/>
          </a:solidFill>
          <a:ln>
            <a:solidFill>
              <a:srgbClr val="E8EF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36060" y="3232150"/>
            <a:ext cx="105918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2F62C4"/>
                </a:solidFill>
                <a:latin typeface="Aptos"/>
              </a:rPr>
              <a:t>Your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46800" y="3200400"/>
            <a:ext cx="429259" cy="203200"/>
          </a:xfrm>
          <a:prstGeom prst="roundRect">
            <a:avLst>
              <a:gd name="adj" fmla="val 50000"/>
            </a:avLst>
          </a:prstGeom>
          <a:solidFill>
            <a:srgbClr val="E3F6F4"/>
          </a:solidFill>
          <a:ln>
            <a:solidFill>
              <a:srgbClr val="E3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46800" y="3232150"/>
            <a:ext cx="42925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5867E"/>
                </a:solidFill>
                <a:latin typeface="Aptos"/>
              </a:rPr>
              <a:t>KAOP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737600" y="3200400"/>
            <a:ext cx="350520" cy="203200"/>
          </a:xfrm>
          <a:prstGeom prst="roundRect">
            <a:avLst>
              <a:gd name="adj" fmla="val 50000"/>
            </a:avLst>
          </a:prstGeom>
          <a:solidFill>
            <a:srgbClr val="F3EAFB"/>
          </a:solidFill>
          <a:ln>
            <a:solidFill>
              <a:srgbClr val="F3E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37600" y="3232150"/>
            <a:ext cx="3505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7A3FB0"/>
                </a:solidFill>
                <a:latin typeface="Aptos"/>
              </a:rPr>
              <a:t>You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151620" y="3200400"/>
            <a:ext cx="429259" cy="203200"/>
          </a:xfrm>
          <a:prstGeom prst="roundRect">
            <a:avLst>
              <a:gd name="adj" fmla="val 50000"/>
            </a:avLst>
          </a:prstGeom>
          <a:solidFill>
            <a:srgbClr val="E3F6F4"/>
          </a:solidFill>
          <a:ln>
            <a:solidFill>
              <a:srgbClr val="E3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51620" y="3232150"/>
            <a:ext cx="42925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5867E"/>
                </a:solidFill>
                <a:latin typeface="Aptos"/>
              </a:rPr>
              <a:t>KAOP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2500" y="5207000"/>
            <a:ext cx="350520" cy="203200"/>
          </a:xfrm>
          <a:prstGeom prst="roundRect">
            <a:avLst>
              <a:gd name="adj" fmla="val 50000"/>
            </a:avLst>
          </a:prstGeom>
          <a:solidFill>
            <a:srgbClr val="F3EAFB"/>
          </a:solidFill>
          <a:ln>
            <a:solidFill>
              <a:srgbClr val="F3E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2500" y="5238750"/>
            <a:ext cx="3505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7A3FB0"/>
                </a:solidFill>
                <a:latin typeface="Aptos"/>
              </a:rPr>
              <a:t>You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366520" y="5207000"/>
            <a:ext cx="586740" cy="20320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>
            <a:solidFill>
              <a:srgbClr val="EEF0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66520" y="5238750"/>
            <a:ext cx="58674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D4A5C"/>
                </a:solidFill>
                <a:latin typeface="Aptos"/>
              </a:rPr>
              <a:t>GitHub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543300" y="5207000"/>
            <a:ext cx="429259" cy="203200"/>
          </a:xfrm>
          <a:prstGeom prst="roundRect">
            <a:avLst>
              <a:gd name="adj" fmla="val 50000"/>
            </a:avLst>
          </a:prstGeom>
          <a:solidFill>
            <a:srgbClr val="E3F6F4"/>
          </a:solidFill>
          <a:ln>
            <a:solidFill>
              <a:srgbClr val="E3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43300" y="5238750"/>
            <a:ext cx="42925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5867E"/>
                </a:solidFill>
                <a:latin typeface="Aptos"/>
              </a:rPr>
              <a:t>KAOP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036060" y="5207000"/>
            <a:ext cx="586740" cy="20320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>
            <a:solidFill>
              <a:srgbClr val="EEF0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036060" y="5238750"/>
            <a:ext cx="58674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D4A5C"/>
                </a:solidFill>
                <a:latin typeface="Aptos"/>
              </a:rPr>
              <a:t>GitHub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46800" y="5207000"/>
            <a:ext cx="350520" cy="203200"/>
          </a:xfrm>
          <a:prstGeom prst="roundRect">
            <a:avLst>
              <a:gd name="adj" fmla="val 50000"/>
            </a:avLst>
          </a:prstGeom>
          <a:solidFill>
            <a:srgbClr val="F3EAFB"/>
          </a:solidFill>
          <a:ln>
            <a:solidFill>
              <a:srgbClr val="F3E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46800" y="5238750"/>
            <a:ext cx="3505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7A3FB0"/>
                </a:solidFill>
                <a:latin typeface="Aptos"/>
              </a:rPr>
              <a:t>You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560820" y="5207000"/>
            <a:ext cx="586740" cy="20320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>
            <a:solidFill>
              <a:srgbClr val="EEF0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60820" y="5238750"/>
            <a:ext cx="58674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D4A5C"/>
                </a:solidFill>
                <a:latin typeface="Aptos"/>
              </a:rPr>
              <a:t>GitHub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737600" y="5207000"/>
            <a:ext cx="1059180" cy="203200"/>
          </a:xfrm>
          <a:prstGeom prst="roundRect">
            <a:avLst>
              <a:gd name="adj" fmla="val 50000"/>
            </a:avLst>
          </a:prstGeom>
          <a:solidFill>
            <a:srgbClr val="E8EFFD"/>
          </a:solidFill>
          <a:ln>
            <a:solidFill>
              <a:srgbClr val="E8EF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737600" y="5238750"/>
            <a:ext cx="105918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2F62C4"/>
                </a:solidFill>
                <a:latin typeface="Aptos"/>
              </a:rPr>
              <a:t>Your cluster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VERIFIED IN THIS LAB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prompt is not a permission boundary.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938528"/>
            <a:ext cx="22402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3136392" y="1938528"/>
            <a:ext cx="3200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WORK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556248" y="1938528"/>
            <a:ext cx="2697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DO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9390888" y="1938528"/>
            <a:ext cx="21031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BY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04088" y="2340864"/>
            <a:ext cx="10808208" cy="0"/>
          </a:xfrm>
          <a:prstGeom prst="line">
            <a:avLst/>
          </a:prstGeom>
          <a:noFill/>
          <a:ln w="1778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2404872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95528" y="2487168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3191256" y="2487168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pods, events, logs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6611112" y="2487168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Secrets; exec; modify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9418320" y="2487168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RBAC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95528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3191256" y="3209544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metrics + alerts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6611112" y="3209544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/ unlisted tools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9418320" y="3209544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gateway allow list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13232" y="3849624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5528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3191256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fix, undo, check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6611112" y="3931920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Touch a live system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9418320" y="3931920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live-system tools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795528" y="4654296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3191256" y="4654296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 on PR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6611112" y="4654296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or merge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9418320" y="4654296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merges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68096" y="5650992"/>
            <a:ext cx="10652760" cy="429768"/>
          </a:xfrm>
          <a:prstGeom prst="roundRect">
            <a:avLst>
              <a:gd name="adj" fmla="val 25532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87552" y="5742432"/>
            <a:ext cx="102047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TESTED:  Grafana tools outside the list refused  •  Kubernetes writes denied  •  Over-budget alert not investigated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DEMO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proof: six things you should see.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53896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SIGNAL</a:t>
            </a:r>
            <a:endParaRPr lang="en-US" sz="1360" dirty="0"/>
          </a:p>
        </p:txBody>
      </p:sp>
      <p:sp>
        <p:nvSpPr>
          <p:cNvPr id="12" name="Text 10"/>
          <p:cNvSpPr/>
          <p:nvPr/>
        </p:nvSpPr>
        <p:spPr>
          <a:xfrm>
            <a:off x="1453896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restart alert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99432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45152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5230368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RCA and tool calls</a:t>
            </a:r>
            <a:endParaRPr lang="en-US" sz="1310" dirty="0"/>
          </a:p>
        </p:txBody>
      </p:sp>
      <p:sp>
        <p:nvSpPr>
          <p:cNvPr id="18" name="Shape 16"/>
          <p:cNvSpPr/>
          <p:nvPr/>
        </p:nvSpPr>
        <p:spPr>
          <a:xfrm>
            <a:off x="8238744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75904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21624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06840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9006840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cannot write</a:t>
            </a:r>
            <a:endParaRPr lang="en-US" sz="1310" dirty="0"/>
          </a:p>
        </p:txBody>
      </p:sp>
      <p:sp>
        <p:nvSpPr>
          <p:cNvPr id="23" name="Shape 21"/>
          <p:cNvSpPr/>
          <p:nvPr/>
        </p:nvSpPr>
        <p:spPr>
          <a:xfrm>
            <a:off x="685800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22960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53896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1453896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 Redis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4462272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99432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45152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30368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360" dirty="0"/>
          </a:p>
        </p:txBody>
      </p:sp>
      <p:sp>
        <p:nvSpPr>
          <p:cNvPr id="32" name="Text 30"/>
          <p:cNvSpPr/>
          <p:nvPr/>
        </p:nvSpPr>
        <p:spPr>
          <a:xfrm>
            <a:off x="5230368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GitHub bot comment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8247888" y="4626864"/>
            <a:ext cx="3300984" cy="1106424"/>
          </a:xfrm>
          <a:prstGeom prst="roundRect">
            <a:avLst>
              <a:gd name="adj" fmla="val 14050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85632" y="4864608"/>
            <a:ext cx="278892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8485632" y="5294376"/>
            <a:ext cx="2761488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Trigger, not probe defect</a:t>
            </a:r>
            <a:endParaRPr lang="en-US" sz="1230" dirty="0"/>
          </a:p>
        </p:txBody>
      </p:sp>
      <p:sp>
        <p:nvSpPr>
          <p:cNvPr id="36" name="Shape 34"/>
          <p:cNvSpPr/>
          <p:nvPr/>
        </p:nvSpPr>
        <p:spPr>
          <a:xfrm>
            <a:off x="685800" y="4626864"/>
            <a:ext cx="7251192" cy="1106424"/>
          </a:xfrm>
          <a:prstGeom prst="roundRect">
            <a:avLst>
              <a:gd name="adj" fmla="val 14050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32688" y="4864608"/>
            <a:ext cx="6711696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ROOT CAUSE OF AVOIDABLE RESTARTS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32688" y="5248656"/>
            <a:ext cx="67208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Redis-sensitive /readyz was misused for liveness.</a:t>
            </a:r>
            <a:endParaRPr lang="en-US" sz="1580" dirty="0"/>
          </a:p>
        </p:txBody>
      </p:sp>
      <p:sp>
        <p:nvSpPr>
          <p:cNvPr id="39" name="Shape 26"/>
          <p:cNvSpPr/>
          <p:nvPr/>
        </p:nvSpPr>
        <p:spPr>
          <a:xfrm>
            <a:off x="8238744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0" name="Shape 27"/>
          <p:cNvSpPr/>
          <p:nvPr/>
        </p:nvSpPr>
        <p:spPr>
          <a:xfrm>
            <a:off x="8375904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28"/>
          <p:cNvSpPr/>
          <p:nvPr/>
        </p:nvSpPr>
        <p:spPr>
          <a:xfrm>
            <a:off x="8421624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Text 29"/>
          <p:cNvSpPr/>
          <p:nvPr/>
        </p:nvSpPr>
        <p:spPr>
          <a:xfrm>
            <a:off x="9006840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360" dirty="0"/>
          </a:p>
        </p:txBody>
      </p:sp>
      <p:sp>
        <p:nvSpPr>
          <p:cNvPr id="43" name="Text 30"/>
          <p:cNvSpPr/>
          <p:nvPr/>
        </p:nvSpPr>
        <p:spPr>
          <a:xfrm>
            <a:off x="9006840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Owner, cost and audit trail</a:t>
            </a:r>
            <a:endParaRPr lang="en-US" sz="13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ACTUAL SCREENS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01 | Signal → evidence-backed diagnosis</a:t>
            </a:r>
            <a:endParaRPr lang="en-US" sz="298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41248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1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26280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302752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94192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3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31520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1832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41832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down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restart + liveness 503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41832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kills a healthy API because its liveness check needs Redis.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4215384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43400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98848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CLOUD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09160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fires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+ timestamp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09160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 about 3 minutes in. Says what and when, not why.</a:t>
            </a:r>
            <a:endParaRPr lang="en-US" sz="1290" dirty="0"/>
          </a:p>
        </p:txBody>
      </p:sp>
      <p:sp>
        <p:nvSpPr>
          <p:cNvPr id="24" name="Shape 22"/>
          <p:cNvSpPr/>
          <p:nvPr/>
        </p:nvSpPr>
        <p:spPr>
          <a:xfrm>
            <a:off x="7982712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10728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76488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INCIDENT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476488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RCA + Grafana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orchestrated finding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76488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specialists. The orchestrator scores each possible cause.</a:t>
            </a:r>
            <a:endParaRPr lang="en-US" sz="129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10972800" cy="694944"/>
          </a:xfrm>
          <a:prstGeom prst="roundRect">
            <a:avLst>
              <a:gd name="adj" fmla="val 18421"/>
            </a:avLst>
          </a:prstGeom>
          <a:solidFill>
            <a:srgbClr val="22364B"/>
          </a:solidFill>
          <a:ln w="12700">
            <a:solidFill>
              <a:srgbClr val="22364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51560" y="5321808"/>
            <a:ext cx="4215384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  =  TRIGGER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5038344" y="5303520"/>
            <a:ext cx="6172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DEPENDENCY-COUPLED LIVENESS  =  RESTART ROOT CAUSE</a:t>
            </a:r>
            <a:endParaRPr lang="en-US" sz="14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NO HIDDEN AUTOMATION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02 | Human decision → reviewed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8096" y="1901952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32688" y="2029968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87552" y="2171700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1545336" y="2039112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proposes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91000" y="2057400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Restore Redis now + durable probe fix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768096" y="2734056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7552" y="3003804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1545336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APPLIES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91000" y="2889504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kubectl restores Redis in the lab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768096" y="3566160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32688" y="3694176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835908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1545336" y="3703320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 PR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91000" y="3721608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liveness /readyz → /healthz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68096" y="4398264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2688" y="4526280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87552" y="4668012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545336" y="4535424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 COMMENTS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191000" y="4553712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KAOP GitHub workflow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7763256" y="1901952"/>
            <a:ext cx="3575304" cy="3209544"/>
          </a:xfrm>
          <a:prstGeom prst="roundRect">
            <a:avLst>
              <a:gd name="adj" fmla="val 5128"/>
            </a:avLst>
          </a:prstGeom>
          <a:solidFill>
            <a:srgbClr val="1D2F42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46720" y="2176272"/>
            <a:ext cx="309981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AGENT DID THESE</a:t>
            </a:r>
            <a:endParaRPr lang="en-US" sz="1740" dirty="0"/>
          </a:p>
        </p:txBody>
      </p:sp>
      <p:sp>
        <p:nvSpPr>
          <p:cNvPr id="30" name="Text 28"/>
          <p:cNvSpPr/>
          <p:nvPr/>
        </p:nvSpPr>
        <p:spPr>
          <a:xfrm>
            <a:off x="8028432" y="2798064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66760" y="2807208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 production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28432" y="3364992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366760" y="3374136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or merged the PR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028432" y="3931920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66760" y="3941064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Took credit for the fix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58952" y="5513832"/>
            <a:ext cx="10579608" cy="411480"/>
          </a:xfrm>
          <a:prstGeom prst="roundRect">
            <a:avLst>
              <a:gd name="adj" fmla="val 2444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23544" y="5623560"/>
            <a:ext cx="10296144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tested on the same outage: 5 liveness kills in 5 minutes before, 0 after.</a:t>
            </a:r>
            <a:endParaRPr lang="en-US" sz="14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QUALITY + COST MEASURED 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completed run is not a correct run.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874520"/>
            <a:ext cx="5486400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157984"/>
            <a:ext cx="50292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3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QUALITY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667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of 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483864" y="2706624"/>
            <a:ext cx="237744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of 10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3456432"/>
            <a:ext cx="5029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found the actual cause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93776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/ with one documented probe standard.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investigation input; small lab samples.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5093208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601968" y="2157984"/>
            <a:ext cx="4663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OF THE GRAFANA INVESTIGATOR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0256" y="2706624"/>
            <a:ext cx="1792224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$0.68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30768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924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$0.53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611112" y="3456432"/>
            <a:ext cx="46634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average per run</a:t>
            </a:r>
            <a:endParaRPr lang="en-US" sz="1710" dirty="0"/>
          </a:p>
        </p:txBody>
      </p:sp>
      <p:sp>
        <p:nvSpPr>
          <p:cNvPr id="21" name="Text 19"/>
          <p:cNvSpPr/>
          <p:nvPr/>
        </p:nvSpPr>
        <p:spPr>
          <a:xfrm>
            <a:off x="6611112" y="3959352"/>
            <a:ext cx="4572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read tools versus a broader toolset.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runs per setup; identical cases vary.</a:t>
            </a:r>
            <a:endParaRPr lang="en-US" sz="1460" dirty="0"/>
          </a:p>
        </p:txBody>
      </p:sp>
      <p:sp>
        <p:nvSpPr>
          <p:cNvPr id="22" name="Shape 20"/>
          <p:cNvSpPr/>
          <p:nvPr/>
        </p:nvSpPr>
        <p:spPr>
          <a:xfrm>
            <a:off x="694944" y="5495544"/>
            <a:ext cx="10789920" cy="438912"/>
          </a:xfrm>
          <a:prstGeom prst="roundRect">
            <a:avLst>
              <a:gd name="adj" fmla="val 2291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5614416"/>
            <a:ext cx="103784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BENCHMARK: Hosted agent changed version during tests; evaluation must be repeated in the customer environment.</a:t>
            </a:r>
            <a:endParaRPr lang="en-US" sz="119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PRODUCT ENGINEERING, NOT JUST A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autonomy through measured adoption.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2057400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06AFA5"/>
          </a:solidFill>
          <a:ln w="1016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2194560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1660" dirty="0"/>
          </a:p>
        </p:txBody>
      </p:sp>
      <p:sp>
        <p:nvSpPr>
          <p:cNvPr id="11" name="Text 9"/>
          <p:cNvSpPr/>
          <p:nvPr/>
        </p:nvSpPr>
        <p:spPr>
          <a:xfrm>
            <a:off x="859536" y="2980944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RCA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300984" y="2697480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64992" y="261061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547872" y="1938528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94176" y="2075688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94176" y="2414016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</a:t>
            </a:r>
            <a:endParaRPr lang="en-US" sz="1660" dirty="0"/>
          </a:p>
        </p:txBody>
      </p:sp>
      <p:sp>
        <p:nvSpPr>
          <p:cNvPr id="17" name="Text 15"/>
          <p:cNvSpPr/>
          <p:nvPr/>
        </p:nvSpPr>
        <p:spPr>
          <a:xfrm>
            <a:off x="3694176" y="2862072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Proposals + evidence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135624" y="2578608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99632" y="24917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82512" y="1819656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28816" y="1956816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28816" y="2295144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EXECUTE</a:t>
            </a:r>
            <a:endParaRPr lang="en-US" sz="1660" dirty="0"/>
          </a:p>
        </p:txBody>
      </p:sp>
      <p:sp>
        <p:nvSpPr>
          <p:cNvPr id="23" name="Text 21"/>
          <p:cNvSpPr/>
          <p:nvPr/>
        </p:nvSpPr>
        <p:spPr>
          <a:xfrm>
            <a:off x="6528816" y="2743200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gates writes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970264" y="2459736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034272" y="2372868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217152" y="1700784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363456" y="1837944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363456" y="2176272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PRE-APPROVE</a:t>
            </a:r>
            <a:endParaRPr lang="en-US" sz="1660" dirty="0"/>
          </a:p>
        </p:txBody>
      </p:sp>
      <p:sp>
        <p:nvSpPr>
          <p:cNvPr id="29" name="Text 27"/>
          <p:cNvSpPr/>
          <p:nvPr/>
        </p:nvSpPr>
        <p:spPr>
          <a:xfrm>
            <a:off x="9363456" y="2624328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low-risk repeats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749808" y="3831336"/>
            <a:ext cx="1067104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the workflow before increasing its authority.</a:t>
            </a:r>
            <a:endParaRPr lang="en-US" sz="2150" dirty="0"/>
          </a:p>
        </p:txBody>
      </p:sp>
      <p:sp>
        <p:nvSpPr>
          <p:cNvPr id="31" name="Shape 29"/>
          <p:cNvSpPr/>
          <p:nvPr/>
        </p:nvSpPr>
        <p:spPr>
          <a:xfrm>
            <a:off x="731520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77824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252728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RCA + evidence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4443984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90288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965192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useful decision</a:t>
            </a:r>
            <a:endParaRPr lang="en-US" sz="1330" dirty="0"/>
          </a:p>
        </p:txBody>
      </p:sp>
      <p:sp>
        <p:nvSpPr>
          <p:cNvPr id="37" name="Shape 35"/>
          <p:cNvSpPr/>
          <p:nvPr/>
        </p:nvSpPr>
        <p:spPr>
          <a:xfrm>
            <a:off x="8156448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02752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77656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compliance</a:t>
            </a:r>
            <a:endParaRPr lang="en-US" sz="1330" dirty="0"/>
          </a:p>
        </p:txBody>
      </p:sp>
      <p:sp>
        <p:nvSpPr>
          <p:cNvPr id="40" name="Shape 38"/>
          <p:cNvSpPr/>
          <p:nvPr/>
        </p:nvSpPr>
        <p:spPr>
          <a:xfrm>
            <a:off x="731520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77824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252728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per useful run</a:t>
            </a:r>
            <a:endParaRPr lang="en-US" sz="1330" dirty="0"/>
          </a:p>
        </p:txBody>
      </p:sp>
      <p:sp>
        <p:nvSpPr>
          <p:cNvPr id="43" name="Shape 41"/>
          <p:cNvSpPr/>
          <p:nvPr/>
        </p:nvSpPr>
        <p:spPr>
          <a:xfrm>
            <a:off x="4443984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90288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965192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 adoption</a:t>
            </a:r>
            <a:endParaRPr lang="en-US" sz="13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CUSTOMER NEXT STEP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pilot. One owner. One decision to expand.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" y="1865376"/>
            <a:ext cx="5669280" cy="3547872"/>
          </a:xfrm>
          <a:prstGeom prst="roundRect">
            <a:avLst>
              <a:gd name="adj" fmla="val 56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8408" y="2176272"/>
            <a:ext cx="50200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10" b="1" spc="5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WORKFLOW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978408" y="2743200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1016" y="2679192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technical owner + interested users</a:t>
            </a:r>
            <a:endParaRPr lang="en-US" sz="1470" dirty="0"/>
          </a:p>
        </p:txBody>
      </p:sp>
      <p:sp>
        <p:nvSpPr>
          <p:cNvPr id="12" name="Shape 10"/>
          <p:cNvSpPr/>
          <p:nvPr/>
        </p:nvSpPr>
        <p:spPr>
          <a:xfrm>
            <a:off x="978408" y="3310128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016" y="3246120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alert or PR workflow, not a fleet migration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978408" y="3877056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71016" y="3813048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Scoped access, human gates, baseline metrics</a:t>
            </a:r>
            <a:endParaRPr lang="en-US" sz="1470" dirty="0"/>
          </a:p>
        </p:txBody>
      </p:sp>
      <p:sp>
        <p:nvSpPr>
          <p:cNvPr id="16" name="Shape 14"/>
          <p:cNvSpPr/>
          <p:nvPr/>
        </p:nvSpPr>
        <p:spPr>
          <a:xfrm>
            <a:off x="978408" y="4443984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71016" y="4379976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actual outputs and adoption after pilot</a:t>
            </a:r>
            <a:endParaRPr lang="en-US" sz="1470" dirty="0"/>
          </a:p>
        </p:txBody>
      </p:sp>
      <p:sp>
        <p:nvSpPr>
          <p:cNvPr id="18" name="Shape 16"/>
          <p:cNvSpPr/>
          <p:nvPr/>
        </p:nvSpPr>
        <p:spPr>
          <a:xfrm>
            <a:off x="6620256" y="1865376"/>
            <a:ext cx="4873752" cy="3547872"/>
          </a:xfrm>
          <a:prstGeom prst="roundRect">
            <a:avLst>
              <a:gd name="adj" fmla="val 5928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0296" y="2249424"/>
            <a:ext cx="421538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QUESTION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0296" y="2816352"/>
            <a:ext cx="4169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workflow would you want to prove first?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940296" y="4251960"/>
            <a:ext cx="4133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B5C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would be the right person to help us scope it?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66928"/>
            <a:ext cx="16459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95528" y="621792"/>
            <a:ext cx="14630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THOUGHT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704088" y="1307592"/>
            <a:ext cx="9966960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AGENTS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ACCOUNTABLE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04088" y="3008376"/>
            <a:ext cx="10515600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MAKING THEM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AUTONOMOUS.</a:t>
            </a:r>
            <a:endParaRPr lang="en-US" sz="4100" dirty="0"/>
          </a:p>
        </p:txBody>
      </p:sp>
      <p:sp>
        <p:nvSpPr>
          <p:cNvPr id="6" name="Shape 4"/>
          <p:cNvSpPr/>
          <p:nvPr/>
        </p:nvSpPr>
        <p:spPr>
          <a:xfrm>
            <a:off x="704088" y="5029200"/>
            <a:ext cx="10725912" cy="0"/>
          </a:xfrm>
          <a:prstGeom prst="line">
            <a:avLst/>
          </a:prstGeom>
          <a:noFill/>
          <a:ln w="1905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3232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078224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87952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LIMITS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7443216" y="5349240"/>
            <a:ext cx="3657600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52944" y="5422392"/>
            <a:ext cx="343814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→ DECISION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731520" y="614476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C0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would that first pilot need to prove for you?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results: what was actually measured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Shape 4"/>
          <p:cNvSpPr/>
          <p:nvPr/>
        </p:nvSpPr>
        <p:spPr>
          <a:xfrm>
            <a:off x="731520" y="174650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3544" y="187452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vs fix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53512" y="187452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probe: 5 liveness kills in 5 min; corrected probe: zero.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368296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496312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timing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953512" y="2496312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at +3:26 and +3:09 in two October 25 rehearsals.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2990088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3544" y="3118104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timing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53512" y="3118104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suggestions ready around +11:30 and +13:36.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3544" y="3739896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 reviewer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953512" y="3739896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comment in 35 s and 33 s on rehearsal PRs.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" y="4361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2953512" y="4361688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 with standards doc; 1/5 without, in stated comparison.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" y="485546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3544" y="498348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53512" y="498348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$0.68 → $0.53 average for 5 vs 5 Grafana agent runs.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8952" y="5806440"/>
            <a:ext cx="105156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Caveats: Single-node kind lab, small samples, shared dependency cause, and a hosted-agent upgrade during experiments.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/ SCOPE BOUNDARIES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had authority in this specific lab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/ 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47872" y="1691640"/>
            <a:ext cx="4114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10728" y="1691640"/>
            <a:ext cx="308152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011680"/>
            <a:ext cx="10451592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207568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86968" y="217627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370" dirty="0"/>
          </a:p>
        </p:txBody>
      </p:sp>
      <p:sp>
        <p:nvSpPr>
          <p:cNvPr id="12" name="Text 10"/>
          <p:cNvSpPr/>
          <p:nvPr/>
        </p:nvSpPr>
        <p:spPr>
          <a:xfrm>
            <a:off x="3529584" y="217627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read-only via ServiceAccount RBAC</a:t>
            </a:r>
            <a:endParaRPr lang="en-US" sz="1310" dirty="0"/>
          </a:p>
        </p:txBody>
      </p:sp>
      <p:sp>
        <p:nvSpPr>
          <p:cNvPr id="13" name="Text 11"/>
          <p:cNvSpPr/>
          <p:nvPr/>
        </p:nvSpPr>
        <p:spPr>
          <a:xfrm>
            <a:off x="8129016" y="217627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Secrets, exec, delete, patch, scale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" y="281635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3529584" y="281635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selected read tools through KAOP gateway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8129016" y="281635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families outside allow 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35584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86968" y="345643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budget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3529584" y="345643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 a day; new runs blocked at the cap</a:t>
            </a:r>
            <a:endParaRPr lang="en-US" sz="1310" dirty="0"/>
          </a:p>
        </p:txBody>
      </p:sp>
      <p:sp>
        <p:nvSpPr>
          <p:cNvPr id="20" name="Text 18"/>
          <p:cNvSpPr/>
          <p:nvPr/>
        </p:nvSpPr>
        <p:spPr>
          <a:xfrm>
            <a:off x="8129016" y="345643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past the cap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" y="409651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529584" y="409651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and recommend, with verification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8129016" y="409651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tools on any live system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63600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86968" y="473659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reviewer</a:t>
            </a:r>
            <a:endParaRPr lang="en-US" sz="1370" dirty="0"/>
          </a:p>
        </p:txBody>
      </p:sp>
      <p:sp>
        <p:nvSpPr>
          <p:cNvPr id="26" name="Text 24"/>
          <p:cNvSpPr/>
          <p:nvPr/>
        </p:nvSpPr>
        <p:spPr>
          <a:xfrm>
            <a:off x="3529584" y="473659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Issue-style review comment on a real PR</a:t>
            </a:r>
            <a:endParaRPr lang="en-US" sz="1310" dirty="0"/>
          </a:p>
        </p:txBody>
      </p:sp>
      <p:sp>
        <p:nvSpPr>
          <p:cNvPr id="27" name="Text 25"/>
          <p:cNvSpPr/>
          <p:nvPr/>
        </p:nvSpPr>
        <p:spPr>
          <a:xfrm>
            <a:off x="8129016" y="473659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approve or 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669280"/>
            <a:ext cx="10460736" cy="420624"/>
          </a:xfrm>
          <a:prstGeom prst="roundRect">
            <a:avLst>
              <a:gd name="adj" fmla="val 2608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0120" y="5788152"/>
            <a:ext cx="10149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applies recovery; the workflow records that distinction.</a:t>
            </a:r>
            <a:endParaRPr lang="en-US" sz="13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Independent presentation draft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KAOP | Accountable Agent Operations</dc:title>
  <dc:subject>Independent Komodor KAOP customer presentation</dc:subject>
  <dc:creator>OpenAI</dc:creator>
  <cp:lastModifiedBy>OpenAI</cp:lastModifiedBy>
  <cp:revision>1</cp:revision>
  <dcterms:created xsi:type="dcterms:W3CDTF">2026-10-26T20:19:41Z</dcterms:created>
  <dcterms:modified xsi:type="dcterms:W3CDTF">2026-10-26T20:19:41Z</dcterms:modified>
</cp:coreProperties>
</file>