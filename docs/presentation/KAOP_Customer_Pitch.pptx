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94A3B8"/>
                </a:solidFill>
                <a:latin typeface="Arial"/>
              </a:rPr>
              <a:t>KOMODOR AGENTIC OPERATIONS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676656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Your teams are already shipping agents.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676656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A5B4FC"/>
                </a:solidFill>
                <a:latin typeface="Arial"/>
              </a:rPr>
              <a:t>Can you govern 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621792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CBD5E1"/>
                </a:solidFill>
                <a:latin typeface="Arial"/>
              </a:rPr>
              <a:t>Give every agent an identity, a boundary, an approval path and a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4A3B8"/>
                </a:solidFill>
                <a:latin typeface="Arial"/>
              </a:rPr>
              <a:t>Echizeni Ikpah  ·  Product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914400"/>
            <a:ext cx="4114800" cy="525780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18120" y="1188720"/>
            <a:ext cx="3566160" cy="5486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SRE  </a:t>
            </a:r>
            <a:r>
              <a:rPr sz="1400" b="0">
                <a:solidFill>
                  <a:srgbClr val="FFFFFF"/>
                </a:solidFill>
                <a:latin typeface="Arial"/>
              </a:rPr>
              <a:t>Incident investigator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901952"/>
            <a:ext cx="3566160" cy="5486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App team  </a:t>
            </a:r>
            <a:r>
              <a:rPr sz="1400" b="0">
                <a:solidFill>
                  <a:srgbClr val="FFFFFF"/>
                </a:solidFill>
                <a:latin typeface="Arial"/>
              </a:rPr>
              <a:t>PR reviewer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615184"/>
            <a:ext cx="3566160" cy="5486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FinOps  </a:t>
            </a:r>
            <a:r>
              <a:rPr sz="1400" b="0">
                <a:solidFill>
                  <a:srgbClr val="FFFFFF"/>
                </a:solidFill>
                <a:latin typeface="Arial"/>
              </a:rPr>
              <a:t>Cost analyzer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328415"/>
            <a:ext cx="3566160" cy="54864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Support  </a:t>
            </a:r>
            <a:r>
              <a:rPr sz="1400" b="0">
                <a:solidFill>
                  <a:srgbClr val="FFFFFF"/>
                </a:solidFill>
                <a:latin typeface="Arial"/>
              </a:rPr>
              <a:t>Your own agent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491472" y="4041648"/>
            <a:ext cx="219456" cy="329184"/>
          </a:xfrm>
          <a:prstGeom prst="down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18120" y="44805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E0E7FF"/>
                </a:solidFill>
                <a:latin typeface="Arial"/>
              </a:rPr>
              <a:t>ONE CONTROL PLANE</a:t>
            </a:r>
          </a:p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Identity · Permissions · Approvals</a:t>
            </a:r>
          </a:p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Audit log · Budgets · Run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KAOP  ·  PLATFORM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02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76656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F172A"/>
                </a:solidFill>
                <a:latin typeface="Arial"/>
              </a:rPr>
              <a:t>Echizeni Ikpah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65836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475569"/>
                </a:solidFill>
                <a:latin typeface="Arial"/>
              </a:rPr>
              <a:t>Product Engineer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429000"/>
            <a:ext cx="73152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19272"/>
            <a:ext cx="164592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319272"/>
            <a:ext cx="457200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475569"/>
                </a:solidFill>
                <a:latin typeface="Arial"/>
              </a:rPr>
              <a:t>Helping platform teams adopt AI agents safely.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73152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87952"/>
            <a:ext cx="164592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For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187952"/>
            <a:ext cx="457200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475569"/>
                </a:solidFill>
                <a:latin typeface="Arial"/>
              </a:rPr>
              <a:t>I built a production-like lab end to end: Kubernetes, Grafana Cloud and KAOP.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83479"/>
            <a:ext cx="676656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166359"/>
            <a:ext cx="73152" cy="3840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56631"/>
            <a:ext cx="164592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My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5056631"/>
            <a:ext cx="4572000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475569"/>
                </a:solidFill>
                <a:latin typeface="Arial"/>
              </a:rPr>
              <a:t>Everything you'll see, I tested on that lab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600200"/>
            <a:ext cx="3959352" cy="406908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1828800"/>
            <a:ext cx="34747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WHAT I CARE ABOUT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240280"/>
            <a:ext cx="3474720" cy="3291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Platform teams saying yes to AI agents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CBD5E1"/>
                </a:solidFill>
                <a:latin typeface="Arial"/>
              </a:rPr>
              <a:t>without losing control of what those agents can touch, or the record of what they did.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KAOP  ·  PLATFORM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03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What to expect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About 30 minutes, then your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7665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84832"/>
            <a:ext cx="100584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84832"/>
            <a:ext cx="265176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Your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84832"/>
            <a:ext cx="292608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Where agent adoption hurts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67665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16352"/>
            <a:ext cx="100584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10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16352"/>
            <a:ext cx="265176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How KAOP addresses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16352"/>
            <a:ext cx="292608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Operating model, governance, visibility.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67665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100584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12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47872"/>
            <a:ext cx="265176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Live: one real incident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547872"/>
            <a:ext cx="292608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From alert to reviewed fix.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67665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79392"/>
            <a:ext cx="100584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3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279392"/>
            <a:ext cx="265176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A first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279392"/>
            <a:ext cx="292608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Shaped around your team.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67665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010912"/>
            <a:ext cx="100584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F46E5"/>
                </a:solidFill>
                <a:latin typeface="Arial"/>
              </a:rPr>
              <a:t>15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010912"/>
            <a:ext cx="265176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Your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010912"/>
            <a:ext cx="292608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Anything, including the hard ones.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011680"/>
            <a:ext cx="3959352" cy="356616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2176272"/>
            <a:ext cx="34747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YOU WILL SEE,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523744"/>
            <a:ext cx="3520440" cy="402336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01000" y="2587751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551175"/>
            <a:ext cx="30175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Grafana Cloud fires a real alert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074152" y="2962656"/>
            <a:ext cx="219456" cy="155448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09560" y="3145536"/>
            <a:ext cx="3520440" cy="402336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01000" y="320954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172968"/>
            <a:ext cx="30175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Two agents investigate at once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074152" y="3584448"/>
            <a:ext cx="219456" cy="155448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09560" y="3767328"/>
            <a:ext cx="3520440" cy="402336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01000" y="38313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794760"/>
            <a:ext cx="30175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A person approves the fix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8074152" y="4206240"/>
            <a:ext cx="219456" cy="155448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909560" y="4389120"/>
            <a:ext cx="3520440" cy="402336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01000" y="44531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416552"/>
            <a:ext cx="30175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An agent reviews the fix PR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8074152" y="4828031"/>
            <a:ext cx="219456" cy="155448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909560" y="5010912"/>
            <a:ext cx="3520440" cy="402336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01000" y="50749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5038344"/>
            <a:ext cx="30175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Every step on one record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KAOP  ·  PLATFORM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04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Agents are spreading faster than your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Each team's agent makes sense on its own. Nobody manages them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9359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73152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58568"/>
            <a:ext cx="304495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WHO OWNS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3044952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Arial"/>
              </a:rPr>
              <a:t>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182112" cy="1143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Agents appear team by team. Nobody has the full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057400"/>
            <a:ext cx="359359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79" y="2331720"/>
            <a:ext cx="73152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7" y="2258568"/>
            <a:ext cx="304495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F766E"/>
                </a:solidFill>
                <a:latin typeface="Arial"/>
              </a:rPr>
              <a:t>WHAT CAN IT TOUCH?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514600"/>
            <a:ext cx="3044952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Arial"/>
              </a:rPr>
              <a:t>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108960"/>
            <a:ext cx="3182112" cy="1143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Each agent brings its own keys. Its limits live in a prompt.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057400"/>
            <a:ext cx="359359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2331720"/>
            <a:ext cx="73152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2258568"/>
            <a:ext cx="3044952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B91C1C"/>
                </a:solidFill>
                <a:latin typeface="Arial"/>
              </a:rPr>
              <a:t>WHAT DID IT 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7" y="2514600"/>
            <a:ext cx="3044952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Arial"/>
              </a:rPr>
              <a:t>Auditability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108960"/>
            <a:ext cx="3182112" cy="1143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75569"/>
                </a:solidFill>
                <a:latin typeface="Arial"/>
              </a:rPr>
              <a:t>Alert, investigation and fix sit in three different tools.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11091672" cy="105156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73152" tIns="36576" bIns="36576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B45309"/>
                </a:solidFill>
                <a:latin typeface="Arial"/>
              </a:rPr>
              <a:t>40%+</a:t>
            </a:r>
            <a:r>
              <a:rPr sz="1700" b="1">
                <a:solidFill>
                  <a:srgbClr val="0F172A"/>
                </a:solidFill>
                <a:latin typeface="Arial"/>
              </a:rPr>
              <a:t>   of agentic AI projects will be canceled by the end of 2027.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475569"/>
                </a:solidFill>
                <a:latin typeface="Arial"/>
              </a:rPr>
              <a:t>Escalating costs, unclear business value or inadequate risk controls.  Gartner, Inc., cited in Komodor's KAOP launch.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52160"/>
            <a:ext cx="11091672" cy="603504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QUESTION   </a:t>
            </a:r>
            <a:r>
              <a:rPr sz="1600" b="0">
                <a:solidFill>
                  <a:srgbClr val="FFFFFF"/>
                </a:solidFill>
                <a:latin typeface="Arial"/>
              </a:rPr>
              <a:t>Ownership, access or auditability: which hurts your team most today?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KAOP  ·  PLATFORM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05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KAOP runs agents like production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The context, memory and governance Komodor built for its own agents, ready for yours from day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267004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73152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58568"/>
            <a:ext cx="21214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2121408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Arial"/>
              </a:rPr>
              <a:t>Start ready, or bring your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2258568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50+ ready agents and workflows. Yours get the same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2057400"/>
            <a:ext cx="267004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84448" y="2331720"/>
            <a:ext cx="73152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2258568"/>
            <a:ext cx="21214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F766E"/>
                </a:solidFill>
                <a:latin typeface="Arial"/>
              </a:rPr>
              <a:t>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2514600"/>
            <a:ext cx="2121408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Arial"/>
              </a:rPr>
              <a:t>Real triggers, real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383280"/>
            <a:ext cx="2258568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Alerts start the work. Specialists hand off. One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2057400"/>
            <a:ext cx="267004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91655" y="2331720"/>
            <a:ext cx="73152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3" y="2258568"/>
            <a:ext cx="21214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B91C1C"/>
                </a:solidFill>
                <a:latin typeface="Arial"/>
              </a:rPr>
              <a:t>GOVERN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3" y="2514600"/>
            <a:ext cx="2121408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Arial"/>
              </a:rPr>
              <a:t>Enforced, not instructed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5" y="3383280"/>
            <a:ext cx="2258568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Identity, permissions, approvals and audit, on every run.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3" y="2057400"/>
            <a:ext cx="267004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3" y="2331720"/>
            <a:ext cx="73152" cy="457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1" y="2258568"/>
            <a:ext cx="2121408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B45309"/>
                </a:solidFill>
                <a:latin typeface="Arial"/>
              </a:rPr>
              <a:t>OPTIMIZE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1" y="2514600"/>
            <a:ext cx="2121408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Arial"/>
              </a:rPr>
              <a:t>Keep what earns its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3" y="3383280"/>
            <a:ext cx="2258568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Cost and quality per run. Budgets stop overspend.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715000"/>
            <a:ext cx="11091672" cy="749808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KOMODOR'S AI SRE IN PRODUCTION WITH      </a:t>
            </a:r>
            <a:r>
              <a:rPr sz="2000" b="1">
                <a:solidFill>
                  <a:srgbClr val="FFFFFF"/>
                </a:solidFill>
                <a:latin typeface="Arial"/>
              </a:rPr>
              <a:t>NEBIUS        </a:t>
            </a:r>
            <a:r>
              <a:rPr sz="2000" b="1">
                <a:solidFill>
                  <a:srgbClr val="FFFFFF"/>
                </a:solidFill>
                <a:latin typeface="Arial"/>
              </a:rPr>
              <a:t>DELL        </a:t>
            </a:r>
            <a:r>
              <a:rPr sz="2000" b="1">
                <a:solidFill>
                  <a:srgbClr val="FFFFFF"/>
                </a:solidFill>
                <a:latin typeface="Arial"/>
              </a:rPr>
              <a:t>CISCO        </a:t>
            </a:r>
            <a:r>
              <a:rPr sz="2000" b="1">
                <a:solidFill>
                  <a:srgbClr val="FFFFFF"/>
                </a:solidFill>
                <a:latin typeface="Arial"/>
              </a:rPr>
              <a:t>PRUDENTIAL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KAOP  ·  PLATFORM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06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A prompt is not a permission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KAOP governs an agent the way it governs a person.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1945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965960"/>
            <a:ext cx="4572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>WHAT YOU 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67712"/>
            <a:ext cx="7543800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36829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22576"/>
            <a:ext cx="192024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22576"/>
            <a:ext cx="4983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Every action has a name on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7543800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93522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889504"/>
            <a:ext cx="192024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89504"/>
            <a:ext cx="4983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Only the access the job needs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01568"/>
            <a:ext cx="7543800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502151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456432"/>
            <a:ext cx="192024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Standards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456432"/>
            <a:ext cx="4983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No agent ships without an owner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68496"/>
            <a:ext cx="7543800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0690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023359"/>
            <a:ext cx="192024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023359"/>
            <a:ext cx="4983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Risky calls blocked, every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35424"/>
            <a:ext cx="7543800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7512" y="463600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590288"/>
            <a:ext cx="192024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Approvals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590288"/>
            <a:ext cx="4983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A person decides the irreversible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102352"/>
            <a:ext cx="7543800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7512" y="52029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157216"/>
            <a:ext cx="192024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Audit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157216"/>
            <a:ext cx="4983480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Every step on the record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1965960"/>
            <a:ext cx="3319272" cy="370332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2148840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IN TODAY'S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487168"/>
            <a:ext cx="2971800" cy="3108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Investigators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0">
                <a:solidFill>
                  <a:srgbClr val="CBD5E1"/>
                </a:solidFill>
                <a:latin typeface="Arial"/>
              </a:rPr>
              <a:t>Read only. Enforced outside the agent.</a:t>
            </a:r>
          </a:p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Remediation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0">
                <a:solidFill>
                  <a:srgbClr val="CBD5E1"/>
                </a:solidFill>
                <a:latin typeface="Arial"/>
              </a:rPr>
              <a:t>Proposes fixes. Can't apply them.</a:t>
            </a:r>
          </a:p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Code reviewer</a:t>
            </a:r>
          </a:p>
          <a:p>
            <a:pPr algn="l">
              <a:lnSpc>
                <a:spcPct val="112000"/>
              </a:lnSpc>
            </a:pPr>
            <a:r>
              <a:rPr sz="1450" b="0">
                <a:solidFill>
                  <a:srgbClr val="CBD5E1"/>
                </a:solidFill>
                <a:latin typeface="Arial"/>
              </a:rPr>
              <a:t>Comments only. Can't approve or merge.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52160"/>
            <a:ext cx="11091672" cy="603504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PRINCIPLE   </a:t>
            </a:r>
            <a:r>
              <a:rPr sz="1600" b="0">
                <a:solidFill>
                  <a:srgbClr val="FFFFFF"/>
                </a:solidFill>
                <a:latin typeface="Arial"/>
              </a:rPr>
              <a:t>Prompts drift. Enforcement doesn't.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KAOP  ·  PLATFORM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07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One record from the alert to the merged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What the platform team sees, without asking anyone.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935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50008"/>
            <a:ext cx="73152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31089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Fleet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32004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Every agent, its owner, its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057400"/>
            <a:ext cx="35935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79" y="2350008"/>
            <a:ext cx="73152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7" y="2286000"/>
            <a:ext cx="31089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Runs &amp;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834640"/>
            <a:ext cx="32004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Inputs, tool calls, reasoning, output,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057400"/>
            <a:ext cx="35935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19" y="2350008"/>
            <a:ext cx="73152" cy="3840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7" y="2286000"/>
            <a:ext cx="31089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834640"/>
            <a:ext cx="32004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Decisions waiting on a person.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935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133088"/>
            <a:ext cx="73152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69080"/>
            <a:ext cx="31089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Audit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32004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Who changed what, and when.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840480"/>
            <a:ext cx="35935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79" y="4133088"/>
            <a:ext cx="73152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7" y="4069080"/>
            <a:ext cx="31089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617720"/>
            <a:ext cx="32004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Cost per agent and team, with budgets.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840480"/>
            <a:ext cx="3593592" cy="1627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19" y="4133088"/>
            <a:ext cx="73152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7" y="4069080"/>
            <a:ext cx="310896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0F172A"/>
                </a:solidFill>
                <a:latin typeface="Arial"/>
              </a:rPr>
              <a:t>Access explorer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617720"/>
            <a:ext cx="32004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475569"/>
                </a:solidFill>
                <a:latin typeface="Arial"/>
              </a:rPr>
              <a:t>What can this agent actually do?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52160"/>
            <a:ext cx="11091672" cy="603504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RESULT   </a:t>
            </a:r>
            <a:r>
              <a:rPr sz="1600" b="0">
                <a:solidFill>
                  <a:srgbClr val="FFFFFF"/>
                </a:solidFill>
                <a:latin typeface="Arial"/>
              </a:rPr>
              <a:t>Inventory, access and audit become a screen, not a spreadsheet.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KAOP  ·  PLATFORM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08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One incident, two governed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Built from KAOP catalog agents. No custom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109167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0058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WORKFLOW 1  ·  INCIDENT  ·  owned by SRE  ·  starts on a Grafana alert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1828800" cy="1234439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4F46E5"/>
                </a:solidFill>
                <a:latin typeface="Arial"/>
              </a:rPr>
              <a:t>Grafana alert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API restarting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33472" y="2930651"/>
            <a:ext cx="292608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53512" y="2423160"/>
            <a:ext cx="1828800" cy="1234439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4F46E5"/>
                </a:solidFill>
                <a:latin typeface="Arial"/>
              </a:rPr>
              <a:t>Investigate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K8s RCA + Grafana,
in parallel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09744" y="2930651"/>
            <a:ext cx="292608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9783" y="2423160"/>
            <a:ext cx="1828800" cy="1234439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4F46E5"/>
                </a:solidFill>
                <a:latin typeface="Arial"/>
              </a:rPr>
              <a:t>Remediation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Proposes fixes
with undo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86015" y="2930651"/>
            <a:ext cx="292608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06055" y="2423160"/>
            <a:ext cx="1828800" cy="1234439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B91C1C"/>
                </a:solidFill>
                <a:latin typeface="Arial"/>
              </a:rPr>
              <a:t>Approval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A person decides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62288" y="2930651"/>
            <a:ext cx="292608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82328" y="2423160"/>
            <a:ext cx="1828800" cy="1234439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B91C1C"/>
                </a:solidFill>
                <a:latin typeface="Arial"/>
              </a:rPr>
              <a:t>Apply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A person today,
an agent 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39"/>
            <a:ext cx="1109167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69079"/>
            <a:ext cx="100584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F766E"/>
                </a:solidFill>
                <a:latin typeface="Arial"/>
              </a:rPr>
              <a:t>WORKFLOW 2  ·  CODE REVIEW  ·  owned by the app team  ·  starts on any pull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34840"/>
            <a:ext cx="1828800" cy="1051560"/>
          </a:xfrm>
          <a:prstGeom prst="roundRect">
            <a:avLst>
              <a:gd name="adj" fmla="val 10000"/>
            </a:avLst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0F766E"/>
                </a:solidFill>
                <a:latin typeface="Arial"/>
              </a:rPr>
              <a:t>Pull request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The one-line fix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33472" y="4850892"/>
            <a:ext cx="292608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53512" y="4434840"/>
            <a:ext cx="1828800" cy="1051560"/>
          </a:xfrm>
          <a:prstGeom prst="roundRect">
            <a:avLst>
              <a:gd name="adj" fmla="val 10000"/>
            </a:avLst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0F766E"/>
                </a:solidFill>
                <a:latin typeface="Arial"/>
              </a:rPr>
              <a:t>Code reviewer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Comments in ~30 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09744" y="4850892"/>
            <a:ext cx="292608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9783" y="4434840"/>
            <a:ext cx="1828800" cy="105156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B91C1C"/>
                </a:solidFill>
                <a:latin typeface="Arial"/>
              </a:rPr>
              <a:t>Merge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A person merges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86015" y="4850892"/>
            <a:ext cx="292608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06055" y="4434840"/>
            <a:ext cx="1828800" cy="1051560"/>
          </a:xfrm>
          <a:prstGeom prst="roundRect">
            <a:avLst>
              <a:gd name="adj" fmla="val 10000"/>
            </a:avLst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0F766E"/>
                </a:solidFill>
                <a:latin typeface="Arial"/>
              </a:rPr>
              <a:t>Deploy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From git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62288" y="4850892"/>
            <a:ext cx="292608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82328" y="4434840"/>
            <a:ext cx="1828800" cy="1051560"/>
          </a:xfrm>
          <a:prstGeom prst="roundRect">
            <a:avLst>
              <a:gd name="adj" fmla="val 10000"/>
            </a:avLst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0F766E"/>
                </a:solidFill>
                <a:latin typeface="Arial"/>
              </a:rPr>
              <a:t>Verify</a:t>
            </a:r>
          </a:p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Same outage,
zero restarts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52160"/>
            <a:ext cx="11091672" cy="603504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NOTICE   </a:t>
            </a:r>
            <a:r>
              <a:rPr sz="1600" b="0">
                <a:solidFill>
                  <a:srgbClr val="FFFFFF"/>
                </a:solidFill>
                <a:latin typeface="Arial"/>
              </a:rPr>
              <a:t>Agents investigate, propose and review. People approve and change production.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KAOP  ·  PLATFORM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09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Who can do what, and what enforces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Least privilege per agent, enforced outside the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25146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79" y="1965960"/>
            <a:ext cx="265176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>Can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2240279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>Can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965960"/>
            <a:ext cx="2953512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>Enforced by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50008"/>
            <a:ext cx="25146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Kubernetes 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350008"/>
            <a:ext cx="265176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Pods, events, logs,
workloads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50008"/>
            <a:ext cx="2240279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0F766E"/>
                </a:solidFill>
                <a:latin typeface="Arial"/>
              </a:rPr>
              <a:t>Nothing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350008"/>
            <a:ext cx="2953512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Kubernetes RBAC on
its own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53512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71800"/>
            <a:ext cx="25146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Grafana investigator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2971800"/>
            <a:ext cx="265176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Metrics, logs,
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971800"/>
            <a:ext cx="2240279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0F766E"/>
                </a:solidFill>
                <a:latin typeface="Arial"/>
              </a:rPr>
              <a:t>Nothing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971800"/>
            <a:ext cx="2953512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KAOP gateway blocks
write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75304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93592"/>
            <a:ext cx="25146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Orchestrator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3593592"/>
            <a:ext cx="265176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93592"/>
            <a:ext cx="2240279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0F766E"/>
                </a:solidFill>
                <a:latin typeface="Arial"/>
              </a:rPr>
              <a:t>Nothing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593592"/>
            <a:ext cx="2953512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May call only
allowlisted 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97096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15383"/>
            <a:ext cx="25146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Remediation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79" y="4215383"/>
            <a:ext cx="265176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The investigation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215383"/>
            <a:ext cx="2240279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0F766E"/>
                </a:solidFill>
                <a:latin typeface="Arial"/>
              </a:rPr>
              <a:t>Nothing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4215383"/>
            <a:ext cx="2953512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Plan-only by design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18888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837175"/>
            <a:ext cx="251460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Code 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79" y="4837175"/>
            <a:ext cx="265176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The PR diff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837175"/>
            <a:ext cx="2240279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0F766E"/>
                </a:solidFill>
                <a:latin typeface="Arial"/>
              </a:rPr>
              <a:t>One comment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837175"/>
            <a:ext cx="2953512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GitHub app scopes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12000"/>
            </a:avLst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F766E"/>
                </a:solidFill>
                <a:latin typeface="Arial"/>
              </a:rPr>
              <a:t>VERIFIED ON THIS CLUSTER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0F172A"/>
                </a:solidFill>
                <a:latin typeface="Arial"/>
              </a:rPr>
              <a:t>KAOP's agent permissions checked with kubectl: reads pods, events, logs. Denied secrets, exec, delete, patch, scale.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KAOP  ·  PLATFORM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10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Live: one bad change, one Redis outage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Real cluster, real alert, real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549793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B91C1C"/>
                </a:solidFill>
                <a:latin typeface="Arial"/>
              </a:rPr>
              <a:t>BREAK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1443445" cy="2103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239572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27885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172A"/>
                </a:solidFill>
                <a:latin typeface="Arial"/>
              </a:rPr>
              <a:t>Bad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1568"/>
            <a:ext cx="1278853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Liveness checks Redis.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1813" y="2240280"/>
            <a:ext cx="1443445" cy="2103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48117" y="239572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3253" y="2834640"/>
            <a:ext cx="127885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172A"/>
                </a:solidFill>
                <a:latin typeface="Arial"/>
              </a:rPr>
              <a:t>Redis goes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3253" y="3401568"/>
            <a:ext cx="1278853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Started when we began.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4987" y="2240280"/>
            <a:ext cx="1443445" cy="2103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01291" y="239572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6427" y="2834640"/>
            <a:ext cx="127885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172A"/>
                </a:solidFill>
                <a:latin typeface="Arial"/>
              </a:rPr>
              <a:t>Amplified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6427" y="3401568"/>
            <a:ext cx="1278853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Kubernetes kills the healthy API.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2753" y="1920240"/>
            <a:ext cx="299661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INVESTIGATE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753" y="2240280"/>
            <a:ext cx="1443445" cy="210312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19057" y="239572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4193" y="2834640"/>
            <a:ext cx="127885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172A"/>
                </a:solidFill>
                <a:latin typeface="Arial"/>
              </a:rPr>
              <a:t>Detect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4193" y="3401568"/>
            <a:ext cx="1278853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Grafana alerts KAOP.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25926" y="2240280"/>
            <a:ext cx="1443445" cy="210312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72230" y="239572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7366" y="2834640"/>
            <a:ext cx="127885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172A"/>
                </a:solidFill>
                <a:latin typeface="Arial"/>
              </a:rPr>
              <a:t>Investigate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7366" y="3401568"/>
            <a:ext cx="1278853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Root cause, confidence,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3692" y="1920240"/>
            <a:ext cx="2996619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F766E"/>
                </a:solidFill>
                <a:latin typeface="Arial"/>
              </a:rPr>
              <a:t>DECIDE AND FIX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3692" y="2240280"/>
            <a:ext cx="1443445" cy="2103120"/>
          </a:xfrm>
          <a:prstGeom prst="roundRect">
            <a:avLst>
              <a:gd name="adj" fmla="val 8000"/>
            </a:avLst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89996" y="239572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5132" y="2834640"/>
            <a:ext cx="127885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172A"/>
                </a:solidFill>
                <a:latin typeface="Arial"/>
              </a:rPr>
              <a:t>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5132" y="3401568"/>
            <a:ext cx="1278853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I approve, then apply.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96866" y="2240280"/>
            <a:ext cx="1443445" cy="2103120"/>
          </a:xfrm>
          <a:prstGeom prst="roundRect">
            <a:avLst>
              <a:gd name="adj" fmla="val 8000"/>
            </a:avLst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43170" y="239572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8306" y="2834640"/>
            <a:ext cx="127885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172A"/>
                </a:solidFill>
                <a:latin typeface="Arial"/>
              </a:rPr>
              <a:t>Prevent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8306" y="3401568"/>
            <a:ext cx="1278853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75569"/>
                </a:solidFill>
                <a:latin typeface="Arial"/>
              </a:rPr>
              <a:t>One-line PR, reviewed by an agent.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52628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645152"/>
            <a:ext cx="2743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5B4FC"/>
                </a:solidFill>
                <a:latin typeface="Arial"/>
              </a:rPr>
              <a:t>MEASURED ON THIS LAB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937760"/>
            <a:ext cx="51206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CA5A5"/>
                </a:solidFill>
                <a:latin typeface="Arial"/>
              </a:rPr>
              <a:t>Bad check   </a:t>
            </a:r>
            <a:r>
              <a:rPr sz="1600" b="0">
                <a:solidFill>
                  <a:srgbClr val="FFFFFF"/>
                </a:solidFill>
                <a:latin typeface="Arial"/>
              </a:rPr>
              <a:t>API killed 5 times in 5 minutes, alert fired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937760"/>
            <a:ext cx="51206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5EEAD4"/>
                </a:solidFill>
                <a:latin typeface="Arial"/>
              </a:rPr>
              <a:t>Fixed check   </a:t>
            </a:r>
            <a:r>
              <a:rPr sz="1600" b="0">
                <a:solidFill>
                  <a:srgbClr val="FFFFFF"/>
                </a:solidFill>
                <a:latin typeface="Arial"/>
              </a:rPr>
              <a:t>0 kills, alert stayed quiet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852160"/>
            <a:ext cx="11091672" cy="603504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WATCH FOR   </a:t>
            </a:r>
            <a:r>
              <a:rPr sz="1600" b="0">
                <a:solidFill>
                  <a:srgbClr val="FFFFFF"/>
                </a:solidFill>
                <a:latin typeface="Arial"/>
              </a:rPr>
              <a:t>Redis is the trigger. The health check is the root cause.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KAOP  ·  PLATFORM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11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Autonomy, earned one step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From human in the loop to human on the loop. Each step is a permission you grant.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2670048" cy="2194560"/>
          </a:xfrm>
          <a:prstGeom prst="roundRect">
            <a:avLst>
              <a:gd name="adj" fmla="val 8000"/>
            </a:avLst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648456"/>
            <a:ext cx="960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0F766E"/>
                </a:solidFill>
                <a:latin typeface="Arial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23774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Investigate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2331720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Arial"/>
              </a:rPr>
              <a:t>Root cause and evidence, minutes after the alert.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3017520"/>
            <a:ext cx="2670048" cy="2606040"/>
          </a:xfrm>
          <a:prstGeom prst="roundRect">
            <a:avLst>
              <a:gd name="adj" fmla="val 8000"/>
            </a:avLst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38728" y="3200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3236976"/>
            <a:ext cx="960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0F766E"/>
                </a:solidFill>
                <a:latin typeface="Arial"/>
              </a:rP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3703320"/>
            <a:ext cx="23774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Propose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4160520"/>
            <a:ext cx="233172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Arial"/>
              </a:rPr>
              <a:t>The fix, with undo and a check.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2606040"/>
            <a:ext cx="2670048" cy="301752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5936" y="2788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6" y="2825496"/>
            <a:ext cx="960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291840"/>
            <a:ext cx="23774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Approve to 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749039"/>
            <a:ext cx="2331720" cy="169163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Arial"/>
              </a:rPr>
              <a:t>A person approves. An agent applies.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3" y="2194560"/>
            <a:ext cx="2670048" cy="34290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53143" y="2377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24743" y="2414015"/>
            <a:ext cx="960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B45309"/>
                </a:solidFill>
                <a:latin typeface="Arial"/>
              </a:rPr>
              <a:t>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3" y="2880360"/>
            <a:ext cx="23774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Pre-approved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3" y="3337560"/>
            <a:ext cx="2331720" cy="21031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Arial"/>
              </a:rPr>
              <a:t>Low-risk fixes run on their own. People review.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52160"/>
            <a:ext cx="11091672" cy="603504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GOAL   </a:t>
            </a:r>
            <a:r>
              <a:rPr sz="1600" b="0">
                <a:solidFill>
                  <a:srgbClr val="FFFFFF"/>
                </a:solidFill>
                <a:latin typeface="Arial"/>
              </a:rPr>
              <a:t>Lower time to resolution, fewer 3 a.m. pages, engineers back on the roadmap.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KAOP  ·  PLATFORM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12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Let's shape the first step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Built around your team, at your 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73152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ALIGN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68880"/>
            <a:ext cx="283464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Arial"/>
              </a:rPr>
              <a:t>A scoping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29718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Arial"/>
              </a:rPr>
              <a:t>Agree the workflow, the owner, how we measure success, and the guardrails.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86783" y="2907792"/>
            <a:ext cx="256032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201168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79" y="2286000"/>
            <a:ext cx="73152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2212848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F766E"/>
                </a:solidFill>
                <a:latin typeface="Arial"/>
              </a:rPr>
              <a:t>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468880"/>
            <a:ext cx="283464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Arial"/>
              </a:rPr>
              <a:t>One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3063240"/>
            <a:ext cx="29718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Arial"/>
              </a:rPr>
              <a:t>One cluster. Read-only. Every change approved by a person.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35823" y="2907792"/>
            <a:ext cx="256032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19" y="201168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2286000"/>
            <a:ext cx="73152" cy="457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7" y="2212848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B45309"/>
                </a:solidFill>
                <a:latin typeface="Arial"/>
              </a:rPr>
              <a:t>EXPAND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2468880"/>
            <a:ext cx="283464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F172A"/>
                </a:solidFill>
                <a:latin typeface="Arial"/>
              </a:rPr>
              <a:t>At your 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063240"/>
            <a:ext cx="2971800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75569"/>
                </a:solidFill>
                <a:latin typeface="Arial"/>
              </a:rPr>
              <a:t>More workflows, teams and autonomy, once the results hold.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0624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315968"/>
            <a:ext cx="49377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F46E5"/>
                </a:solidFill>
                <a:latin typeface="Arial"/>
              </a:rPr>
              <a:t>FROM YOUR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617720"/>
            <a:ext cx="502920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0F172A"/>
                </a:solidFill>
                <a:latin typeface="Arial"/>
              </a:rPr>
              <a:t>•  A driver who owns it day to day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0F172A"/>
                </a:solidFill>
                <a:latin typeface="Arial"/>
              </a:rPr>
              <a:t>•  The budget owner, who decides when to expand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0F172A"/>
                </a:solidFill>
                <a:latin typeface="Arial"/>
              </a:rPr>
              <a:t>•  Two or three dates for the scoping session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420624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4315968"/>
            <a:ext cx="49377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F766E"/>
                </a:solidFill>
                <a:latin typeface="Arial"/>
              </a:rPr>
              <a:t>FROM KOMODOR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4617720"/>
            <a:ext cx="502920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0F172A"/>
                </a:solidFill>
                <a:latin typeface="Arial"/>
              </a:rPr>
              <a:t>•  Help with setup and integrations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0F172A"/>
                </a:solidFill>
                <a:latin typeface="Arial"/>
              </a:rPr>
              <a:t>•  Catalog agents, ready to run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0F172A"/>
                </a:solidFill>
                <a:latin typeface="Arial"/>
              </a:rPr>
              <a:t>•  A joint review of the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52160"/>
            <a:ext cx="11091672" cy="603504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NEXT   </a:t>
            </a:r>
            <a:r>
              <a:rPr sz="1600" b="0">
                <a:solidFill>
                  <a:srgbClr val="FFFFFF"/>
                </a:solidFill>
                <a:latin typeface="Arial"/>
              </a:rPr>
              <a:t>Pick a date for the scoping session with your driver and budget owner.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94A3B8"/>
                </a:solidFill>
                <a:latin typeface="Arial"/>
              </a:rPr>
              <a:t>KOMODOR AGENTIC OPERATIONS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64008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94A3B8"/>
                </a:solidFill>
                <a:latin typeface="Arial"/>
              </a:rPr>
              <a:t>Three things to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15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60350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Agents need identities and permissions, not just prompts.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844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60350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Every action needs a boundary and a record.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53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43400"/>
            <a:ext cx="60350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Autonomy is earned. Start with one workflow and one owner.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3959352" cy="3749039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325880"/>
            <a:ext cx="34747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0E7FF"/>
                </a:solidFill>
                <a:latin typeface="Arial"/>
              </a:rPr>
              <a:t>NEXT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691640"/>
            <a:ext cx="347472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FFFFFF"/>
                </a:solidFill>
                <a:latin typeface="Arial"/>
              </a:rPr>
              <a:t>A scoping session with your driver and budget owner.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246120"/>
            <a:ext cx="347472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Echizeni Ikpah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E0E7FF"/>
                </a:solidFill>
                <a:latin typeface="Arial"/>
              </a:rPr>
              <a:t>Product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82296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A5B4FC"/>
                </a:solidFill>
                <a:latin typeface="Arial"/>
              </a:rP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94A3B8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94A3B8"/>
                </a:solidFill>
                <a:latin typeface="Arial"/>
              </a:rPr>
              <a:t>Reference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7315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BD5E1"/>
                </a:solidFill>
                <a:latin typeface="Arial"/>
              </a:rPr>
              <a:t>A   Sources for this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315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BD5E1"/>
                </a:solidFill>
                <a:latin typeface="Arial"/>
              </a:rPr>
              <a:t>B   Common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73152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BD5E1"/>
                </a:solidFill>
                <a:latin typeface="Arial"/>
              </a:rPr>
              <a:t>C   Measured 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Sources for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Every claim traces to Komodor's material or to this lab.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93192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Komodor website and KAOP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57400"/>
            <a:ext cx="676656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475569"/>
                </a:solidFill>
                <a:latin typeface="Arial"/>
              </a:rPr>
              <a:t>Positioning: build, run, govern, optimize. The Gartner figure.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24912"/>
            <a:ext cx="1109167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70632"/>
            <a:ext cx="393192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KAOP docs: security and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70632"/>
            <a:ext cx="676656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475569"/>
                </a:solidFill>
                <a:latin typeface="Arial"/>
              </a:rPr>
              <a:t>The six layers, approvals, audit log, Access explorer.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38144"/>
            <a:ext cx="1109167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83864"/>
            <a:ext cx="393192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KAOP docs: agent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83864"/>
            <a:ext cx="676656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475569"/>
                </a:solidFill>
                <a:latin typeface="Arial"/>
              </a:rPr>
              <a:t>What each agent reads, changes, and where it stops.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51376"/>
            <a:ext cx="1109167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97096"/>
            <a:ext cx="393192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KAOP docs: incident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197096"/>
            <a:ext cx="676656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475569"/>
                </a:solidFill>
                <a:latin typeface="Arial"/>
              </a:rPr>
              <a:t>The alert-to-remediation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64608"/>
            <a:ext cx="1109167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10328"/>
            <a:ext cx="393192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This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910328"/>
            <a:ext cx="6766560" cy="53035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475569"/>
                </a:solidFill>
                <a:latin typeface="Arial"/>
              </a:rPr>
              <a:t>A real fault, a real alert, permissions verified, fix measured.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52160"/>
            <a:ext cx="11091672" cy="603504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73152" tIns="36576" bIns="36576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5B4FC"/>
                </a:solidFill>
                <a:latin typeface="Arial"/>
              </a:rPr>
              <a:t>APPROACH   </a:t>
            </a:r>
            <a:r>
              <a:rPr sz="1600" b="0">
                <a:solidFill>
                  <a:srgbClr val="FFFFFF"/>
                </a:solidFill>
                <a:latin typeface="Arial"/>
              </a:rPr>
              <a:t>Start from your challenges, prove it on a real incident, then agree the first step together.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APPENDIX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Common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93192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“We'll build this ourselves.”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08760"/>
            <a:ext cx="676656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You can build an agent. The hard part is identity, approvals, audit, budgets and evaluation around every agent, for every team. That's the platform.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59152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04872"/>
            <a:ext cx="393192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“Komodor already has Klaudia. Why KAOP?”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04872"/>
            <a:ext cx="676656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Klaudia is Komodor's AI SRE. KAOP is the control center for all your agents: Klaudia-based, Komodor's and your 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55264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00984"/>
            <a:ext cx="393192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“What if the agent is wrong?”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300984"/>
            <a:ext cx="676656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It separates what it saw from what it guessed, every change needs a person, and KAOP grades runs over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51376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97096"/>
            <a:ext cx="393192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“How long does onboarding take?”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97096"/>
            <a:ext cx="676656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Catalog agents deploy in minutes. The real time goes into agreeing the workflow, the owner and the guardrails, which is why I'd start with a scoping session.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47488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93207"/>
            <a:ext cx="393192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“What does it cost?”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093207"/>
            <a:ext cx="676656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Every run shows its cost, and budgets block new runs at a limit. We'd agree a budget in the scoping session and track cost per useful investigation.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4F46E5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APPENDIX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72A"/>
                </a:solidFill>
                <a:latin typeface="Arial"/>
              </a:rPr>
              <a:t>Measured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The same Redis outage, measured both 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47472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965960"/>
            <a:ext cx="365760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>Liveness checks Redis (bad)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965960"/>
            <a:ext cx="356616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94A3B8"/>
                </a:solidFill>
                <a:latin typeface="Arial"/>
              </a:rPr>
              <a:t>Liveness checks the process (fix)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1091672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50008"/>
            <a:ext cx="347472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Times Kubernetes killed the healthy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50008"/>
            <a:ext cx="365760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1C1C"/>
                </a:solidFill>
                <a:latin typeface="Arial"/>
              </a:rPr>
              <a:t>5 in a 5-minute outage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50008"/>
            <a:ext cx="356616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0F766E"/>
                </a:solidFill>
                <a:latin typeface="Arial"/>
              </a:rP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35224"/>
            <a:ext cx="11091672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347472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Liveness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953512"/>
            <a:ext cx="365760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1C1C"/>
                </a:solidFill>
                <a:latin typeface="Arial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53512"/>
            <a:ext cx="356616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0F766E"/>
                </a:solidFill>
                <a:latin typeface="Arial"/>
              </a:rPr>
              <a:t>None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38728"/>
            <a:ext cx="11091672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57016"/>
            <a:ext cx="347472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Grafana restart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557016"/>
            <a:ext cx="365760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1C1C"/>
                </a:solidFill>
                <a:latin typeface="Arial"/>
              </a:rPr>
              <a:t>Fired at +3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557016"/>
            <a:ext cx="356616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0F766E"/>
                </a:solidFill>
                <a:latin typeface="Arial"/>
              </a:rPr>
              <a:t>Stayed Normal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42231"/>
            <a:ext cx="11091672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60519"/>
            <a:ext cx="347472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API back after Redis returned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160519"/>
            <a:ext cx="365760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B91C1C"/>
                </a:solidFill>
                <a:latin typeface="Arial"/>
              </a:rPr>
              <a:t>4.8 s to 3.6 min (restart back-off)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160519"/>
            <a:ext cx="3566160" cy="4937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0F766E"/>
                </a:solidFill>
                <a:latin typeface="Arial"/>
              </a:rPr>
              <a:t>6.5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Measured on 2026-10-24 and 2026-10-25 on a single-node kind cluster. With the bad check, recovery waits on Kubernetes' restart back-off (10 s, doubling up to 5 minutes), so it depends on how long the outage lasted.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