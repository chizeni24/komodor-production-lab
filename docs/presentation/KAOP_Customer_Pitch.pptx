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A QUESTION, NOT A PITCH (2 min)</a:t>
            </a:r>
          </a:p>
          <a:p>
            <a:r>
              <a:t>"When a team in your org launches a new AI agent today, who decides what it can touch, and where would you look to see what it actually did?"</a:t>
            </a:r>
          </a:p>
          <a:p>
            <a:r>
              <a:t>Pause. Let them answer. Listen for one of three pains: inventory (who owns what), access (credentials/permissions), or audit (reconstructing what happened). Use their word for it for the rest of the session.</a:t>
            </a:r>
          </a:p>
          <a:p>
            <a:r>
              <a:t>"I'm going to use one real Kubernetes incident to show how KAOP answers that question, then propose a two-week way for you to prove it in your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"Nobody plans agent sprawl. Support starts with a troubleshooting bot, SRE wires an agent to observability, developers add one to pull requests. Each is sensible. The platform team inherits three questions it can't answer: who owns it, what can it touch, and what did it do."</a:t>
            </a:r>
          </a:p>
          <a:p>
            <a:r>
              <a:t>"The industry cost of getting this wrong is real: Gartner expects over 40% of agentic projects to be cancelled by 2027, and the reasons are governance, value and cost, not model quality. As Komodor's CTO put it at launch: the hardest part isn't building the agents."</a:t>
            </a:r>
          </a:p>
          <a:p>
            <a:r>
              <a:t>ASK the question on the slide. Carry their answer into the demo: inventory -&gt; show Fleet and runs; access -&gt; show the RBAC proof and approvals; audit -&gt; show the run evidence and audit log.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min) "KAOP is Komodor's Agentic Operations Platform. Think of it as the platform you'd build for agents if you treated them like production services."</a:t>
            </a:r>
          </a:p>
          <a:p>
            <a:r>
              <a:t>BUILD: "You don't start from a blank prompt. The catalog has Komodor-built agents: the Kubernetes RCA agent is built from Klaudia's root-cause knowledge. And teams that already built agents can import them and get the same controls."</a:t>
            </a:r>
          </a:p>
          <a:p>
            <a:r>
              <a:t>RUN: "Agents start from real events: an alert endpoint, a schedule, Slack. Workflows fan work out to specialists. And agents can run inside your network with outbound-only connectivity."</a:t>
            </a:r>
          </a:p>
          <a:p>
            <a:r>
              <a:t>GOVERN: "This is where most DIY setups stop at a prompt. Here, identity, permissions, guardrails, approvals and audit are platform features."</a:t>
            </a:r>
          </a:p>
          <a:p>
            <a:r>
              <a:t>OPTIMIZE: "Every run is evidence: what it was asked, what tools it called, what it concluded, what it cost. That's how you decide what scales."</a:t>
            </a:r>
          </a:p>
          <a:p>
            <a:r>
              <a:t>Transition: "Governance is the part platform teams ask me about first, so let's be precise about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 "If an agent has permission to delete a deployment, a prompt telling it not to is not a control. KAOP's answer is six layers, and the principle underneath is simple: an agent is a principal, governed by the same machinery as a person. It can't grant itself a capability by changing its own code."</a:t>
            </a:r>
          </a:p>
          <a:p>
            <a:r>
              <a:t>Walk the six layers briefly; spend time on Permissions and Approvals.</a:t>
            </a:r>
          </a:p>
          <a:p>
            <a:r>
              <a:t>"In today's lab: the Kubernetes RCA agent's only access is its Kubernetes ServiceAccount, bound to the built-in view role. No Secrets, no exec, no writes. I verified that with kubectl auth can-i before I ever pointed it at an incident, and I'll show you the output. The GitHub Agent can open exactly one pull request for one configuration value, and its call is held until I approve. The Code Reviewer can comment but can never approve or merge."</a:t>
            </a:r>
          </a:p>
          <a:p>
            <a:r>
              <a:t>ASK: "Which actions in your environment should never happen without a person approving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Connect back to the pain they named on slide 2.</a:t>
            </a:r>
          </a:p>
          <a:p>
            <a:r>
              <a:t>Inventory -&gt; Fleet health and Spend. Access -&gt; Access explorer. Audit -&gt; Runs &amp; evidence and the Audit log. Approvals -&gt; Attention inbox.</a:t>
            </a:r>
          </a:p>
          <a:p>
            <a:r>
              <a:t>"Every one of these is a screen I'll open in the demo, on the runs we're about to generate."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"Two workflows, owned by two different teams, and that's deliberate. It's the situation you described: SRE and app teams each want their own agents."</a:t>
            </a:r>
          </a:p>
          <a:p>
            <a:r>
              <a:t>Workflow 1: "Grafana detects. KAOP's Production Alert Investigation workflow sends the alert to two specialists in parallel: the Kubernetes RCA agent running inside our cluster, and the Grafana Investigator reading metrics. A Remediation agent then decides whether the evidence justifies a change. It can't act, by design. If it proposes a config fix, the GitHub Agent prepares a PR, and the call waits for me in the Attention inbox."</a:t>
            </a:r>
          </a:p>
          <a:p>
            <a:r>
              <a:t>Workflow 2: "Any pull request, from an agent or a human, triggers the Code Reviewer. It comments, it can't approve, and a human merges."</a:t>
            </a:r>
          </a:p>
          <a:p>
            <a:r>
              <a:t>"Notice what's NOT here: no agent ever changes the running cluster. The fix goes through git, review and a human, the same path your engineers 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"This is the slide I'd hand your security team. For each agent: what it can read, what it can change, and, the column that matters, what enforces that outside the agent."</a:t>
            </a:r>
          </a:p>
          <a:p>
            <a:r>
              <a:t>"I didn't take the read-only claim on faith. I rendered KAOP's self-hosted agent chart, applied its RBAC to this cluster, and asked Kubernetes directly with kubectl auth can-i. It can read pods, events and logs. It's denied Secrets, exec, delete, patch and scale." (Show artifacts/agent-rbac.txt in the terminal if asked.)</a:t>
            </a:r>
          </a:p>
          <a:p>
            <a:r>
              <a:t>"And the one grant the chart offers that isn't read-only, pod exec for in-pod diagnostics, I left off. That's a decision a platform team should make explicitly, per namespace."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the demo) Switch to the terminal (SSH to the lab host) and run the steps in docs/runbook.md.</a:t>
            </a:r>
          </a:p>
          <a:p>
            <a:r>
              <a:t>1. ./scripts/demo.sh preflight -&gt; "Healthy, and carrying a latent defect from last week's rollout."</a:t>
            </a:r>
          </a:p>
          <a:p>
            <a:r>
              <a:t>2. ./scripts/demo.sh outage --approve-live-mutation -&gt; "Redis just went away."</a:t>
            </a:r>
          </a:p>
          <a:p>
            <a:r>
              <a:t>3. Point at restarts=+1 / CrashLoopBackOff -&gt; "Readiness failing is right. Liveness failing is the bug: Kubernetes is killing a healthy process."</a:t>
            </a:r>
          </a:p>
          <a:p>
            <a:r>
              <a:t>4. Grafana tab -&gt; Alerting (about 2 minutes). "Detection is Grafana's job. Now KAOP."</a:t>
            </a:r>
          </a:p>
          <a:p>
            <a:r>
              <a:t>5. KAOP incident -&gt; show both investigation runs, the conclusion, confidence, evidence, tool calls. ASK: "Would this be enough for your on-call engineer to act?"</a:t>
            </a:r>
          </a:p>
          <a:p>
            <a:r>
              <a:t>6. Attention -&gt; approve. "The agent proposed; I decided; that decision is on the run record."</a:t>
            </a:r>
          </a:p>
          <a:p>
            <a:r>
              <a:t>7. GitHub -&gt; the PR and the Code Reviewer comment. "Separate trigger, separate identity. It can comment, never merge."</a:t>
            </a:r>
          </a:p>
          <a:p>
            <a:r>
              <a:t>Ctrl-C in the terminal -&gt; Redis back; read out the restart count. "Kubernetes killed a healthy process N times for a Redis problem, and paged the API team."</a:t>
            </a:r>
          </a:p>
          <a:p>
            <a:r>
              <a:t>If time: merge, deploy, re-run a 90-second outage -&gt; zero restarts.</a:t>
            </a:r>
          </a:p>
          <a:p>
            <a:r>
              <a:t>If KAOP is slow: open the completed rehearsal incident and say 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 "I wouldn't ask you to roll out a hundred agents. I'd ask for one workflow with a clear owner and pass criteria we agree today."</a:t>
            </a:r>
          </a:p>
          <a:p>
            <a:r>
              <a:t>"Week one: incident investigation on one cluster, read-only, approvals on every write. Week two: add the Code Reviewer on one repo. Then we look at the scorecard together and you decide."</a:t>
            </a:r>
          </a:p>
          <a:p>
            <a:r>
              <a:t>"I'm deliberately not putting a percentage improvement on this slide. I'd rather measure your baseline and prove the delta."</a:t>
            </a:r>
          </a:p>
          <a:p>
            <a:r>
              <a:t>Close with the question. Then stop talking.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follow-up discussion about how I used the website and docs. The messaging strategy: problem first (their words), product second (their controls), proof third (a real incident), then a small, measurable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answers to two sentences. Offer to show the screen that backs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come from scripts/demo.sh outage runs on this lab; raw evidence is in artifacts/incidents/ and summarized in docs/evidence.md.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94A3B8"/>
                </a:solidFill>
                <a:latin typeface="Arial"/>
              </a:rPr>
              <a:t>KOMODOR AGENTIC OPERATIONS PLATFORM</a:t>
            </a:r>
          </a:p>
        </p:txBody>
      </p:sp>
      <p:sp>
        <p:nvSpPr>
          <p:cNvPr id="3" name="TextBox 2"/>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FFFFFF"/>
                </a:solidFill>
                <a:latin typeface="Arial"/>
              </a:rPr>
              <a:t/>
            </a:r>
          </a:p>
        </p:txBody>
      </p:sp>
      <p:sp>
        <p:nvSpPr>
          <p:cNvPr id="4" name="TextBox 3"/>
          <p:cNvSpPr txBox="1"/>
          <p:nvPr/>
        </p:nvSpPr>
        <p:spPr>
          <a:xfrm>
            <a:off x="548640" y="1280160"/>
            <a:ext cx="6766560" cy="1371600"/>
          </a:xfrm>
          <a:prstGeom prst="rect">
            <a:avLst/>
          </a:prstGeom>
          <a:noFill/>
        </p:spPr>
        <p:txBody>
          <a:bodyPr wrap="square" lIns="73152" rIns="73152" tIns="36576" bIns="36576" anchor="t">
            <a:spAutoFit/>
          </a:bodyPr>
          <a:lstStyle/>
          <a:p>
            <a:pPr algn="l">
              <a:lnSpc>
                <a:spcPct val="100000"/>
              </a:lnSpc>
            </a:pPr>
            <a:r>
              <a:rPr sz="3600" b="1" i="0">
                <a:solidFill>
                  <a:srgbClr val="FFFFFF"/>
                </a:solidFill>
                <a:latin typeface="Arial"/>
              </a:rPr>
              <a:t>Your teams are already shipping agents.</a:t>
            </a:r>
          </a:p>
        </p:txBody>
      </p:sp>
      <p:sp>
        <p:nvSpPr>
          <p:cNvPr id="5" name="TextBox 4"/>
          <p:cNvSpPr txBox="1"/>
          <p:nvPr/>
        </p:nvSpPr>
        <p:spPr>
          <a:xfrm>
            <a:off x="548640" y="2606040"/>
            <a:ext cx="6766560" cy="731520"/>
          </a:xfrm>
          <a:prstGeom prst="rect">
            <a:avLst/>
          </a:prstGeom>
          <a:noFill/>
        </p:spPr>
        <p:txBody>
          <a:bodyPr wrap="square" lIns="73152" rIns="73152" tIns="36576" bIns="36576" anchor="t">
            <a:spAutoFit/>
          </a:bodyPr>
          <a:lstStyle/>
          <a:p>
            <a:pPr algn="l">
              <a:lnSpc>
                <a:spcPct val="110000"/>
              </a:lnSpc>
            </a:pPr>
            <a:r>
              <a:rPr sz="3600" b="1" i="0">
                <a:solidFill>
                  <a:srgbClr val="A5B4FC"/>
                </a:solidFill>
                <a:latin typeface="Arial"/>
              </a:rPr>
              <a:t>Can you govern them?</a:t>
            </a:r>
          </a:p>
        </p:txBody>
      </p:sp>
      <p:sp>
        <p:nvSpPr>
          <p:cNvPr id="6" name="TextBox 5"/>
          <p:cNvSpPr txBox="1"/>
          <p:nvPr/>
        </p:nvSpPr>
        <p:spPr>
          <a:xfrm>
            <a:off x="548640" y="3611880"/>
            <a:ext cx="6035040" cy="1097280"/>
          </a:xfrm>
          <a:prstGeom prst="rect">
            <a:avLst/>
          </a:prstGeom>
          <a:noFill/>
        </p:spPr>
        <p:txBody>
          <a:bodyPr wrap="square" lIns="73152" rIns="73152" tIns="36576" bIns="36576" anchor="t">
            <a:spAutoFit/>
          </a:bodyPr>
          <a:lstStyle/>
          <a:p>
            <a:pPr algn="l">
              <a:lnSpc>
                <a:spcPct val="120000"/>
              </a:lnSpc>
            </a:pPr>
            <a:r>
              <a:rPr sz="1700" b="0" i="0">
                <a:solidFill>
                  <a:srgbClr val="CBD5E1"/>
                </a:solidFill>
                <a:latin typeface="Arial"/>
              </a:rPr>
              <a:t>KAOP gives every agent that touches production an identity, a boundary, an approval path and a record — so the platform team can say yes to more of them.</a:t>
            </a:r>
          </a:p>
        </p:txBody>
      </p:sp>
      <p:sp>
        <p:nvSpPr>
          <p:cNvPr id="7" name="TextBox 6"/>
          <p:cNvSpPr txBox="1"/>
          <p:nvPr/>
        </p:nvSpPr>
        <p:spPr>
          <a:xfrm>
            <a:off x="548640" y="5989320"/>
            <a:ext cx="6400800" cy="365760"/>
          </a:xfrm>
          <a:prstGeom prst="rect">
            <a:avLst/>
          </a:prstGeom>
          <a:noFill/>
        </p:spPr>
        <p:txBody>
          <a:bodyPr wrap="square" lIns="73152" rIns="73152" tIns="36576" bIns="36576" anchor="t">
            <a:spAutoFit/>
          </a:bodyPr>
          <a:lstStyle/>
          <a:p>
            <a:pPr algn="l">
              <a:lnSpc>
                <a:spcPct val="110000"/>
              </a:lnSpc>
            </a:pPr>
            <a:r>
              <a:rPr sz="1200" b="0" i="0">
                <a:solidFill>
                  <a:srgbClr val="94A3B8"/>
                </a:solidFill>
                <a:latin typeface="Arial"/>
              </a:rPr>
              <a:t>A conversation for platform engineering leaders</a:t>
            </a:r>
          </a:p>
        </p:txBody>
      </p:sp>
      <p:sp>
        <p:nvSpPr>
          <p:cNvPr id="8" name="Rounded Rectangle 7"/>
          <p:cNvSpPr/>
          <p:nvPr/>
        </p:nvSpPr>
        <p:spPr>
          <a:xfrm>
            <a:off x="7543800" y="914400"/>
            <a:ext cx="4114800" cy="5257800"/>
          </a:xfrm>
          <a:prstGeom prst="roundRect">
            <a:avLst>
              <a:gd name="adj" fmla="val 4000"/>
            </a:avLst>
          </a:prstGeom>
          <a:solidFill>
            <a:srgbClr val="111B2E"/>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818120" y="1188720"/>
            <a:ext cx="3566160" cy="548640"/>
          </a:xfrm>
          <a:prstGeom prst="roundRect">
            <a:avLst>
              <a:gd name="adj" fmla="val 1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lnSpc>
                <a:spcPct val="110000"/>
              </a:lnSpc>
            </a:pPr>
            <a:r>
              <a:rPr sz="1100" b="1" i="0">
                <a:solidFill>
                  <a:srgbClr val="A5B4FC"/>
                </a:solidFill>
                <a:latin typeface="Arial"/>
              </a:rPr>
              <a:t>SRE  </a:t>
            </a:r>
            <a:r>
              <a:rPr sz="1300" b="0" i="0">
                <a:solidFill>
                  <a:srgbClr val="FFFFFF"/>
                </a:solidFill>
                <a:latin typeface="Arial"/>
              </a:rPr>
              <a:t>Incident investigator</a:t>
            </a:r>
          </a:p>
        </p:txBody>
      </p:sp>
      <p:sp>
        <p:nvSpPr>
          <p:cNvPr id="10" name="Rounded Rectangle 9"/>
          <p:cNvSpPr/>
          <p:nvPr/>
        </p:nvSpPr>
        <p:spPr>
          <a:xfrm>
            <a:off x="7818120" y="1901952"/>
            <a:ext cx="3566160" cy="548640"/>
          </a:xfrm>
          <a:prstGeom prst="roundRect">
            <a:avLst>
              <a:gd name="adj" fmla="val 1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lnSpc>
                <a:spcPct val="110000"/>
              </a:lnSpc>
            </a:pPr>
            <a:r>
              <a:rPr sz="1100" b="1" i="0">
                <a:solidFill>
                  <a:srgbClr val="A5B4FC"/>
                </a:solidFill>
                <a:latin typeface="Arial"/>
              </a:rPr>
              <a:t>App team  </a:t>
            </a:r>
            <a:r>
              <a:rPr sz="1300" b="0" i="0">
                <a:solidFill>
                  <a:srgbClr val="FFFFFF"/>
                </a:solidFill>
                <a:latin typeface="Arial"/>
              </a:rPr>
              <a:t>PR reviewer</a:t>
            </a:r>
          </a:p>
        </p:txBody>
      </p:sp>
      <p:sp>
        <p:nvSpPr>
          <p:cNvPr id="11" name="Rounded Rectangle 10"/>
          <p:cNvSpPr/>
          <p:nvPr/>
        </p:nvSpPr>
        <p:spPr>
          <a:xfrm>
            <a:off x="7818120" y="2615184"/>
            <a:ext cx="3566160" cy="548640"/>
          </a:xfrm>
          <a:prstGeom prst="roundRect">
            <a:avLst>
              <a:gd name="adj" fmla="val 1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lnSpc>
                <a:spcPct val="110000"/>
              </a:lnSpc>
            </a:pPr>
            <a:r>
              <a:rPr sz="1100" b="1" i="0">
                <a:solidFill>
                  <a:srgbClr val="A5B4FC"/>
                </a:solidFill>
                <a:latin typeface="Arial"/>
              </a:rPr>
              <a:t>FinOps  </a:t>
            </a:r>
            <a:r>
              <a:rPr sz="1300" b="0" i="0">
                <a:solidFill>
                  <a:srgbClr val="FFFFFF"/>
                </a:solidFill>
                <a:latin typeface="Arial"/>
              </a:rPr>
              <a:t>Cost analyzer</a:t>
            </a:r>
          </a:p>
        </p:txBody>
      </p:sp>
      <p:sp>
        <p:nvSpPr>
          <p:cNvPr id="12" name="Rounded Rectangle 11"/>
          <p:cNvSpPr/>
          <p:nvPr/>
        </p:nvSpPr>
        <p:spPr>
          <a:xfrm>
            <a:off x="7818120" y="3328415"/>
            <a:ext cx="3566160" cy="548640"/>
          </a:xfrm>
          <a:prstGeom prst="roundRect">
            <a:avLst>
              <a:gd name="adj" fmla="val 1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lnSpc>
                <a:spcPct val="110000"/>
              </a:lnSpc>
            </a:pPr>
            <a:r>
              <a:rPr sz="1100" b="1" i="0">
                <a:solidFill>
                  <a:srgbClr val="A5B4FC"/>
                </a:solidFill>
                <a:latin typeface="Arial"/>
              </a:rPr>
              <a:t>Support  </a:t>
            </a:r>
            <a:r>
              <a:rPr sz="1300" b="0" i="0">
                <a:solidFill>
                  <a:srgbClr val="FFFFFF"/>
                </a:solidFill>
                <a:latin typeface="Arial"/>
              </a:rPr>
              <a:t>Your own agent</a:t>
            </a:r>
          </a:p>
        </p:txBody>
      </p:sp>
      <p:sp>
        <p:nvSpPr>
          <p:cNvPr id="13" name="Down Arrow 12"/>
          <p:cNvSpPr/>
          <p:nvPr/>
        </p:nvSpPr>
        <p:spPr>
          <a:xfrm>
            <a:off x="9500616" y="4041648"/>
            <a:ext cx="201168" cy="320040"/>
          </a:xfrm>
          <a:prstGeom prst="downArrow">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818120" y="4480560"/>
            <a:ext cx="3566160" cy="1417320"/>
          </a:xfrm>
          <a:prstGeom prst="roundRect">
            <a:avLst>
              <a:gd name="adj" fmla="val 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100" b="1" i="0">
                <a:solidFill>
                  <a:srgbClr val="E0E7FF"/>
                </a:solidFill>
                <a:latin typeface="Arial"/>
              </a:rPr>
              <a:t>ONE CONTROL PLANE</a:t>
            </a:r>
          </a:p>
          <a:p>
            <a:pPr algn="ctr">
              <a:lnSpc>
                <a:spcPct val="110000"/>
              </a:lnSpc>
            </a:pPr>
            <a:r>
              <a:rPr sz="1300" b="0" i="0">
                <a:solidFill>
                  <a:srgbClr val="FFFFFF"/>
                </a:solidFill>
                <a:latin typeface="Arial"/>
              </a:rPr>
              <a:t>Identity · Permissions · Approvals</a:t>
            </a:r>
          </a:p>
          <a:p>
            <a:pPr algn="ctr">
              <a:lnSpc>
                <a:spcPct val="110000"/>
              </a:lnSpc>
            </a:pPr>
            <a:r>
              <a:rPr sz="1300" b="0" i="0">
                <a:solidFill>
                  <a:srgbClr val="FFFFFF"/>
                </a:solidFill>
                <a:latin typeface="Arial"/>
              </a:rPr>
              <a:t>Audit log · Budgets · Run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KAOP  ·  PLATFORM ENGINEERING</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02 / 09</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Agents are spreading faster than your operating model</a:t>
            </a:r>
          </a:p>
        </p:txBody>
      </p:sp>
      <p:sp>
        <p:nvSpPr>
          <p:cNvPr id="5" name="TextBox 4"/>
          <p:cNvSpPr txBox="1"/>
          <p:nvPr/>
        </p:nvSpPr>
        <p:spPr>
          <a:xfrm>
            <a:off x="548640" y="1371600"/>
            <a:ext cx="11064240" cy="457200"/>
          </a:xfrm>
          <a:prstGeom prst="rect">
            <a:avLst/>
          </a:prstGeom>
          <a:noFill/>
        </p:spPr>
        <p:txBody>
          <a:bodyPr wrap="square" lIns="73152" rIns="73152" tIns="36576" bIns="36576" anchor="t">
            <a:spAutoFit/>
          </a:bodyPr>
          <a:lstStyle/>
          <a:p>
            <a:pPr algn="l">
              <a:lnSpc>
                <a:spcPct val="110000"/>
              </a:lnSpc>
            </a:pPr>
            <a:r>
              <a:rPr sz="1600" b="0" i="0">
                <a:solidFill>
                  <a:srgbClr val="475569"/>
                </a:solidFill>
                <a:latin typeface="Arial"/>
              </a:rPr>
              <a:t>Every team's agent is a reasonable decision. The risk sits between them.</a:t>
            </a:r>
          </a:p>
        </p:txBody>
      </p:sp>
      <p:sp>
        <p:nvSpPr>
          <p:cNvPr id="6" name="Rounded Rectangle 5"/>
          <p:cNvSpPr/>
          <p:nvPr/>
        </p:nvSpPr>
        <p:spPr>
          <a:xfrm>
            <a:off x="548640" y="2103120"/>
            <a:ext cx="3593592" cy="233172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49808" y="2331720"/>
            <a:ext cx="73152" cy="38404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6112" y="2286000"/>
            <a:ext cx="3090672"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NO INVENTORY</a:t>
            </a:r>
          </a:p>
        </p:txBody>
      </p:sp>
      <p:sp>
        <p:nvSpPr>
          <p:cNvPr id="9" name="TextBox 8"/>
          <p:cNvSpPr txBox="1"/>
          <p:nvPr/>
        </p:nvSpPr>
        <p:spPr>
          <a:xfrm>
            <a:off x="896112" y="2514600"/>
            <a:ext cx="3090672" cy="685800"/>
          </a:xfrm>
          <a:prstGeom prst="rect">
            <a:avLst/>
          </a:prstGeom>
          <a:noFill/>
        </p:spPr>
        <p:txBody>
          <a:bodyPr wrap="square" lIns="73152" rIns="73152" tIns="36576" bIns="36576" anchor="t">
            <a:spAutoFit/>
          </a:bodyPr>
          <a:lstStyle/>
          <a:p>
            <a:pPr algn="l">
              <a:lnSpc>
                <a:spcPct val="100000"/>
              </a:lnSpc>
            </a:pPr>
            <a:r>
              <a:rPr sz="1700" b="1" i="0">
                <a:solidFill>
                  <a:srgbClr val="0F172A"/>
                </a:solidFill>
                <a:latin typeface="Arial"/>
              </a:rPr>
              <a:t>Who owns it?</a:t>
            </a:r>
          </a:p>
        </p:txBody>
      </p:sp>
      <p:sp>
        <p:nvSpPr>
          <p:cNvPr id="10" name="TextBox 9"/>
          <p:cNvSpPr txBox="1"/>
          <p:nvPr/>
        </p:nvSpPr>
        <p:spPr>
          <a:xfrm>
            <a:off x="749808" y="3017520"/>
            <a:ext cx="3227832" cy="1325879"/>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Agents arrive team by team. Nobody can list what is running, who owns it, or what it costs.</a:t>
            </a:r>
          </a:p>
        </p:txBody>
      </p:sp>
      <p:sp>
        <p:nvSpPr>
          <p:cNvPr id="11" name="Rounded Rectangle 10"/>
          <p:cNvSpPr/>
          <p:nvPr/>
        </p:nvSpPr>
        <p:spPr>
          <a:xfrm>
            <a:off x="4297679" y="2103120"/>
            <a:ext cx="3593592" cy="233172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98847" y="2331720"/>
            <a:ext cx="73152" cy="3840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45151" y="2286000"/>
            <a:ext cx="3090672" cy="274320"/>
          </a:xfrm>
          <a:prstGeom prst="rect">
            <a:avLst/>
          </a:prstGeom>
          <a:noFill/>
        </p:spPr>
        <p:txBody>
          <a:bodyPr wrap="square" lIns="73152" rIns="73152" tIns="36576" bIns="36576" anchor="t">
            <a:spAutoFit/>
          </a:bodyPr>
          <a:lstStyle/>
          <a:p>
            <a:pPr algn="l">
              <a:lnSpc>
                <a:spcPct val="110000"/>
              </a:lnSpc>
            </a:pPr>
            <a:r>
              <a:rPr sz="1000" b="1" i="0">
                <a:solidFill>
                  <a:srgbClr val="0F766E"/>
                </a:solidFill>
                <a:latin typeface="Arial"/>
              </a:rPr>
              <a:t>INCONSISTENT ACCESS</a:t>
            </a:r>
          </a:p>
        </p:txBody>
      </p:sp>
      <p:sp>
        <p:nvSpPr>
          <p:cNvPr id="14" name="TextBox 13"/>
          <p:cNvSpPr txBox="1"/>
          <p:nvPr/>
        </p:nvSpPr>
        <p:spPr>
          <a:xfrm>
            <a:off x="4645151" y="2514600"/>
            <a:ext cx="3090672" cy="685800"/>
          </a:xfrm>
          <a:prstGeom prst="rect">
            <a:avLst/>
          </a:prstGeom>
          <a:noFill/>
        </p:spPr>
        <p:txBody>
          <a:bodyPr wrap="square" lIns="73152" rIns="73152" tIns="36576" bIns="36576" anchor="t">
            <a:spAutoFit/>
          </a:bodyPr>
          <a:lstStyle/>
          <a:p>
            <a:pPr algn="l">
              <a:lnSpc>
                <a:spcPct val="100000"/>
              </a:lnSpc>
            </a:pPr>
            <a:r>
              <a:rPr sz="1700" b="1" i="0">
                <a:solidFill>
                  <a:srgbClr val="0F172A"/>
                </a:solidFill>
                <a:latin typeface="Arial"/>
              </a:rPr>
              <a:t>What can it touch?</a:t>
            </a:r>
          </a:p>
        </p:txBody>
      </p:sp>
      <p:sp>
        <p:nvSpPr>
          <p:cNvPr id="15" name="TextBox 14"/>
          <p:cNvSpPr txBox="1"/>
          <p:nvPr/>
        </p:nvSpPr>
        <p:spPr>
          <a:xfrm>
            <a:off x="4498847" y="3017520"/>
            <a:ext cx="3227832" cy="1325879"/>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Each agent brings its own credentials. Limits live in prompts, where nothing enforces them.</a:t>
            </a:r>
          </a:p>
        </p:txBody>
      </p:sp>
      <p:sp>
        <p:nvSpPr>
          <p:cNvPr id="16" name="Rounded Rectangle 15"/>
          <p:cNvSpPr/>
          <p:nvPr/>
        </p:nvSpPr>
        <p:spPr>
          <a:xfrm>
            <a:off x="8046719" y="2103120"/>
            <a:ext cx="3593592" cy="233172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7888" y="2331720"/>
            <a:ext cx="73152" cy="38404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94192" y="2286000"/>
            <a:ext cx="3090672" cy="274320"/>
          </a:xfrm>
          <a:prstGeom prst="rect">
            <a:avLst/>
          </a:prstGeom>
          <a:noFill/>
        </p:spPr>
        <p:txBody>
          <a:bodyPr wrap="square" lIns="73152" rIns="73152" tIns="36576" bIns="36576" anchor="t">
            <a:spAutoFit/>
          </a:bodyPr>
          <a:lstStyle/>
          <a:p>
            <a:pPr algn="l">
              <a:lnSpc>
                <a:spcPct val="110000"/>
              </a:lnSpc>
            </a:pPr>
            <a:r>
              <a:rPr sz="1000" b="1" i="0">
                <a:solidFill>
                  <a:srgbClr val="B91C1C"/>
                </a:solidFill>
                <a:latin typeface="Arial"/>
              </a:rPr>
              <a:t>NO SINGLE RECORD</a:t>
            </a:r>
          </a:p>
        </p:txBody>
      </p:sp>
      <p:sp>
        <p:nvSpPr>
          <p:cNvPr id="19" name="TextBox 18"/>
          <p:cNvSpPr txBox="1"/>
          <p:nvPr/>
        </p:nvSpPr>
        <p:spPr>
          <a:xfrm>
            <a:off x="8394192" y="2514600"/>
            <a:ext cx="3090672" cy="685800"/>
          </a:xfrm>
          <a:prstGeom prst="rect">
            <a:avLst/>
          </a:prstGeom>
          <a:noFill/>
        </p:spPr>
        <p:txBody>
          <a:bodyPr wrap="square" lIns="73152" rIns="73152" tIns="36576" bIns="36576" anchor="t">
            <a:spAutoFit/>
          </a:bodyPr>
          <a:lstStyle/>
          <a:p>
            <a:pPr algn="l">
              <a:lnSpc>
                <a:spcPct val="100000"/>
              </a:lnSpc>
            </a:pPr>
            <a:r>
              <a:rPr sz="1700" b="1" i="0">
                <a:solidFill>
                  <a:srgbClr val="0F172A"/>
                </a:solidFill>
                <a:latin typeface="Arial"/>
              </a:rPr>
              <a:t>What did it do?</a:t>
            </a:r>
          </a:p>
        </p:txBody>
      </p:sp>
      <p:sp>
        <p:nvSpPr>
          <p:cNvPr id="20" name="TextBox 19"/>
          <p:cNvSpPr txBox="1"/>
          <p:nvPr/>
        </p:nvSpPr>
        <p:spPr>
          <a:xfrm>
            <a:off x="8247888" y="3017520"/>
            <a:ext cx="3227832" cy="1325879"/>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The alert, the investigation and the code change live in three tools. Reconstructing a decision is manual work.</a:t>
            </a:r>
          </a:p>
        </p:txBody>
      </p:sp>
      <p:sp>
        <p:nvSpPr>
          <p:cNvPr id="21" name="Rounded Rectangle 20"/>
          <p:cNvSpPr/>
          <p:nvPr/>
        </p:nvSpPr>
        <p:spPr>
          <a:xfrm>
            <a:off x="548640" y="4663440"/>
            <a:ext cx="11091672" cy="868680"/>
          </a:xfrm>
          <a:prstGeom prst="roundRect">
            <a:avLst>
              <a:gd name="adj" fmla="val 12000"/>
            </a:avLst>
          </a:prstGeom>
          <a:solidFill>
            <a:srgbClr val="FFF7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73152" tIns="36576" bIns="36576"/>
          <a:lstStyle/>
          <a:p>
            <a:pPr algn="l">
              <a:lnSpc>
                <a:spcPct val="110000"/>
              </a:lnSpc>
            </a:pPr>
            <a:r>
              <a:rPr sz="1500" b="1" i="0">
                <a:solidFill>
                  <a:srgbClr val="0F172A"/>
                </a:solidFill>
                <a:latin typeface="Arial"/>
              </a:rPr>
              <a:t>Gartner expects over 40% of agentic AI projects to be cancelled by 2027</a:t>
            </a:r>
            <a:r>
              <a:rPr sz="1500" b="0" i="0">
                <a:solidFill>
                  <a:srgbClr val="475569"/>
                </a:solidFill>
                <a:latin typeface="Arial"/>
              </a:rPr>
              <a:t> for governance gaps, unclear value or rising cost.</a:t>
            </a:r>
          </a:p>
          <a:p>
            <a:pPr algn="l">
              <a:lnSpc>
                <a:spcPct val="110000"/>
              </a:lnSpc>
            </a:pPr>
            <a:r>
              <a:rPr sz="1000" b="0" i="0">
                <a:solidFill>
                  <a:srgbClr val="94A3B8"/>
                </a:solidFill>
                <a:latin typeface="Arial"/>
              </a:rPr>
              <a:t>Cited in Komodor's KAOP launch, September 2026</a:t>
            </a:r>
          </a:p>
        </p:txBody>
      </p:sp>
      <p:sp>
        <p:nvSpPr>
          <p:cNvPr id="22" name="Rounded Rectangle 21"/>
          <p:cNvSpPr/>
          <p:nvPr/>
        </p:nvSpPr>
        <p:spPr>
          <a:xfrm>
            <a:off x="548640" y="5806440"/>
            <a:ext cx="11091672" cy="566928"/>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73152" tIns="36576" bIns="36576"/>
          <a:lstStyle/>
          <a:p>
            <a:pPr algn="l">
              <a:lnSpc>
                <a:spcPct val="110000"/>
              </a:lnSpc>
            </a:pPr>
            <a:r>
              <a:rPr sz="1100" b="1" i="0">
                <a:solidFill>
                  <a:srgbClr val="A5B4FC"/>
                </a:solidFill>
                <a:latin typeface="Arial"/>
              </a:rPr>
              <a:t>ASK   </a:t>
            </a:r>
            <a:r>
              <a:rPr sz="1400" b="0" i="0">
                <a:solidFill>
                  <a:srgbClr val="FFFFFF"/>
                </a:solidFill>
                <a:latin typeface="Arial"/>
              </a:rPr>
              <a:t>Which of these three is costing your platform team the most today?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KAOP  ·  PLATFORM ENGINEERING</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03 / 09</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KAOP runs agents like production services</a:t>
            </a:r>
          </a:p>
        </p:txBody>
      </p:sp>
      <p:sp>
        <p:nvSpPr>
          <p:cNvPr id="5" name="TextBox 4"/>
          <p:cNvSpPr txBox="1"/>
          <p:nvPr/>
        </p:nvSpPr>
        <p:spPr>
          <a:xfrm>
            <a:off x="548640" y="1371600"/>
            <a:ext cx="11064240" cy="457200"/>
          </a:xfrm>
          <a:prstGeom prst="rect">
            <a:avLst/>
          </a:prstGeom>
          <a:noFill/>
        </p:spPr>
        <p:txBody>
          <a:bodyPr wrap="square" lIns="73152" rIns="73152" tIns="36576" bIns="36576" anchor="t">
            <a:spAutoFit/>
          </a:bodyPr>
          <a:lstStyle/>
          <a:p>
            <a:pPr algn="l">
              <a:lnSpc>
                <a:spcPct val="110000"/>
              </a:lnSpc>
            </a:pPr>
            <a:r>
              <a:rPr sz="1600" b="0" i="0">
                <a:solidFill>
                  <a:srgbClr val="475569"/>
                </a:solidFill>
                <a:latin typeface="Arial"/>
              </a:rPr>
              <a:t>One platform to build, run, govern and optimize every agent, Komodor's and your own.</a:t>
            </a:r>
          </a:p>
        </p:txBody>
      </p:sp>
      <p:sp>
        <p:nvSpPr>
          <p:cNvPr id="6" name="Rounded Rectangle 5"/>
          <p:cNvSpPr/>
          <p:nvPr/>
        </p:nvSpPr>
        <p:spPr>
          <a:xfrm>
            <a:off x="548640" y="2103120"/>
            <a:ext cx="2670048" cy="34290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49808" y="2331720"/>
            <a:ext cx="73152" cy="38404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6112" y="2286000"/>
            <a:ext cx="2167128"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BUILD</a:t>
            </a:r>
          </a:p>
        </p:txBody>
      </p:sp>
      <p:sp>
        <p:nvSpPr>
          <p:cNvPr id="9" name="TextBox 8"/>
          <p:cNvSpPr txBox="1"/>
          <p:nvPr/>
        </p:nvSpPr>
        <p:spPr>
          <a:xfrm>
            <a:off x="896112" y="2514600"/>
            <a:ext cx="2167128" cy="685800"/>
          </a:xfrm>
          <a:prstGeom prst="rect">
            <a:avLst/>
          </a:prstGeom>
          <a:noFill/>
        </p:spPr>
        <p:txBody>
          <a:bodyPr wrap="square" lIns="73152" rIns="73152" tIns="36576" bIns="36576" anchor="t">
            <a:spAutoFit/>
          </a:bodyPr>
          <a:lstStyle/>
          <a:p>
            <a:pPr algn="l">
              <a:lnSpc>
                <a:spcPct val="100000"/>
              </a:lnSpc>
            </a:pPr>
            <a:r>
              <a:rPr sz="1500" b="1" i="0">
                <a:solidFill>
                  <a:srgbClr val="0F172A"/>
                </a:solidFill>
                <a:latin typeface="Arial"/>
              </a:rPr>
              <a:t>Start ready, or bring your own</a:t>
            </a:r>
          </a:p>
        </p:txBody>
      </p:sp>
      <p:sp>
        <p:nvSpPr>
          <p:cNvPr id="10" name="TextBox 9"/>
          <p:cNvSpPr txBox="1"/>
          <p:nvPr/>
        </p:nvSpPr>
        <p:spPr>
          <a:xfrm>
            <a:off x="749808" y="3291839"/>
            <a:ext cx="2304288" cy="2148840"/>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Komodor-built catalog agents: Kubernetes RCA, Grafana and Datadog investigators, Code Reviewer, remediation. Or import agents built on LangChain, the Claude Agent SDK or ADK.</a:t>
            </a:r>
          </a:p>
        </p:txBody>
      </p:sp>
      <p:sp>
        <p:nvSpPr>
          <p:cNvPr id="11" name="Rounded Rectangle 10"/>
          <p:cNvSpPr/>
          <p:nvPr/>
        </p:nvSpPr>
        <p:spPr>
          <a:xfrm>
            <a:off x="3355848" y="2103120"/>
            <a:ext cx="2670048" cy="34290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557016" y="2331720"/>
            <a:ext cx="73152" cy="3840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03320" y="2286000"/>
            <a:ext cx="2167128" cy="274320"/>
          </a:xfrm>
          <a:prstGeom prst="rect">
            <a:avLst/>
          </a:prstGeom>
          <a:noFill/>
        </p:spPr>
        <p:txBody>
          <a:bodyPr wrap="square" lIns="73152" rIns="73152" tIns="36576" bIns="36576" anchor="t">
            <a:spAutoFit/>
          </a:bodyPr>
          <a:lstStyle/>
          <a:p>
            <a:pPr algn="l">
              <a:lnSpc>
                <a:spcPct val="110000"/>
              </a:lnSpc>
            </a:pPr>
            <a:r>
              <a:rPr sz="1000" b="1" i="0">
                <a:solidFill>
                  <a:srgbClr val="0F766E"/>
                </a:solidFill>
                <a:latin typeface="Arial"/>
              </a:rPr>
              <a:t>RUN</a:t>
            </a:r>
          </a:p>
        </p:txBody>
      </p:sp>
      <p:sp>
        <p:nvSpPr>
          <p:cNvPr id="14" name="TextBox 13"/>
          <p:cNvSpPr txBox="1"/>
          <p:nvPr/>
        </p:nvSpPr>
        <p:spPr>
          <a:xfrm>
            <a:off x="3703320" y="2514600"/>
            <a:ext cx="2167128" cy="685800"/>
          </a:xfrm>
          <a:prstGeom prst="rect">
            <a:avLst/>
          </a:prstGeom>
          <a:noFill/>
        </p:spPr>
        <p:txBody>
          <a:bodyPr wrap="square" lIns="73152" rIns="73152" tIns="36576" bIns="36576" anchor="t">
            <a:spAutoFit/>
          </a:bodyPr>
          <a:lstStyle/>
          <a:p>
            <a:pPr algn="l">
              <a:lnSpc>
                <a:spcPct val="100000"/>
              </a:lnSpc>
            </a:pPr>
            <a:r>
              <a:rPr sz="1500" b="1" i="0">
                <a:solidFill>
                  <a:srgbClr val="0F172A"/>
                </a:solidFill>
                <a:latin typeface="Arial"/>
              </a:rPr>
              <a:t>Wire agents to real triggers</a:t>
            </a:r>
          </a:p>
        </p:txBody>
      </p:sp>
      <p:sp>
        <p:nvSpPr>
          <p:cNvPr id="15" name="TextBox 14"/>
          <p:cNvSpPr txBox="1"/>
          <p:nvPr/>
        </p:nvSpPr>
        <p:spPr>
          <a:xfrm>
            <a:off x="3557016" y="3291839"/>
            <a:ext cx="2304288" cy="2148840"/>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Alert endpoints, schedules and Slack start runs. Workflows fan work out to specialists. Agents run in Komodor cloud or inside your network, dialing out only.</a:t>
            </a:r>
          </a:p>
        </p:txBody>
      </p:sp>
      <p:sp>
        <p:nvSpPr>
          <p:cNvPr id="16" name="Rounded Rectangle 15"/>
          <p:cNvSpPr/>
          <p:nvPr/>
        </p:nvSpPr>
        <p:spPr>
          <a:xfrm>
            <a:off x="6163055" y="2103120"/>
            <a:ext cx="2670048" cy="34290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4223" y="2331720"/>
            <a:ext cx="73152" cy="38404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10527" y="2286000"/>
            <a:ext cx="2167128" cy="274320"/>
          </a:xfrm>
          <a:prstGeom prst="rect">
            <a:avLst/>
          </a:prstGeom>
          <a:noFill/>
        </p:spPr>
        <p:txBody>
          <a:bodyPr wrap="square" lIns="73152" rIns="73152" tIns="36576" bIns="36576" anchor="t">
            <a:spAutoFit/>
          </a:bodyPr>
          <a:lstStyle/>
          <a:p>
            <a:pPr algn="l">
              <a:lnSpc>
                <a:spcPct val="110000"/>
              </a:lnSpc>
            </a:pPr>
            <a:r>
              <a:rPr sz="1000" b="1" i="0">
                <a:solidFill>
                  <a:srgbClr val="B91C1C"/>
                </a:solidFill>
                <a:latin typeface="Arial"/>
              </a:rPr>
              <a:t>GOVERN</a:t>
            </a:r>
          </a:p>
        </p:txBody>
      </p:sp>
      <p:sp>
        <p:nvSpPr>
          <p:cNvPr id="19" name="TextBox 18"/>
          <p:cNvSpPr txBox="1"/>
          <p:nvPr/>
        </p:nvSpPr>
        <p:spPr>
          <a:xfrm>
            <a:off x="6510527" y="2514600"/>
            <a:ext cx="2167128" cy="685800"/>
          </a:xfrm>
          <a:prstGeom prst="rect">
            <a:avLst/>
          </a:prstGeom>
          <a:noFill/>
        </p:spPr>
        <p:txBody>
          <a:bodyPr wrap="square" lIns="73152" rIns="73152" tIns="36576" bIns="36576" anchor="t">
            <a:spAutoFit/>
          </a:bodyPr>
          <a:lstStyle/>
          <a:p>
            <a:pPr algn="l">
              <a:lnSpc>
                <a:spcPct val="100000"/>
              </a:lnSpc>
            </a:pPr>
            <a:r>
              <a:rPr sz="1500" b="1" i="0">
                <a:solidFill>
                  <a:srgbClr val="0F172A"/>
                </a:solidFill>
                <a:latin typeface="Arial"/>
              </a:rPr>
              <a:t>Enforce, don't instruct</a:t>
            </a:r>
          </a:p>
        </p:txBody>
      </p:sp>
      <p:sp>
        <p:nvSpPr>
          <p:cNvPr id="20" name="TextBox 19"/>
          <p:cNvSpPr txBox="1"/>
          <p:nvPr/>
        </p:nvSpPr>
        <p:spPr>
          <a:xfrm>
            <a:off x="6364223" y="3291839"/>
            <a:ext cx="2304288" cy="2148840"/>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Every agent has its own identity and default-deny permissions. Guardrails block or redact. Risky actions wait for a person. Everything lands in an append-only audit log.</a:t>
            </a:r>
          </a:p>
        </p:txBody>
      </p:sp>
      <p:sp>
        <p:nvSpPr>
          <p:cNvPr id="21" name="Rounded Rectangle 20"/>
          <p:cNvSpPr/>
          <p:nvPr/>
        </p:nvSpPr>
        <p:spPr>
          <a:xfrm>
            <a:off x="8970263" y="2103120"/>
            <a:ext cx="2670048" cy="34290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171432" y="2331720"/>
            <a:ext cx="73152" cy="3840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17736" y="2286000"/>
            <a:ext cx="2167128" cy="274320"/>
          </a:xfrm>
          <a:prstGeom prst="rect">
            <a:avLst/>
          </a:prstGeom>
          <a:noFill/>
        </p:spPr>
        <p:txBody>
          <a:bodyPr wrap="square" lIns="73152" rIns="73152" tIns="36576" bIns="36576" anchor="t">
            <a:spAutoFit/>
          </a:bodyPr>
          <a:lstStyle/>
          <a:p>
            <a:pPr algn="l">
              <a:lnSpc>
                <a:spcPct val="110000"/>
              </a:lnSpc>
            </a:pPr>
            <a:r>
              <a:rPr sz="1000" b="1" i="0">
                <a:solidFill>
                  <a:srgbClr val="B45309"/>
                </a:solidFill>
                <a:latin typeface="Arial"/>
              </a:rPr>
              <a:t>OPTIMIZE</a:t>
            </a:r>
          </a:p>
        </p:txBody>
      </p:sp>
      <p:sp>
        <p:nvSpPr>
          <p:cNvPr id="24" name="TextBox 23"/>
          <p:cNvSpPr txBox="1"/>
          <p:nvPr/>
        </p:nvSpPr>
        <p:spPr>
          <a:xfrm>
            <a:off x="9317736" y="2514600"/>
            <a:ext cx="2167128" cy="685800"/>
          </a:xfrm>
          <a:prstGeom prst="rect">
            <a:avLst/>
          </a:prstGeom>
          <a:noFill/>
        </p:spPr>
        <p:txBody>
          <a:bodyPr wrap="square" lIns="73152" rIns="73152" tIns="36576" bIns="36576" anchor="t">
            <a:spAutoFit/>
          </a:bodyPr>
          <a:lstStyle/>
          <a:p>
            <a:pPr algn="l">
              <a:lnSpc>
                <a:spcPct val="100000"/>
              </a:lnSpc>
            </a:pPr>
            <a:r>
              <a:rPr sz="1500" b="1" i="0">
                <a:solidFill>
                  <a:srgbClr val="0F172A"/>
                </a:solidFill>
                <a:latin typeface="Arial"/>
              </a:rPr>
              <a:t>Keep what earns its cost</a:t>
            </a:r>
          </a:p>
        </p:txBody>
      </p:sp>
      <p:sp>
        <p:nvSpPr>
          <p:cNvPr id="25" name="TextBox 24"/>
          <p:cNvSpPr txBox="1"/>
          <p:nvPr/>
        </p:nvSpPr>
        <p:spPr>
          <a:xfrm>
            <a:off x="9171432" y="3291839"/>
            <a:ext cx="2304288" cy="2148840"/>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Every run records inputs, tool calls, reasoning, output and cost. LLM-judge evaluations grade quality, and budgets cap spend per agent.</a:t>
            </a:r>
          </a:p>
        </p:txBody>
      </p:sp>
      <p:sp>
        <p:nvSpPr>
          <p:cNvPr id="26" name="Rounded Rectangle 25"/>
          <p:cNvSpPr/>
          <p:nvPr/>
        </p:nvSpPr>
        <p:spPr>
          <a:xfrm>
            <a:off x="548640" y="5806440"/>
            <a:ext cx="11091672" cy="566928"/>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73152" tIns="36576" bIns="36576"/>
          <a:lstStyle/>
          <a:p>
            <a:pPr algn="l">
              <a:lnSpc>
                <a:spcPct val="110000"/>
              </a:lnSpc>
            </a:pPr>
            <a:r>
              <a:rPr sz="1100" b="1" i="0">
                <a:solidFill>
                  <a:srgbClr val="A5B4FC"/>
                </a:solidFill>
                <a:latin typeface="Arial"/>
              </a:rPr>
              <a:t>FOUNDATION   </a:t>
            </a:r>
            <a:r>
              <a:rPr sz="1400" b="0" i="0">
                <a:solidFill>
                  <a:srgbClr val="FFFFFF"/>
                </a:solidFill>
                <a:latin typeface="Arial"/>
              </a:rPr>
              <a:t>Klaudia's Kubernetes root-cause expertise, packaged as agents your teams deploy in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KAOP  ·  PLATFORM ENGINEERING</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04 / 09</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A prompt is not a permission model</a:t>
            </a:r>
          </a:p>
        </p:txBody>
      </p:sp>
      <p:sp>
        <p:nvSpPr>
          <p:cNvPr id="5" name="TextBox 4"/>
          <p:cNvSpPr txBox="1"/>
          <p:nvPr/>
        </p:nvSpPr>
        <p:spPr>
          <a:xfrm>
            <a:off x="548640" y="1371600"/>
            <a:ext cx="11064240" cy="457200"/>
          </a:xfrm>
          <a:prstGeom prst="rect">
            <a:avLst/>
          </a:prstGeom>
          <a:noFill/>
        </p:spPr>
        <p:txBody>
          <a:bodyPr wrap="square" lIns="73152" rIns="73152" tIns="36576" bIns="36576" anchor="t">
            <a:spAutoFit/>
          </a:bodyPr>
          <a:lstStyle/>
          <a:p>
            <a:pPr algn="l">
              <a:lnSpc>
                <a:spcPct val="110000"/>
              </a:lnSpc>
            </a:pPr>
            <a:r>
              <a:rPr sz="1600" b="0" i="0">
                <a:solidFill>
                  <a:srgbClr val="475569"/>
                </a:solidFill>
                <a:latin typeface="Arial"/>
              </a:rPr>
              <a:t>KAOP governs an agent the same way it governs a person, by the same machinery.</a:t>
            </a:r>
          </a:p>
        </p:txBody>
      </p:sp>
      <p:sp>
        <p:nvSpPr>
          <p:cNvPr id="6" name="TextBox 5"/>
          <p:cNvSpPr txBox="1"/>
          <p:nvPr/>
        </p:nvSpPr>
        <p:spPr>
          <a:xfrm>
            <a:off x="548640" y="2011680"/>
            <a:ext cx="2194560" cy="274320"/>
          </a:xfrm>
          <a:prstGeom prst="rect">
            <a:avLst/>
          </a:prstGeom>
          <a:noFill/>
        </p:spPr>
        <p:txBody>
          <a:bodyPr wrap="square" lIns="73152" rIns="73152" tIns="36576" bIns="36576" anchor="t">
            <a:spAutoFit/>
          </a:bodyPr>
          <a:lstStyle/>
          <a:p>
            <a:pPr algn="l">
              <a:lnSpc>
                <a:spcPct val="110000"/>
              </a:lnSpc>
            </a:pPr>
            <a:r>
              <a:rPr sz="1000" b="1" i="0">
                <a:solidFill>
                  <a:srgbClr val="94A3B8"/>
                </a:solidFill>
                <a:latin typeface="Arial"/>
              </a:rPr>
              <a:t>LAYER</a:t>
            </a:r>
          </a:p>
        </p:txBody>
      </p:sp>
      <p:sp>
        <p:nvSpPr>
          <p:cNvPr id="7" name="TextBox 6"/>
          <p:cNvSpPr txBox="1"/>
          <p:nvPr/>
        </p:nvSpPr>
        <p:spPr>
          <a:xfrm>
            <a:off x="2514600" y="2011680"/>
            <a:ext cx="2926080" cy="274320"/>
          </a:xfrm>
          <a:prstGeom prst="rect">
            <a:avLst/>
          </a:prstGeom>
          <a:noFill/>
        </p:spPr>
        <p:txBody>
          <a:bodyPr wrap="square" lIns="73152" rIns="73152" tIns="36576" bIns="36576" anchor="t">
            <a:spAutoFit/>
          </a:bodyPr>
          <a:lstStyle/>
          <a:p>
            <a:pPr algn="l">
              <a:lnSpc>
                <a:spcPct val="110000"/>
              </a:lnSpc>
            </a:pPr>
            <a:r>
              <a:rPr sz="1000" b="1" i="0">
                <a:solidFill>
                  <a:srgbClr val="94A3B8"/>
                </a:solidFill>
                <a:latin typeface="Arial"/>
              </a:rPr>
              <a:t>QUESTION IT ANSWERS</a:t>
            </a:r>
          </a:p>
        </p:txBody>
      </p:sp>
      <p:sp>
        <p:nvSpPr>
          <p:cNvPr id="8" name="TextBox 7"/>
          <p:cNvSpPr txBox="1"/>
          <p:nvPr/>
        </p:nvSpPr>
        <p:spPr>
          <a:xfrm>
            <a:off x="5257800" y="2011680"/>
            <a:ext cx="2743200" cy="274320"/>
          </a:xfrm>
          <a:prstGeom prst="rect">
            <a:avLst/>
          </a:prstGeom>
          <a:noFill/>
        </p:spPr>
        <p:txBody>
          <a:bodyPr wrap="square" lIns="73152" rIns="73152" tIns="36576" bIns="36576" anchor="t">
            <a:spAutoFit/>
          </a:bodyPr>
          <a:lstStyle/>
          <a:p>
            <a:pPr algn="l">
              <a:lnSpc>
                <a:spcPct val="110000"/>
              </a:lnSpc>
            </a:pPr>
            <a:r>
              <a:rPr sz="1000" b="1" i="0">
                <a:solidFill>
                  <a:srgbClr val="94A3B8"/>
                </a:solidFill>
                <a:latin typeface="Arial"/>
              </a:rPr>
              <a:t>WHAT IT STOPS</a:t>
            </a:r>
          </a:p>
        </p:txBody>
      </p:sp>
      <p:sp>
        <p:nvSpPr>
          <p:cNvPr id="9" name="Rounded Rectangle 8"/>
          <p:cNvSpPr/>
          <p:nvPr/>
        </p:nvSpPr>
        <p:spPr>
          <a:xfrm>
            <a:off x="548640" y="2286000"/>
            <a:ext cx="7543800" cy="475488"/>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58368" y="2377440"/>
            <a:ext cx="292608" cy="292608"/>
          </a:xfrm>
          <a:prstGeom prst="roundRect">
            <a:avLst>
              <a:gd name="adj" fmla="val 5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000" b="1" i="0">
                <a:solidFill>
                  <a:srgbClr val="4F46E5"/>
                </a:solidFill>
                <a:latin typeface="Arial"/>
              </a:rPr>
              <a:t>1</a:t>
            </a:r>
          </a:p>
        </p:txBody>
      </p:sp>
      <p:sp>
        <p:nvSpPr>
          <p:cNvPr id="11" name="TextBox 10"/>
          <p:cNvSpPr txBox="1"/>
          <p:nvPr/>
        </p:nvSpPr>
        <p:spPr>
          <a:xfrm>
            <a:off x="1005840" y="2359152"/>
            <a:ext cx="1554480" cy="329184"/>
          </a:xfrm>
          <a:prstGeom prst="rect">
            <a:avLst/>
          </a:prstGeom>
          <a:noFill/>
        </p:spPr>
        <p:txBody>
          <a:bodyPr wrap="square" lIns="73152" rIns="73152" tIns="36576" bIns="36576" anchor="ctr">
            <a:spAutoFit/>
          </a:bodyPr>
          <a:lstStyle/>
          <a:p>
            <a:pPr algn="l">
              <a:lnSpc>
                <a:spcPct val="110000"/>
              </a:lnSpc>
            </a:pPr>
            <a:r>
              <a:rPr sz="1400" b="1" i="0">
                <a:solidFill>
                  <a:srgbClr val="0F172A"/>
                </a:solidFill>
                <a:latin typeface="Arial"/>
              </a:rPr>
              <a:t>Identity</a:t>
            </a:r>
          </a:p>
        </p:txBody>
      </p:sp>
      <p:sp>
        <p:nvSpPr>
          <p:cNvPr id="12" name="TextBox 11"/>
          <p:cNvSpPr txBox="1"/>
          <p:nvPr/>
        </p:nvSpPr>
        <p:spPr>
          <a:xfrm>
            <a:off x="2514600" y="2359152"/>
            <a:ext cx="274320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Who is acting?</a:t>
            </a:r>
          </a:p>
        </p:txBody>
      </p:sp>
      <p:sp>
        <p:nvSpPr>
          <p:cNvPr id="13" name="TextBox 12"/>
          <p:cNvSpPr txBox="1"/>
          <p:nvPr/>
        </p:nvSpPr>
        <p:spPr>
          <a:xfrm>
            <a:off x="5257800" y="2359152"/>
            <a:ext cx="278892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An action nobody is accountable for</a:t>
            </a:r>
          </a:p>
        </p:txBody>
      </p:sp>
      <p:sp>
        <p:nvSpPr>
          <p:cNvPr id="14" name="Rounded Rectangle 13"/>
          <p:cNvSpPr/>
          <p:nvPr/>
        </p:nvSpPr>
        <p:spPr>
          <a:xfrm>
            <a:off x="548640" y="2834640"/>
            <a:ext cx="7543800" cy="475488"/>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58368" y="2926080"/>
            <a:ext cx="292608" cy="292608"/>
          </a:xfrm>
          <a:prstGeom prst="roundRect">
            <a:avLst>
              <a:gd name="adj" fmla="val 5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000" b="1" i="0">
                <a:solidFill>
                  <a:srgbClr val="4F46E5"/>
                </a:solidFill>
                <a:latin typeface="Arial"/>
              </a:rPr>
              <a:t>2</a:t>
            </a:r>
          </a:p>
        </p:txBody>
      </p:sp>
      <p:sp>
        <p:nvSpPr>
          <p:cNvPr id="16" name="TextBox 15"/>
          <p:cNvSpPr txBox="1"/>
          <p:nvPr/>
        </p:nvSpPr>
        <p:spPr>
          <a:xfrm>
            <a:off x="1005840" y="2907792"/>
            <a:ext cx="1554480" cy="329184"/>
          </a:xfrm>
          <a:prstGeom prst="rect">
            <a:avLst/>
          </a:prstGeom>
          <a:noFill/>
        </p:spPr>
        <p:txBody>
          <a:bodyPr wrap="square" lIns="73152" rIns="73152" tIns="36576" bIns="36576" anchor="ctr">
            <a:spAutoFit/>
          </a:bodyPr>
          <a:lstStyle/>
          <a:p>
            <a:pPr algn="l">
              <a:lnSpc>
                <a:spcPct val="110000"/>
              </a:lnSpc>
            </a:pPr>
            <a:r>
              <a:rPr sz="1400" b="1" i="0">
                <a:solidFill>
                  <a:srgbClr val="0F172A"/>
                </a:solidFill>
                <a:latin typeface="Arial"/>
              </a:rPr>
              <a:t>Permissions</a:t>
            </a:r>
          </a:p>
        </p:txBody>
      </p:sp>
      <p:sp>
        <p:nvSpPr>
          <p:cNvPr id="17" name="TextBox 16"/>
          <p:cNvSpPr txBox="1"/>
          <p:nvPr/>
        </p:nvSpPr>
        <p:spPr>
          <a:xfrm>
            <a:off x="2514600" y="2907792"/>
            <a:ext cx="274320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Allowed on this resource?</a:t>
            </a:r>
          </a:p>
        </p:txBody>
      </p:sp>
      <p:sp>
        <p:nvSpPr>
          <p:cNvPr id="18" name="TextBox 17"/>
          <p:cNvSpPr txBox="1"/>
          <p:nvPr/>
        </p:nvSpPr>
        <p:spPr>
          <a:xfrm>
            <a:off x="5257800" y="2907792"/>
            <a:ext cx="278892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An identity reaching beyond its job</a:t>
            </a:r>
          </a:p>
        </p:txBody>
      </p:sp>
      <p:sp>
        <p:nvSpPr>
          <p:cNvPr id="19" name="Rounded Rectangle 18"/>
          <p:cNvSpPr/>
          <p:nvPr/>
        </p:nvSpPr>
        <p:spPr>
          <a:xfrm>
            <a:off x="548640" y="3383280"/>
            <a:ext cx="7543800" cy="475488"/>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58368" y="3474720"/>
            <a:ext cx="292608" cy="292608"/>
          </a:xfrm>
          <a:prstGeom prst="roundRect">
            <a:avLst>
              <a:gd name="adj" fmla="val 5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000" b="1" i="0">
                <a:solidFill>
                  <a:srgbClr val="4F46E5"/>
                </a:solidFill>
                <a:latin typeface="Arial"/>
              </a:rPr>
              <a:t>3</a:t>
            </a:r>
          </a:p>
        </p:txBody>
      </p:sp>
      <p:sp>
        <p:nvSpPr>
          <p:cNvPr id="21" name="TextBox 20"/>
          <p:cNvSpPr txBox="1"/>
          <p:nvPr/>
        </p:nvSpPr>
        <p:spPr>
          <a:xfrm>
            <a:off x="1005840" y="3456432"/>
            <a:ext cx="1554480" cy="329184"/>
          </a:xfrm>
          <a:prstGeom prst="rect">
            <a:avLst/>
          </a:prstGeom>
          <a:noFill/>
        </p:spPr>
        <p:txBody>
          <a:bodyPr wrap="square" lIns="73152" rIns="73152" tIns="36576" bIns="36576" anchor="ctr">
            <a:spAutoFit/>
          </a:bodyPr>
          <a:lstStyle/>
          <a:p>
            <a:pPr algn="l">
              <a:lnSpc>
                <a:spcPct val="110000"/>
              </a:lnSpc>
            </a:pPr>
            <a:r>
              <a:rPr sz="1400" b="1" i="0">
                <a:solidFill>
                  <a:srgbClr val="0F172A"/>
                </a:solidFill>
                <a:latin typeface="Arial"/>
              </a:rPr>
              <a:t>Standards</a:t>
            </a:r>
          </a:p>
        </p:txBody>
      </p:sp>
      <p:sp>
        <p:nvSpPr>
          <p:cNvPr id="22" name="TextBox 21"/>
          <p:cNvSpPr txBox="1"/>
          <p:nvPr/>
        </p:nvSpPr>
        <p:spPr>
          <a:xfrm>
            <a:off x="2514600" y="3456432"/>
            <a:ext cx="274320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Built to our rules?</a:t>
            </a:r>
          </a:p>
        </p:txBody>
      </p:sp>
      <p:sp>
        <p:nvSpPr>
          <p:cNvPr id="23" name="TextBox 22"/>
          <p:cNvSpPr txBox="1"/>
          <p:nvPr/>
        </p:nvSpPr>
        <p:spPr>
          <a:xfrm>
            <a:off x="5257800" y="3456432"/>
            <a:ext cx="278892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An agent with no owner, budget or grading</a:t>
            </a:r>
          </a:p>
        </p:txBody>
      </p:sp>
      <p:sp>
        <p:nvSpPr>
          <p:cNvPr id="24" name="Rounded Rectangle 23"/>
          <p:cNvSpPr/>
          <p:nvPr/>
        </p:nvSpPr>
        <p:spPr>
          <a:xfrm>
            <a:off x="548640" y="3931920"/>
            <a:ext cx="7543800" cy="475488"/>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58368" y="4023359"/>
            <a:ext cx="292608" cy="292608"/>
          </a:xfrm>
          <a:prstGeom prst="roundRect">
            <a:avLst>
              <a:gd name="adj" fmla="val 5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000" b="1" i="0">
                <a:solidFill>
                  <a:srgbClr val="4F46E5"/>
                </a:solidFill>
                <a:latin typeface="Arial"/>
              </a:rPr>
              <a:t>4</a:t>
            </a:r>
          </a:p>
        </p:txBody>
      </p:sp>
      <p:sp>
        <p:nvSpPr>
          <p:cNvPr id="26" name="TextBox 25"/>
          <p:cNvSpPr txBox="1"/>
          <p:nvPr/>
        </p:nvSpPr>
        <p:spPr>
          <a:xfrm>
            <a:off x="1005840" y="4005072"/>
            <a:ext cx="1554480" cy="329184"/>
          </a:xfrm>
          <a:prstGeom prst="rect">
            <a:avLst/>
          </a:prstGeom>
          <a:noFill/>
        </p:spPr>
        <p:txBody>
          <a:bodyPr wrap="square" lIns="73152" rIns="73152" tIns="36576" bIns="36576" anchor="ctr">
            <a:spAutoFit/>
          </a:bodyPr>
          <a:lstStyle/>
          <a:p>
            <a:pPr algn="l">
              <a:lnSpc>
                <a:spcPct val="110000"/>
              </a:lnSpc>
            </a:pPr>
            <a:r>
              <a:rPr sz="1400" b="1" i="0">
                <a:solidFill>
                  <a:srgbClr val="0F172A"/>
                </a:solidFill>
                <a:latin typeface="Arial"/>
              </a:rPr>
              <a:t>Guardrails</a:t>
            </a:r>
          </a:p>
        </p:txBody>
      </p:sp>
      <p:sp>
        <p:nvSpPr>
          <p:cNvPr id="27" name="TextBox 26"/>
          <p:cNvSpPr txBox="1"/>
          <p:nvPr/>
        </p:nvSpPr>
        <p:spPr>
          <a:xfrm>
            <a:off x="2514600" y="4005072"/>
            <a:ext cx="274320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May this action run now?</a:t>
            </a:r>
          </a:p>
        </p:txBody>
      </p:sp>
      <p:sp>
        <p:nvSpPr>
          <p:cNvPr id="28" name="TextBox 27"/>
          <p:cNvSpPr txBox="1"/>
          <p:nvPr/>
        </p:nvSpPr>
        <p:spPr>
          <a:xfrm>
            <a:off x="5257800" y="4005072"/>
            <a:ext cx="278892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A permitted tool used destructively</a:t>
            </a:r>
          </a:p>
        </p:txBody>
      </p:sp>
      <p:sp>
        <p:nvSpPr>
          <p:cNvPr id="29" name="Rounded Rectangle 28"/>
          <p:cNvSpPr/>
          <p:nvPr/>
        </p:nvSpPr>
        <p:spPr>
          <a:xfrm>
            <a:off x="548640" y="4480560"/>
            <a:ext cx="7543800" cy="475488"/>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58368" y="4572000"/>
            <a:ext cx="292608" cy="292608"/>
          </a:xfrm>
          <a:prstGeom prst="roundRect">
            <a:avLst>
              <a:gd name="adj" fmla="val 5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000" b="1" i="0">
                <a:solidFill>
                  <a:srgbClr val="4F46E5"/>
                </a:solidFill>
                <a:latin typeface="Arial"/>
              </a:rPr>
              <a:t>5</a:t>
            </a:r>
          </a:p>
        </p:txBody>
      </p:sp>
      <p:sp>
        <p:nvSpPr>
          <p:cNvPr id="31" name="TextBox 30"/>
          <p:cNvSpPr txBox="1"/>
          <p:nvPr/>
        </p:nvSpPr>
        <p:spPr>
          <a:xfrm>
            <a:off x="1005840" y="4553712"/>
            <a:ext cx="1554480" cy="329184"/>
          </a:xfrm>
          <a:prstGeom prst="rect">
            <a:avLst/>
          </a:prstGeom>
          <a:noFill/>
        </p:spPr>
        <p:txBody>
          <a:bodyPr wrap="square" lIns="73152" rIns="73152" tIns="36576" bIns="36576" anchor="ctr">
            <a:spAutoFit/>
          </a:bodyPr>
          <a:lstStyle/>
          <a:p>
            <a:pPr algn="l">
              <a:lnSpc>
                <a:spcPct val="110000"/>
              </a:lnSpc>
            </a:pPr>
            <a:r>
              <a:rPr sz="1400" b="1" i="0">
                <a:solidFill>
                  <a:srgbClr val="0F172A"/>
                </a:solidFill>
                <a:latin typeface="Arial"/>
              </a:rPr>
              <a:t>Approvals</a:t>
            </a:r>
          </a:p>
        </p:txBody>
      </p:sp>
      <p:sp>
        <p:nvSpPr>
          <p:cNvPr id="32" name="TextBox 31"/>
          <p:cNvSpPr txBox="1"/>
          <p:nvPr/>
        </p:nvSpPr>
        <p:spPr>
          <a:xfrm>
            <a:off x="2514600" y="4553712"/>
            <a:ext cx="274320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Should a person decide?</a:t>
            </a:r>
          </a:p>
        </p:txBody>
      </p:sp>
      <p:sp>
        <p:nvSpPr>
          <p:cNvPr id="33" name="TextBox 32"/>
          <p:cNvSpPr txBox="1"/>
          <p:nvPr/>
        </p:nvSpPr>
        <p:spPr>
          <a:xfrm>
            <a:off x="5257800" y="4553712"/>
            <a:ext cx="278892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An irreversible action with no human</a:t>
            </a:r>
          </a:p>
        </p:txBody>
      </p:sp>
      <p:sp>
        <p:nvSpPr>
          <p:cNvPr id="34" name="Rounded Rectangle 33"/>
          <p:cNvSpPr/>
          <p:nvPr/>
        </p:nvSpPr>
        <p:spPr>
          <a:xfrm>
            <a:off x="548640" y="5029200"/>
            <a:ext cx="7543800" cy="475488"/>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58368" y="5120640"/>
            <a:ext cx="292608" cy="292608"/>
          </a:xfrm>
          <a:prstGeom prst="roundRect">
            <a:avLst>
              <a:gd name="adj" fmla="val 5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000" b="1" i="0">
                <a:solidFill>
                  <a:srgbClr val="4F46E5"/>
                </a:solidFill>
                <a:latin typeface="Arial"/>
              </a:rPr>
              <a:t>6</a:t>
            </a:r>
          </a:p>
        </p:txBody>
      </p:sp>
      <p:sp>
        <p:nvSpPr>
          <p:cNvPr id="36" name="TextBox 35"/>
          <p:cNvSpPr txBox="1"/>
          <p:nvPr/>
        </p:nvSpPr>
        <p:spPr>
          <a:xfrm>
            <a:off x="1005840" y="5102352"/>
            <a:ext cx="1554480" cy="329184"/>
          </a:xfrm>
          <a:prstGeom prst="rect">
            <a:avLst/>
          </a:prstGeom>
          <a:noFill/>
        </p:spPr>
        <p:txBody>
          <a:bodyPr wrap="square" lIns="73152" rIns="73152" tIns="36576" bIns="36576" anchor="ctr">
            <a:spAutoFit/>
          </a:bodyPr>
          <a:lstStyle/>
          <a:p>
            <a:pPr algn="l">
              <a:lnSpc>
                <a:spcPct val="110000"/>
              </a:lnSpc>
            </a:pPr>
            <a:r>
              <a:rPr sz="1400" b="1" i="0">
                <a:solidFill>
                  <a:srgbClr val="0F172A"/>
                </a:solidFill>
                <a:latin typeface="Arial"/>
              </a:rPr>
              <a:t>Audit log</a:t>
            </a:r>
          </a:p>
        </p:txBody>
      </p:sp>
      <p:sp>
        <p:nvSpPr>
          <p:cNvPr id="37" name="TextBox 36"/>
          <p:cNvSpPr txBox="1"/>
          <p:nvPr/>
        </p:nvSpPr>
        <p:spPr>
          <a:xfrm>
            <a:off x="2514600" y="5102352"/>
            <a:ext cx="274320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What happened, and who?</a:t>
            </a:r>
          </a:p>
        </p:txBody>
      </p:sp>
      <p:sp>
        <p:nvSpPr>
          <p:cNvPr id="38" name="TextBox 37"/>
          <p:cNvSpPr txBox="1"/>
          <p:nvPr/>
        </p:nvSpPr>
        <p:spPr>
          <a:xfrm>
            <a:off x="5257800" y="5102352"/>
            <a:ext cx="2788920" cy="329184"/>
          </a:xfrm>
          <a:prstGeom prst="rect">
            <a:avLst/>
          </a:prstGeom>
          <a:noFill/>
        </p:spPr>
        <p:txBody>
          <a:bodyPr wrap="square" lIns="73152" rIns="73152" tIns="36576" bIns="36576" anchor="ctr">
            <a:spAutoFit/>
          </a:bodyPr>
          <a:lstStyle/>
          <a:p>
            <a:pPr algn="l">
              <a:lnSpc>
                <a:spcPct val="110000"/>
              </a:lnSpc>
            </a:pPr>
            <a:r>
              <a:rPr sz="1250" b="0" i="0">
                <a:solidFill>
                  <a:srgbClr val="475569"/>
                </a:solidFill>
                <a:latin typeface="Arial"/>
              </a:rPr>
              <a:t>A change nobody can reconstruct</a:t>
            </a:r>
          </a:p>
        </p:txBody>
      </p:sp>
      <p:sp>
        <p:nvSpPr>
          <p:cNvPr id="39" name="Rounded Rectangle 38"/>
          <p:cNvSpPr/>
          <p:nvPr/>
        </p:nvSpPr>
        <p:spPr>
          <a:xfrm>
            <a:off x="8321040" y="2011680"/>
            <a:ext cx="3319272" cy="36118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549640" y="2194560"/>
            <a:ext cx="2926080" cy="274320"/>
          </a:xfrm>
          <a:prstGeom prst="rect">
            <a:avLst/>
          </a:prstGeom>
          <a:noFill/>
        </p:spPr>
        <p:txBody>
          <a:bodyPr wrap="square" lIns="73152" rIns="73152" tIns="36576" bIns="36576" anchor="t">
            <a:spAutoFit/>
          </a:bodyPr>
          <a:lstStyle/>
          <a:p>
            <a:pPr algn="l">
              <a:lnSpc>
                <a:spcPct val="110000"/>
              </a:lnSpc>
            </a:pPr>
            <a:r>
              <a:rPr sz="1000" b="1" i="0">
                <a:solidFill>
                  <a:srgbClr val="A5B4FC"/>
                </a:solidFill>
                <a:latin typeface="Arial"/>
              </a:rPr>
              <a:t>IN THIS LAB</a:t>
            </a:r>
          </a:p>
        </p:txBody>
      </p:sp>
      <p:sp>
        <p:nvSpPr>
          <p:cNvPr id="41" name="TextBox 40"/>
          <p:cNvSpPr txBox="1"/>
          <p:nvPr/>
        </p:nvSpPr>
        <p:spPr>
          <a:xfrm>
            <a:off x="8549640" y="2514600"/>
            <a:ext cx="2971800" cy="3017520"/>
          </a:xfrm>
          <a:prstGeom prst="rect">
            <a:avLst/>
          </a:prstGeom>
          <a:noFill/>
        </p:spPr>
        <p:txBody>
          <a:bodyPr wrap="square" lIns="73152" rIns="73152" tIns="36576" bIns="36576" anchor="t">
            <a:spAutoFit/>
          </a:bodyPr>
          <a:lstStyle/>
          <a:p>
            <a:pPr algn="l">
              <a:lnSpc>
                <a:spcPct val="112000"/>
              </a:lnSpc>
            </a:pPr>
            <a:r>
              <a:rPr sz="1300" b="1" i="0">
                <a:solidFill>
                  <a:srgbClr val="FFFFFF"/>
                </a:solidFill>
                <a:latin typeface="Arial"/>
              </a:rPr>
              <a:t>Kubernetes RCA</a:t>
            </a:r>
          </a:p>
          <a:p>
            <a:pPr algn="l">
              <a:lnSpc>
                <a:spcPct val="112000"/>
              </a:lnSpc>
              <a:spcAft>
                <a:spcPts val="800"/>
              </a:spcAft>
            </a:pPr>
            <a:r>
              <a:rPr sz="1200" b="0" i="0">
                <a:solidFill>
                  <a:srgbClr val="CBD5E1"/>
                </a:solidFill>
                <a:latin typeface="Arial"/>
              </a:rPr>
              <a:t>Reads the cluster through Kubernetes' own view role. No Secrets, no exec, no writes.</a:t>
            </a:r>
          </a:p>
          <a:p>
            <a:pPr algn="l">
              <a:lnSpc>
                <a:spcPct val="112000"/>
              </a:lnSpc>
            </a:pPr>
            <a:r>
              <a:rPr sz="1300" b="1" i="0">
                <a:solidFill>
                  <a:srgbClr val="FFFFFF"/>
                </a:solidFill>
                <a:latin typeface="Arial"/>
              </a:rPr>
              <a:t>GitHub Agent</a:t>
            </a:r>
          </a:p>
          <a:p>
            <a:pPr algn="l">
              <a:lnSpc>
                <a:spcPct val="112000"/>
              </a:lnSpc>
              <a:spcAft>
                <a:spcPts val="800"/>
              </a:spcAft>
            </a:pPr>
            <a:r>
              <a:rPr sz="1200" b="0" i="0">
                <a:solidFill>
                  <a:srgbClr val="CBD5E1"/>
                </a:solidFill>
                <a:latin typeface="Arial"/>
              </a:rPr>
              <a:t>Opens one PR for one config value, and only after I approve it. It never merges.</a:t>
            </a:r>
          </a:p>
          <a:p>
            <a:pPr algn="l">
              <a:lnSpc>
                <a:spcPct val="112000"/>
              </a:lnSpc>
            </a:pPr>
            <a:r>
              <a:rPr sz="1300" b="1" i="0">
                <a:solidFill>
                  <a:srgbClr val="FFFFFF"/>
                </a:solidFill>
                <a:latin typeface="Arial"/>
              </a:rPr>
              <a:t>Code Reviewer</a:t>
            </a:r>
          </a:p>
          <a:p>
            <a:pPr algn="l">
              <a:lnSpc>
                <a:spcPct val="112000"/>
              </a:lnSpc>
            </a:pPr>
            <a:r>
              <a:rPr sz="1200" b="0" i="0">
                <a:solidFill>
                  <a:srgbClr val="CBD5E1"/>
                </a:solidFill>
                <a:latin typeface="Arial"/>
              </a:rPr>
              <a:t>Posts one comment. It cannot approve, so branch protection still needs a human.</a:t>
            </a:r>
          </a:p>
        </p:txBody>
      </p:sp>
      <p:sp>
        <p:nvSpPr>
          <p:cNvPr id="42" name="Rounded Rectangle 41"/>
          <p:cNvSpPr/>
          <p:nvPr/>
        </p:nvSpPr>
        <p:spPr>
          <a:xfrm>
            <a:off x="548640" y="5806440"/>
            <a:ext cx="11091672" cy="566928"/>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73152" tIns="36576" bIns="36576"/>
          <a:lstStyle/>
          <a:p>
            <a:pPr algn="l">
              <a:lnSpc>
                <a:spcPct val="110000"/>
              </a:lnSpc>
            </a:pPr>
            <a:r>
              <a:rPr sz="1100" b="1" i="0">
                <a:solidFill>
                  <a:srgbClr val="A5B4FC"/>
                </a:solidFill>
                <a:latin typeface="Arial"/>
              </a:rPr>
              <a:t>PRINCIPLE   </a:t>
            </a:r>
            <a:r>
              <a:rPr sz="1400" b="0" i="0">
                <a:solidFill>
                  <a:srgbClr val="FFFFFF"/>
                </a:solidFill>
                <a:latin typeface="Arial"/>
              </a:rPr>
              <a:t>If I claim an agent is read-only, I show the RBAC that makes it so, not the prompt that asks it to be.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KAOP  ·  PLATFORM ENGINEERING</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05 / 09</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Visibility: one record from the alert to the merged fix</a:t>
            </a:r>
          </a:p>
        </p:txBody>
      </p:sp>
      <p:sp>
        <p:nvSpPr>
          <p:cNvPr id="5" name="TextBox 4"/>
          <p:cNvSpPr txBox="1"/>
          <p:nvPr/>
        </p:nvSpPr>
        <p:spPr>
          <a:xfrm>
            <a:off x="548640" y="1371600"/>
            <a:ext cx="11064240" cy="457200"/>
          </a:xfrm>
          <a:prstGeom prst="rect">
            <a:avLst/>
          </a:prstGeom>
          <a:noFill/>
        </p:spPr>
        <p:txBody>
          <a:bodyPr wrap="square" lIns="73152" rIns="73152" tIns="36576" bIns="36576" anchor="t">
            <a:spAutoFit/>
          </a:bodyPr>
          <a:lstStyle/>
          <a:p>
            <a:pPr algn="l">
              <a:lnSpc>
                <a:spcPct val="110000"/>
              </a:lnSpc>
            </a:pPr>
            <a:r>
              <a:rPr sz="1600" b="0" i="0">
                <a:solidFill>
                  <a:srgbClr val="475569"/>
                </a:solidFill>
                <a:latin typeface="Arial"/>
              </a:rPr>
              <a:t>What the platform team sees without asking any other team.</a:t>
            </a:r>
          </a:p>
        </p:txBody>
      </p:sp>
      <p:sp>
        <p:nvSpPr>
          <p:cNvPr id="6" name="Rounded Rectangle 5"/>
          <p:cNvSpPr/>
          <p:nvPr/>
        </p:nvSpPr>
        <p:spPr>
          <a:xfrm>
            <a:off x="548640" y="2103120"/>
            <a:ext cx="3593592" cy="16276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49808" y="2359152"/>
            <a:ext cx="73152" cy="34747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6112" y="2304288"/>
            <a:ext cx="3108960" cy="411480"/>
          </a:xfrm>
          <a:prstGeom prst="rect">
            <a:avLst/>
          </a:prstGeom>
          <a:noFill/>
        </p:spPr>
        <p:txBody>
          <a:bodyPr wrap="square" lIns="73152" rIns="73152" tIns="36576" bIns="36576" anchor="t">
            <a:spAutoFit/>
          </a:bodyPr>
          <a:lstStyle/>
          <a:p>
            <a:pPr algn="l">
              <a:lnSpc>
                <a:spcPct val="110000"/>
              </a:lnSpc>
            </a:pPr>
            <a:r>
              <a:rPr sz="1600" b="1" i="0">
                <a:solidFill>
                  <a:srgbClr val="0F172A"/>
                </a:solidFill>
                <a:latin typeface="Arial"/>
              </a:rPr>
              <a:t>Fleet health</a:t>
            </a:r>
          </a:p>
        </p:txBody>
      </p:sp>
      <p:sp>
        <p:nvSpPr>
          <p:cNvPr id="9" name="TextBox 8"/>
          <p:cNvSpPr txBox="1"/>
          <p:nvPr/>
        </p:nvSpPr>
        <p:spPr>
          <a:xfrm>
            <a:off x="749808" y="2788920"/>
            <a:ext cx="3246120" cy="868680"/>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Every agent: online, quiet or failing, who owns it, and what changed.</a:t>
            </a:r>
          </a:p>
        </p:txBody>
      </p:sp>
      <p:sp>
        <p:nvSpPr>
          <p:cNvPr id="10" name="Rounded Rectangle 9"/>
          <p:cNvSpPr/>
          <p:nvPr/>
        </p:nvSpPr>
        <p:spPr>
          <a:xfrm>
            <a:off x="4297679" y="2103120"/>
            <a:ext cx="3593592" cy="16276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498847" y="2359152"/>
            <a:ext cx="73152" cy="3474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45151" y="2304288"/>
            <a:ext cx="3108960" cy="411480"/>
          </a:xfrm>
          <a:prstGeom prst="rect">
            <a:avLst/>
          </a:prstGeom>
          <a:noFill/>
        </p:spPr>
        <p:txBody>
          <a:bodyPr wrap="square" lIns="73152" rIns="73152" tIns="36576" bIns="36576" anchor="t">
            <a:spAutoFit/>
          </a:bodyPr>
          <a:lstStyle/>
          <a:p>
            <a:pPr algn="l">
              <a:lnSpc>
                <a:spcPct val="110000"/>
              </a:lnSpc>
            </a:pPr>
            <a:r>
              <a:rPr sz="1600" b="1" i="0">
                <a:solidFill>
                  <a:srgbClr val="0F172A"/>
                </a:solidFill>
                <a:latin typeface="Arial"/>
              </a:rPr>
              <a:t>Runs &amp; evidence</a:t>
            </a:r>
          </a:p>
        </p:txBody>
      </p:sp>
      <p:sp>
        <p:nvSpPr>
          <p:cNvPr id="13" name="TextBox 12"/>
          <p:cNvSpPr txBox="1"/>
          <p:nvPr/>
        </p:nvSpPr>
        <p:spPr>
          <a:xfrm>
            <a:off x="4498847" y="2788920"/>
            <a:ext cx="3246120" cy="868680"/>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Inputs, tool calls, reasoning, output and cost for every run, workflow steps included.</a:t>
            </a:r>
          </a:p>
        </p:txBody>
      </p:sp>
      <p:sp>
        <p:nvSpPr>
          <p:cNvPr id="14" name="Rounded Rectangle 13"/>
          <p:cNvSpPr/>
          <p:nvPr/>
        </p:nvSpPr>
        <p:spPr>
          <a:xfrm>
            <a:off x="8046719" y="2103120"/>
            <a:ext cx="3593592" cy="16276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8247888" y="2359152"/>
            <a:ext cx="73152" cy="34747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94192" y="2304288"/>
            <a:ext cx="3108960" cy="411480"/>
          </a:xfrm>
          <a:prstGeom prst="rect">
            <a:avLst/>
          </a:prstGeom>
          <a:noFill/>
        </p:spPr>
        <p:txBody>
          <a:bodyPr wrap="square" lIns="73152" rIns="73152" tIns="36576" bIns="36576" anchor="t">
            <a:spAutoFit/>
          </a:bodyPr>
          <a:lstStyle/>
          <a:p>
            <a:pPr algn="l">
              <a:lnSpc>
                <a:spcPct val="110000"/>
              </a:lnSpc>
            </a:pPr>
            <a:r>
              <a:rPr sz="1600" b="1" i="0">
                <a:solidFill>
                  <a:srgbClr val="0F172A"/>
                </a:solidFill>
                <a:latin typeface="Arial"/>
              </a:rPr>
              <a:t>Attention inbox</a:t>
            </a:r>
          </a:p>
        </p:txBody>
      </p:sp>
      <p:sp>
        <p:nvSpPr>
          <p:cNvPr id="17" name="TextBox 16"/>
          <p:cNvSpPr txBox="1"/>
          <p:nvPr/>
        </p:nvSpPr>
        <p:spPr>
          <a:xfrm>
            <a:off x="8247888" y="2788920"/>
            <a:ext cx="3246120" cy="868680"/>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Approvals waiting on a person, with the evidence needed to decide.</a:t>
            </a:r>
          </a:p>
        </p:txBody>
      </p:sp>
      <p:sp>
        <p:nvSpPr>
          <p:cNvPr id="18" name="Rounded Rectangle 17"/>
          <p:cNvSpPr/>
          <p:nvPr/>
        </p:nvSpPr>
        <p:spPr>
          <a:xfrm>
            <a:off x="548640" y="3886200"/>
            <a:ext cx="3593592" cy="16276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49808" y="4142232"/>
            <a:ext cx="73152" cy="34747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6112" y="4087368"/>
            <a:ext cx="3108960" cy="411480"/>
          </a:xfrm>
          <a:prstGeom prst="rect">
            <a:avLst/>
          </a:prstGeom>
          <a:noFill/>
        </p:spPr>
        <p:txBody>
          <a:bodyPr wrap="square" lIns="73152" rIns="73152" tIns="36576" bIns="36576" anchor="t">
            <a:spAutoFit/>
          </a:bodyPr>
          <a:lstStyle/>
          <a:p>
            <a:pPr algn="l">
              <a:lnSpc>
                <a:spcPct val="110000"/>
              </a:lnSpc>
            </a:pPr>
            <a:r>
              <a:rPr sz="1600" b="1" i="0">
                <a:solidFill>
                  <a:srgbClr val="0F172A"/>
                </a:solidFill>
                <a:latin typeface="Arial"/>
              </a:rPr>
              <a:t>Audit log</a:t>
            </a:r>
          </a:p>
        </p:txBody>
      </p:sp>
      <p:sp>
        <p:nvSpPr>
          <p:cNvPr id="21" name="TextBox 20"/>
          <p:cNvSpPr txBox="1"/>
          <p:nvPr/>
        </p:nvSpPr>
        <p:spPr>
          <a:xfrm>
            <a:off x="749808" y="4572000"/>
            <a:ext cx="3246120" cy="868680"/>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Append-only record of governed changes and sensitive reads, with actor and outcome.</a:t>
            </a:r>
          </a:p>
        </p:txBody>
      </p:sp>
      <p:sp>
        <p:nvSpPr>
          <p:cNvPr id="22" name="Rounded Rectangle 21"/>
          <p:cNvSpPr/>
          <p:nvPr/>
        </p:nvSpPr>
        <p:spPr>
          <a:xfrm>
            <a:off x="4297679" y="3886200"/>
            <a:ext cx="3593592" cy="16276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4498847" y="4142232"/>
            <a:ext cx="73152" cy="3474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645151" y="4087368"/>
            <a:ext cx="3108960" cy="411480"/>
          </a:xfrm>
          <a:prstGeom prst="rect">
            <a:avLst/>
          </a:prstGeom>
          <a:noFill/>
        </p:spPr>
        <p:txBody>
          <a:bodyPr wrap="square" lIns="73152" rIns="73152" tIns="36576" bIns="36576" anchor="t">
            <a:spAutoFit/>
          </a:bodyPr>
          <a:lstStyle/>
          <a:p>
            <a:pPr algn="l">
              <a:lnSpc>
                <a:spcPct val="110000"/>
              </a:lnSpc>
            </a:pPr>
            <a:r>
              <a:rPr sz="1600" b="1" i="0">
                <a:solidFill>
                  <a:srgbClr val="0F172A"/>
                </a:solidFill>
                <a:latin typeface="Arial"/>
              </a:rPr>
              <a:t>Spend</a:t>
            </a:r>
          </a:p>
        </p:txBody>
      </p:sp>
      <p:sp>
        <p:nvSpPr>
          <p:cNvPr id="25" name="TextBox 24"/>
          <p:cNvSpPr txBox="1"/>
          <p:nvPr/>
        </p:nvSpPr>
        <p:spPr>
          <a:xfrm>
            <a:off x="4498847" y="4572000"/>
            <a:ext cx="3246120" cy="868680"/>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Cost per run, agent, model and team, and budgets that block new runs.</a:t>
            </a:r>
          </a:p>
        </p:txBody>
      </p:sp>
      <p:sp>
        <p:nvSpPr>
          <p:cNvPr id="26" name="Rounded Rectangle 25"/>
          <p:cNvSpPr/>
          <p:nvPr/>
        </p:nvSpPr>
        <p:spPr>
          <a:xfrm>
            <a:off x="8046719" y="3886200"/>
            <a:ext cx="3593592" cy="162763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247888" y="4142232"/>
            <a:ext cx="73152" cy="3474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94192" y="4087368"/>
            <a:ext cx="3108960" cy="411480"/>
          </a:xfrm>
          <a:prstGeom prst="rect">
            <a:avLst/>
          </a:prstGeom>
          <a:noFill/>
        </p:spPr>
        <p:txBody>
          <a:bodyPr wrap="square" lIns="73152" rIns="73152" tIns="36576" bIns="36576" anchor="t">
            <a:spAutoFit/>
          </a:bodyPr>
          <a:lstStyle/>
          <a:p>
            <a:pPr algn="l">
              <a:lnSpc>
                <a:spcPct val="110000"/>
              </a:lnSpc>
            </a:pPr>
            <a:r>
              <a:rPr sz="1600" b="1" i="0">
                <a:solidFill>
                  <a:srgbClr val="0F172A"/>
                </a:solidFill>
                <a:latin typeface="Arial"/>
              </a:rPr>
              <a:t>Access explorer</a:t>
            </a:r>
          </a:p>
        </p:txBody>
      </p:sp>
      <p:sp>
        <p:nvSpPr>
          <p:cNvPr id="29" name="TextBox 28"/>
          <p:cNvSpPr txBox="1"/>
          <p:nvPr/>
        </p:nvSpPr>
        <p:spPr>
          <a:xfrm>
            <a:off x="8247888" y="4572000"/>
            <a:ext cx="3246120" cy="868680"/>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"What can this agent actually do?" answered before you grant anything.</a:t>
            </a:r>
          </a:p>
        </p:txBody>
      </p:sp>
      <p:sp>
        <p:nvSpPr>
          <p:cNvPr id="30" name="Rounded Rectangle 29"/>
          <p:cNvSpPr/>
          <p:nvPr/>
        </p:nvSpPr>
        <p:spPr>
          <a:xfrm>
            <a:off x="548640" y="5806440"/>
            <a:ext cx="11091672" cy="566928"/>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73152" tIns="36576" bIns="36576"/>
          <a:lstStyle/>
          <a:p>
            <a:pPr algn="l">
              <a:lnSpc>
                <a:spcPct val="110000"/>
              </a:lnSpc>
            </a:pPr>
            <a:r>
              <a:rPr sz="1100" b="1" i="0">
                <a:solidFill>
                  <a:srgbClr val="A5B4FC"/>
                </a:solidFill>
                <a:latin typeface="Arial"/>
              </a:rPr>
              <a:t>FOR YOU   </a:t>
            </a:r>
            <a:r>
              <a:rPr sz="1400" b="0" i="0">
                <a:solidFill>
                  <a:srgbClr val="FFFFFF"/>
                </a:solidFill>
                <a:latin typeface="Arial"/>
              </a:rPr>
              <a:t>Inventory, access and audit stop being a quarterly spreadsheet and become a screen.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KAOP  ·  PLATFORM ENGINEERING</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06 / 09</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Today: one incident, two governed workflows</a:t>
            </a:r>
          </a:p>
        </p:txBody>
      </p:sp>
      <p:sp>
        <p:nvSpPr>
          <p:cNvPr id="5" name="TextBox 4"/>
          <p:cNvSpPr txBox="1"/>
          <p:nvPr/>
        </p:nvSpPr>
        <p:spPr>
          <a:xfrm>
            <a:off x="548640" y="1371600"/>
            <a:ext cx="11064240" cy="457200"/>
          </a:xfrm>
          <a:prstGeom prst="rect">
            <a:avLst/>
          </a:prstGeom>
          <a:noFill/>
        </p:spPr>
        <p:txBody>
          <a:bodyPr wrap="square" lIns="73152" rIns="73152" tIns="36576" bIns="36576" anchor="t">
            <a:spAutoFit/>
          </a:bodyPr>
          <a:lstStyle/>
          <a:p>
            <a:pPr algn="l">
              <a:lnSpc>
                <a:spcPct val="110000"/>
              </a:lnSpc>
            </a:pPr>
            <a:r>
              <a:rPr sz="1600" b="0" i="0">
                <a:solidFill>
                  <a:srgbClr val="475569"/>
                </a:solidFill>
                <a:latin typeface="Arial"/>
              </a:rPr>
              <a:t>Built from KAOP catalog agents. No custom RCA engine, no prompt engineering.</a:t>
            </a:r>
          </a:p>
        </p:txBody>
      </p:sp>
      <p:sp>
        <p:nvSpPr>
          <p:cNvPr id="6" name="Rounded Rectangle 5"/>
          <p:cNvSpPr/>
          <p:nvPr/>
        </p:nvSpPr>
        <p:spPr>
          <a:xfrm>
            <a:off x="548640" y="2011680"/>
            <a:ext cx="11091672" cy="1874519"/>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10312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WORKFLOW 1  ·  INCIDENT  ·  owned by SRE  ·  starts on a Grafana alert</a:t>
            </a:r>
          </a:p>
        </p:txBody>
      </p:sp>
      <p:sp>
        <p:nvSpPr>
          <p:cNvPr id="8" name="Rounded Rectangle 7"/>
          <p:cNvSpPr/>
          <p:nvPr/>
        </p:nvSpPr>
        <p:spPr>
          <a:xfrm>
            <a:off x="777240" y="2514600"/>
            <a:ext cx="1828800" cy="1188720"/>
          </a:xfrm>
          <a:prstGeom prst="roundRect">
            <a:avLst>
              <a:gd name="adj" fmla="val 1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400" b="1" i="0">
                <a:solidFill>
                  <a:srgbClr val="4F46E5"/>
                </a:solidFill>
                <a:latin typeface="Arial"/>
              </a:rPr>
              <a:t>Grafana alert</a:t>
            </a:r>
          </a:p>
          <a:p>
            <a:pPr algn="ctr">
              <a:lnSpc>
                <a:spcPct val="110000"/>
              </a:lnSpc>
            </a:pPr>
            <a:r>
              <a:rPr sz="1150" b="0" i="0">
                <a:solidFill>
                  <a:srgbClr val="475569"/>
                </a:solidFill>
                <a:latin typeface="Arial"/>
              </a:rPr>
              <a:t>API restarting</a:t>
            </a:r>
          </a:p>
        </p:txBody>
      </p:sp>
      <p:sp>
        <p:nvSpPr>
          <p:cNvPr id="9" name="Right Arrow 8"/>
          <p:cNvSpPr/>
          <p:nvPr/>
        </p:nvSpPr>
        <p:spPr>
          <a:xfrm>
            <a:off x="2633472" y="3008376"/>
            <a:ext cx="292608" cy="201168"/>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953512" y="2514600"/>
            <a:ext cx="1828800" cy="1188720"/>
          </a:xfrm>
          <a:prstGeom prst="roundRect">
            <a:avLst>
              <a:gd name="adj" fmla="val 1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400" b="1" i="0">
                <a:solidFill>
                  <a:srgbClr val="4F46E5"/>
                </a:solidFill>
                <a:latin typeface="Arial"/>
              </a:rPr>
              <a:t>Investigation</a:t>
            </a:r>
          </a:p>
          <a:p>
            <a:pPr algn="ctr">
              <a:lnSpc>
                <a:spcPct val="110000"/>
              </a:lnSpc>
            </a:pPr>
            <a:r>
              <a:rPr sz="1150" b="0" i="0">
                <a:solidFill>
                  <a:srgbClr val="475569"/>
                </a:solidFill>
                <a:latin typeface="Arial"/>
              </a:rPr>
              <a:t>K8s RCA  +  Grafana
Investigator</a:t>
            </a:r>
          </a:p>
        </p:txBody>
      </p:sp>
      <p:sp>
        <p:nvSpPr>
          <p:cNvPr id="11" name="Right Arrow 10"/>
          <p:cNvSpPr/>
          <p:nvPr/>
        </p:nvSpPr>
        <p:spPr>
          <a:xfrm>
            <a:off x="4809744" y="3008376"/>
            <a:ext cx="292608" cy="201168"/>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29783" y="2514600"/>
            <a:ext cx="1828800" cy="1188720"/>
          </a:xfrm>
          <a:prstGeom prst="roundRect">
            <a:avLst>
              <a:gd name="adj" fmla="val 1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400" b="1" i="0">
                <a:solidFill>
                  <a:srgbClr val="4F46E5"/>
                </a:solidFill>
                <a:latin typeface="Arial"/>
              </a:rPr>
              <a:t>Remediation</a:t>
            </a:r>
          </a:p>
          <a:p>
            <a:pPr algn="ctr">
              <a:lnSpc>
                <a:spcPct val="110000"/>
              </a:lnSpc>
            </a:pPr>
            <a:r>
              <a:rPr sz="1150" b="0" i="0">
                <a:solidFill>
                  <a:srgbClr val="475569"/>
                </a:solidFill>
                <a:latin typeface="Arial"/>
              </a:rPr>
              <a:t>Decides: fix, no action
or questions</a:t>
            </a:r>
          </a:p>
        </p:txBody>
      </p:sp>
      <p:sp>
        <p:nvSpPr>
          <p:cNvPr id="13" name="Right Arrow 12"/>
          <p:cNvSpPr/>
          <p:nvPr/>
        </p:nvSpPr>
        <p:spPr>
          <a:xfrm>
            <a:off x="6986015" y="3008376"/>
            <a:ext cx="292608" cy="201168"/>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06055" y="2514600"/>
            <a:ext cx="1828800" cy="1188720"/>
          </a:xfrm>
          <a:prstGeom prst="roundRect">
            <a:avLst>
              <a:gd name="adj" fmla="val 10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400" b="1" i="0">
                <a:solidFill>
                  <a:srgbClr val="B91C1C"/>
                </a:solidFill>
                <a:latin typeface="Arial"/>
              </a:rPr>
              <a:t>Human approval</a:t>
            </a:r>
          </a:p>
          <a:p>
            <a:pPr algn="ctr">
              <a:lnSpc>
                <a:spcPct val="110000"/>
              </a:lnSpc>
            </a:pPr>
            <a:r>
              <a:rPr sz="1150" b="0" i="0">
                <a:solidFill>
                  <a:srgbClr val="475569"/>
                </a:solidFill>
                <a:latin typeface="Arial"/>
              </a:rPr>
              <a:t>Attention inbox</a:t>
            </a:r>
          </a:p>
        </p:txBody>
      </p:sp>
      <p:sp>
        <p:nvSpPr>
          <p:cNvPr id="15" name="Right Arrow 14"/>
          <p:cNvSpPr/>
          <p:nvPr/>
        </p:nvSpPr>
        <p:spPr>
          <a:xfrm>
            <a:off x="9162288" y="3008376"/>
            <a:ext cx="292608" cy="201168"/>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482328" y="2514600"/>
            <a:ext cx="1828800" cy="1188720"/>
          </a:xfrm>
          <a:prstGeom prst="roundRect">
            <a:avLst>
              <a:gd name="adj" fmla="val 10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400" b="1" i="0">
                <a:solidFill>
                  <a:srgbClr val="4F46E5"/>
                </a:solidFill>
                <a:latin typeface="Arial"/>
              </a:rPr>
              <a:t>GitHub Agent</a:t>
            </a:r>
          </a:p>
          <a:p>
            <a:pPr algn="ctr">
              <a:lnSpc>
                <a:spcPct val="110000"/>
              </a:lnSpc>
            </a:pPr>
            <a:r>
              <a:rPr sz="1150" b="0" i="0">
                <a:solidFill>
                  <a:srgbClr val="475569"/>
                </a:solidFill>
                <a:latin typeface="Arial"/>
              </a:rPr>
              <a:t>Opens one PR</a:t>
            </a:r>
          </a:p>
        </p:txBody>
      </p:sp>
      <p:sp>
        <p:nvSpPr>
          <p:cNvPr id="17" name="Rounded Rectangle 16"/>
          <p:cNvSpPr/>
          <p:nvPr/>
        </p:nvSpPr>
        <p:spPr>
          <a:xfrm>
            <a:off x="548640" y="4023360"/>
            <a:ext cx="11091672" cy="16002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 y="411480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0F766E"/>
                </a:solidFill>
                <a:latin typeface="Arial"/>
              </a:rPr>
              <a:t>WORKFLOW 2  ·  CODE REVIEW  ·  owned by the app team  ·  starts on any pull request</a:t>
            </a:r>
          </a:p>
        </p:txBody>
      </p:sp>
      <p:sp>
        <p:nvSpPr>
          <p:cNvPr id="19" name="Rounded Rectangle 18"/>
          <p:cNvSpPr/>
          <p:nvPr/>
        </p:nvSpPr>
        <p:spPr>
          <a:xfrm>
            <a:off x="777240" y="4480560"/>
            <a:ext cx="1828800" cy="960120"/>
          </a:xfrm>
          <a:prstGeom prst="roundRect">
            <a:avLst>
              <a:gd name="adj" fmla="val 10000"/>
            </a:avLst>
          </a:prstGeom>
          <a:solidFill>
            <a:srgbClr val="E6F6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400" b="1" i="0">
                <a:solidFill>
                  <a:srgbClr val="0F766E"/>
                </a:solidFill>
                <a:latin typeface="Arial"/>
              </a:rPr>
              <a:t>Pull request</a:t>
            </a:r>
          </a:p>
          <a:p>
            <a:pPr algn="ctr">
              <a:lnSpc>
                <a:spcPct val="110000"/>
              </a:lnSpc>
            </a:pPr>
            <a:r>
              <a:rPr sz="1150" b="0" i="0">
                <a:solidFill>
                  <a:srgbClr val="475569"/>
                </a:solidFill>
                <a:latin typeface="Arial"/>
              </a:rPr>
              <a:t>From the agent or a person</a:t>
            </a:r>
          </a:p>
        </p:txBody>
      </p:sp>
      <p:sp>
        <p:nvSpPr>
          <p:cNvPr id="20" name="Right Arrow 19"/>
          <p:cNvSpPr/>
          <p:nvPr/>
        </p:nvSpPr>
        <p:spPr>
          <a:xfrm>
            <a:off x="2633472" y="4855464"/>
            <a:ext cx="292608" cy="201168"/>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53512" y="4480560"/>
            <a:ext cx="1828800" cy="960120"/>
          </a:xfrm>
          <a:prstGeom prst="roundRect">
            <a:avLst>
              <a:gd name="adj" fmla="val 10000"/>
            </a:avLst>
          </a:prstGeom>
          <a:solidFill>
            <a:srgbClr val="E6F6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400" b="1" i="0">
                <a:solidFill>
                  <a:srgbClr val="0F766E"/>
                </a:solidFill>
                <a:latin typeface="Arial"/>
              </a:rPr>
              <a:t>Code Reviewer</a:t>
            </a:r>
          </a:p>
          <a:p>
            <a:pPr algn="ctr">
              <a:lnSpc>
                <a:spcPct val="110000"/>
              </a:lnSpc>
            </a:pPr>
            <a:r>
              <a:rPr sz="1150" b="0" i="0">
                <a:solidFill>
                  <a:srgbClr val="475569"/>
                </a:solidFill>
                <a:latin typeface="Arial"/>
              </a:rPr>
              <a:t>One comment per commit</a:t>
            </a:r>
          </a:p>
        </p:txBody>
      </p:sp>
      <p:sp>
        <p:nvSpPr>
          <p:cNvPr id="22" name="Right Arrow 21"/>
          <p:cNvSpPr/>
          <p:nvPr/>
        </p:nvSpPr>
        <p:spPr>
          <a:xfrm>
            <a:off x="4809744" y="4855464"/>
            <a:ext cx="292608" cy="201168"/>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9783" y="4480560"/>
            <a:ext cx="1828800" cy="960120"/>
          </a:xfrm>
          <a:prstGeom prst="roundRect">
            <a:avLst>
              <a:gd name="adj" fmla="val 10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400" b="1" i="0">
                <a:solidFill>
                  <a:srgbClr val="B91C1C"/>
                </a:solidFill>
                <a:latin typeface="Arial"/>
              </a:rPr>
              <a:t>Human merge</a:t>
            </a:r>
          </a:p>
          <a:p>
            <a:pPr algn="ctr">
              <a:lnSpc>
                <a:spcPct val="110000"/>
              </a:lnSpc>
            </a:pPr>
            <a:r>
              <a:rPr sz="1150" b="0" i="0">
                <a:solidFill>
                  <a:srgbClr val="475569"/>
                </a:solidFill>
                <a:latin typeface="Arial"/>
              </a:rPr>
              <a:t>Branch protection</a:t>
            </a:r>
          </a:p>
        </p:txBody>
      </p:sp>
      <p:sp>
        <p:nvSpPr>
          <p:cNvPr id="24" name="Right Arrow 23"/>
          <p:cNvSpPr/>
          <p:nvPr/>
        </p:nvSpPr>
        <p:spPr>
          <a:xfrm>
            <a:off x="6986015" y="4855464"/>
            <a:ext cx="292608" cy="201168"/>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306055" y="4480560"/>
            <a:ext cx="1828800" cy="960120"/>
          </a:xfrm>
          <a:prstGeom prst="roundRect">
            <a:avLst>
              <a:gd name="adj" fmla="val 10000"/>
            </a:avLst>
          </a:prstGeom>
          <a:solidFill>
            <a:srgbClr val="E6F6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400" b="1" i="0">
                <a:solidFill>
                  <a:srgbClr val="0F766E"/>
                </a:solidFill>
                <a:latin typeface="Arial"/>
              </a:rPr>
              <a:t>Deploy from git</a:t>
            </a:r>
          </a:p>
          <a:p>
            <a:pPr algn="ctr">
              <a:lnSpc>
                <a:spcPct val="110000"/>
              </a:lnSpc>
            </a:pPr>
            <a:r>
              <a:rPr sz="1150" b="0" i="0">
                <a:solidFill>
                  <a:srgbClr val="475569"/>
                </a:solidFill>
                <a:latin typeface="Arial"/>
              </a:rPr>
              <a:t>Argo/Flux in production</a:t>
            </a:r>
          </a:p>
        </p:txBody>
      </p:sp>
      <p:sp>
        <p:nvSpPr>
          <p:cNvPr id="26" name="Right Arrow 25"/>
          <p:cNvSpPr/>
          <p:nvPr/>
        </p:nvSpPr>
        <p:spPr>
          <a:xfrm>
            <a:off x="9162288" y="4855464"/>
            <a:ext cx="292608" cy="201168"/>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82328" y="4480560"/>
            <a:ext cx="1828800" cy="960120"/>
          </a:xfrm>
          <a:prstGeom prst="roundRect">
            <a:avLst>
              <a:gd name="adj" fmla="val 10000"/>
            </a:avLst>
          </a:prstGeom>
          <a:solidFill>
            <a:srgbClr val="E6F6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400" b="1" i="0">
                <a:solidFill>
                  <a:srgbClr val="0F766E"/>
                </a:solidFill>
                <a:latin typeface="Arial"/>
              </a:rPr>
              <a:t>Verify</a:t>
            </a:r>
          </a:p>
          <a:p>
            <a:pPr algn="ctr">
              <a:lnSpc>
                <a:spcPct val="110000"/>
              </a:lnSpc>
            </a:pPr>
            <a:r>
              <a:rPr sz="1150" b="0" i="0">
                <a:solidFill>
                  <a:srgbClr val="475569"/>
                </a:solidFill>
                <a:latin typeface="Arial"/>
              </a:rPr>
              <a:t>Same outage, zero restarts</a:t>
            </a:r>
          </a:p>
        </p:txBody>
      </p:sp>
      <p:sp>
        <p:nvSpPr>
          <p:cNvPr id="28" name="Rounded Rectangle 27"/>
          <p:cNvSpPr/>
          <p:nvPr/>
        </p:nvSpPr>
        <p:spPr>
          <a:xfrm>
            <a:off x="548640" y="5806440"/>
            <a:ext cx="11091672" cy="566928"/>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73152" tIns="36576" bIns="36576"/>
          <a:lstStyle/>
          <a:p>
            <a:pPr algn="l">
              <a:lnSpc>
                <a:spcPct val="110000"/>
              </a:lnSpc>
            </a:pPr>
            <a:r>
              <a:rPr sz="1100" b="1" i="0">
                <a:solidFill>
                  <a:srgbClr val="A5B4FC"/>
                </a:solidFill>
                <a:latin typeface="Arial"/>
              </a:rPr>
              <a:t>SHARED   </a:t>
            </a:r>
            <a:r>
              <a:rPr sz="1400" b="0" i="0">
                <a:solidFill>
                  <a:srgbClr val="FFFFFF"/>
                </a:solidFill>
                <a:latin typeface="Arial"/>
              </a:rPr>
              <a:t>One fleet, one policy model, one evidence trail. Two triggers, two owners, two separately scoped identities.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KAOP  ·  PLATFORM ENGINEERING</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07 / 09</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Who can do what, and what enforces it</a:t>
            </a:r>
          </a:p>
        </p:txBody>
      </p:sp>
      <p:sp>
        <p:nvSpPr>
          <p:cNvPr id="5" name="TextBox 4"/>
          <p:cNvSpPr txBox="1"/>
          <p:nvPr/>
        </p:nvSpPr>
        <p:spPr>
          <a:xfrm>
            <a:off x="548640" y="1371600"/>
            <a:ext cx="11064240" cy="457200"/>
          </a:xfrm>
          <a:prstGeom prst="rect">
            <a:avLst/>
          </a:prstGeom>
          <a:noFill/>
        </p:spPr>
        <p:txBody>
          <a:bodyPr wrap="square" lIns="73152" rIns="73152" tIns="36576" bIns="36576" anchor="t">
            <a:spAutoFit/>
          </a:bodyPr>
          <a:lstStyle/>
          <a:p>
            <a:pPr algn="l">
              <a:lnSpc>
                <a:spcPct val="110000"/>
              </a:lnSpc>
            </a:pPr>
            <a:r>
              <a:rPr sz="1600" b="0" i="0">
                <a:solidFill>
                  <a:srgbClr val="475569"/>
                </a:solidFill>
                <a:latin typeface="Arial"/>
              </a:rPr>
              <a:t>Least privilege per agent, enforced outside the agent.</a:t>
            </a:r>
          </a:p>
        </p:txBody>
      </p:sp>
      <p:sp>
        <p:nvSpPr>
          <p:cNvPr id="6" name="TextBox 5"/>
          <p:cNvSpPr txBox="1"/>
          <p:nvPr/>
        </p:nvSpPr>
        <p:spPr>
          <a:xfrm>
            <a:off x="640080" y="2011680"/>
            <a:ext cx="2377440" cy="320040"/>
          </a:xfrm>
          <a:prstGeom prst="rect">
            <a:avLst/>
          </a:prstGeom>
          <a:noFill/>
        </p:spPr>
        <p:txBody>
          <a:bodyPr wrap="square" lIns="73152" rIns="73152" tIns="36576" bIns="36576" anchor="ctr">
            <a:spAutoFit/>
          </a:bodyPr>
          <a:lstStyle/>
          <a:p>
            <a:pPr algn="l">
              <a:lnSpc>
                <a:spcPct val="105000"/>
              </a:lnSpc>
            </a:pPr>
            <a:r>
              <a:rPr sz="1000" b="1" i="0">
                <a:solidFill>
                  <a:srgbClr val="94A3B8"/>
                </a:solidFill>
                <a:latin typeface="Arial"/>
              </a:rPr>
              <a:t>Agent</a:t>
            </a:r>
          </a:p>
        </p:txBody>
      </p:sp>
      <p:sp>
        <p:nvSpPr>
          <p:cNvPr id="7" name="TextBox 6"/>
          <p:cNvSpPr txBox="1"/>
          <p:nvPr/>
        </p:nvSpPr>
        <p:spPr>
          <a:xfrm>
            <a:off x="3154680" y="2011680"/>
            <a:ext cx="2423160" cy="320040"/>
          </a:xfrm>
          <a:prstGeom prst="rect">
            <a:avLst/>
          </a:prstGeom>
          <a:noFill/>
        </p:spPr>
        <p:txBody>
          <a:bodyPr wrap="square" lIns="73152" rIns="73152" tIns="36576" bIns="36576" anchor="ctr">
            <a:spAutoFit/>
          </a:bodyPr>
          <a:lstStyle/>
          <a:p>
            <a:pPr algn="l">
              <a:lnSpc>
                <a:spcPct val="105000"/>
              </a:lnSpc>
            </a:pPr>
            <a:r>
              <a:rPr sz="1000" b="1" i="0">
                <a:solidFill>
                  <a:srgbClr val="94A3B8"/>
                </a:solidFill>
                <a:latin typeface="Arial"/>
              </a:rPr>
              <a:t>Can read</a:t>
            </a:r>
          </a:p>
        </p:txBody>
      </p:sp>
      <p:sp>
        <p:nvSpPr>
          <p:cNvPr id="8" name="TextBox 7"/>
          <p:cNvSpPr txBox="1"/>
          <p:nvPr/>
        </p:nvSpPr>
        <p:spPr>
          <a:xfrm>
            <a:off x="5715000" y="2011680"/>
            <a:ext cx="2331720" cy="320040"/>
          </a:xfrm>
          <a:prstGeom prst="rect">
            <a:avLst/>
          </a:prstGeom>
          <a:noFill/>
        </p:spPr>
        <p:txBody>
          <a:bodyPr wrap="square" lIns="73152" rIns="73152" tIns="36576" bIns="36576" anchor="ctr">
            <a:spAutoFit/>
          </a:bodyPr>
          <a:lstStyle/>
          <a:p>
            <a:pPr algn="l">
              <a:lnSpc>
                <a:spcPct val="105000"/>
              </a:lnSpc>
            </a:pPr>
            <a:r>
              <a:rPr sz="1000" b="1" i="0">
                <a:solidFill>
                  <a:srgbClr val="94A3B8"/>
                </a:solidFill>
                <a:latin typeface="Arial"/>
              </a:rPr>
              <a:t>Can change</a:t>
            </a:r>
          </a:p>
        </p:txBody>
      </p:sp>
      <p:sp>
        <p:nvSpPr>
          <p:cNvPr id="9" name="TextBox 8"/>
          <p:cNvSpPr txBox="1"/>
          <p:nvPr/>
        </p:nvSpPr>
        <p:spPr>
          <a:xfrm>
            <a:off x="8183879" y="2011680"/>
            <a:ext cx="3410712" cy="320040"/>
          </a:xfrm>
          <a:prstGeom prst="rect">
            <a:avLst/>
          </a:prstGeom>
          <a:noFill/>
        </p:spPr>
        <p:txBody>
          <a:bodyPr wrap="square" lIns="73152" rIns="73152" tIns="36576" bIns="36576" anchor="ctr">
            <a:spAutoFit/>
          </a:bodyPr>
          <a:lstStyle/>
          <a:p>
            <a:pPr algn="l">
              <a:lnSpc>
                <a:spcPct val="105000"/>
              </a:lnSpc>
            </a:pPr>
            <a:r>
              <a:rPr sz="1000" b="1" i="0">
                <a:solidFill>
                  <a:srgbClr val="94A3B8"/>
                </a:solidFill>
                <a:latin typeface="Arial"/>
              </a:rPr>
              <a:t>Enforced by</a:t>
            </a:r>
          </a:p>
        </p:txBody>
      </p:sp>
      <p:sp>
        <p:nvSpPr>
          <p:cNvPr id="10" name="Rounded Rectangle 9"/>
          <p:cNvSpPr/>
          <p:nvPr/>
        </p:nvSpPr>
        <p:spPr>
          <a:xfrm>
            <a:off x="548640" y="2377440"/>
            <a:ext cx="11091672" cy="585216"/>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0080" y="2395728"/>
            <a:ext cx="2377440" cy="566928"/>
          </a:xfrm>
          <a:prstGeom prst="rect">
            <a:avLst/>
          </a:prstGeom>
          <a:noFill/>
        </p:spPr>
        <p:txBody>
          <a:bodyPr wrap="square" lIns="73152" rIns="73152" tIns="36576" bIns="36576" anchor="ctr">
            <a:spAutoFit/>
          </a:bodyPr>
          <a:lstStyle/>
          <a:p>
            <a:pPr algn="l">
              <a:lnSpc>
                <a:spcPct val="105000"/>
              </a:lnSpc>
            </a:pPr>
            <a:r>
              <a:rPr sz="1150" b="1" i="0">
                <a:solidFill>
                  <a:srgbClr val="0F172A"/>
                </a:solidFill>
                <a:latin typeface="Arial"/>
              </a:rPr>
              <a:t>Kubernetes RCA
in the lab cluster</a:t>
            </a:r>
          </a:p>
        </p:txBody>
      </p:sp>
      <p:sp>
        <p:nvSpPr>
          <p:cNvPr id="12" name="TextBox 11"/>
          <p:cNvSpPr txBox="1"/>
          <p:nvPr/>
        </p:nvSpPr>
        <p:spPr>
          <a:xfrm>
            <a:off x="3154680" y="2395728"/>
            <a:ext cx="2423160" cy="566928"/>
          </a:xfrm>
          <a:prstGeom prst="rect">
            <a:avLst/>
          </a:prstGeom>
          <a:noFill/>
        </p:spPr>
        <p:txBody>
          <a:bodyPr wrap="square" lIns="73152" rIns="73152" tIns="36576" bIns="36576" anchor="ctr">
            <a:spAutoFit/>
          </a:bodyPr>
          <a:lstStyle/>
          <a:p>
            <a:pPr algn="l">
              <a:lnSpc>
                <a:spcPct val="105000"/>
              </a:lnSpc>
            </a:pPr>
            <a:r>
              <a:rPr sz="1150" b="0" i="0">
                <a:solidFill>
                  <a:srgbClr val="475569"/>
                </a:solidFill>
                <a:latin typeface="Arial"/>
              </a:rPr>
              <a:t>Kubernetes view role:
pods, events, logs, workloads</a:t>
            </a:r>
          </a:p>
        </p:txBody>
      </p:sp>
      <p:sp>
        <p:nvSpPr>
          <p:cNvPr id="13" name="TextBox 12"/>
          <p:cNvSpPr txBox="1"/>
          <p:nvPr/>
        </p:nvSpPr>
        <p:spPr>
          <a:xfrm>
            <a:off x="5715000" y="2395728"/>
            <a:ext cx="2331720" cy="566928"/>
          </a:xfrm>
          <a:prstGeom prst="rect">
            <a:avLst/>
          </a:prstGeom>
          <a:noFill/>
        </p:spPr>
        <p:txBody>
          <a:bodyPr wrap="square" lIns="73152" rIns="73152" tIns="36576" bIns="36576" anchor="ctr">
            <a:spAutoFit/>
          </a:bodyPr>
          <a:lstStyle/>
          <a:p>
            <a:pPr algn="l">
              <a:lnSpc>
                <a:spcPct val="105000"/>
              </a:lnSpc>
            </a:pPr>
            <a:r>
              <a:rPr sz="1150" b="0" i="0">
                <a:solidFill>
                  <a:srgbClr val="0F172A"/>
                </a:solidFill>
                <a:latin typeface="Arial"/>
              </a:rPr>
              <a:t>Nothing: no Secrets,
no exec, no writes</a:t>
            </a:r>
          </a:p>
        </p:txBody>
      </p:sp>
      <p:sp>
        <p:nvSpPr>
          <p:cNvPr id="14" name="TextBox 13"/>
          <p:cNvSpPr txBox="1"/>
          <p:nvPr/>
        </p:nvSpPr>
        <p:spPr>
          <a:xfrm>
            <a:off x="8183879" y="2395728"/>
            <a:ext cx="3410712" cy="566928"/>
          </a:xfrm>
          <a:prstGeom prst="rect">
            <a:avLst/>
          </a:prstGeom>
          <a:noFill/>
        </p:spPr>
        <p:txBody>
          <a:bodyPr wrap="square" lIns="73152" rIns="73152" tIns="36576" bIns="36576" anchor="ctr">
            <a:spAutoFit/>
          </a:bodyPr>
          <a:lstStyle/>
          <a:p>
            <a:pPr algn="l">
              <a:lnSpc>
                <a:spcPct val="105000"/>
              </a:lnSpc>
            </a:pPr>
            <a:r>
              <a:rPr sz="1150" b="0" i="0">
                <a:solidFill>
                  <a:srgbClr val="475569"/>
                </a:solidFill>
                <a:latin typeface="Arial"/>
              </a:rPr>
              <a:t>Kubernetes RBAC on its own
ServiceAccount</a:t>
            </a:r>
          </a:p>
        </p:txBody>
      </p:sp>
      <p:sp>
        <p:nvSpPr>
          <p:cNvPr id="15" name="Rounded Rectangle 14"/>
          <p:cNvSpPr/>
          <p:nvPr/>
        </p:nvSpPr>
        <p:spPr>
          <a:xfrm>
            <a:off x="548640" y="3017520"/>
            <a:ext cx="11091672" cy="585216"/>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035808"/>
            <a:ext cx="2377440" cy="566928"/>
          </a:xfrm>
          <a:prstGeom prst="rect">
            <a:avLst/>
          </a:prstGeom>
          <a:noFill/>
        </p:spPr>
        <p:txBody>
          <a:bodyPr wrap="square" lIns="73152" rIns="73152" tIns="36576" bIns="36576" anchor="ctr">
            <a:spAutoFit/>
          </a:bodyPr>
          <a:lstStyle/>
          <a:p>
            <a:pPr algn="l">
              <a:lnSpc>
                <a:spcPct val="105000"/>
              </a:lnSpc>
            </a:pPr>
            <a:r>
              <a:rPr sz="1150" b="1" i="0">
                <a:solidFill>
                  <a:srgbClr val="0F172A"/>
                </a:solidFill>
                <a:latin typeface="Arial"/>
              </a:rPr>
              <a:t>Grafana Investigator
Komodor cloud</a:t>
            </a:r>
          </a:p>
        </p:txBody>
      </p:sp>
      <p:sp>
        <p:nvSpPr>
          <p:cNvPr id="17" name="TextBox 16"/>
          <p:cNvSpPr txBox="1"/>
          <p:nvPr/>
        </p:nvSpPr>
        <p:spPr>
          <a:xfrm>
            <a:off x="3154680" y="3035808"/>
            <a:ext cx="2423160" cy="566928"/>
          </a:xfrm>
          <a:prstGeom prst="rect">
            <a:avLst/>
          </a:prstGeom>
          <a:noFill/>
        </p:spPr>
        <p:txBody>
          <a:bodyPr wrap="square" lIns="73152" rIns="73152" tIns="36576" bIns="36576" anchor="ctr">
            <a:spAutoFit/>
          </a:bodyPr>
          <a:lstStyle/>
          <a:p>
            <a:pPr algn="l">
              <a:lnSpc>
                <a:spcPct val="105000"/>
              </a:lnSpc>
            </a:pPr>
            <a:r>
              <a:rPr sz="1150" b="0" i="0">
                <a:solidFill>
                  <a:srgbClr val="475569"/>
                </a:solidFill>
                <a:latin typeface="Arial"/>
              </a:rPr>
              <a:t>Metrics, events,
alert state</a:t>
            </a:r>
          </a:p>
        </p:txBody>
      </p:sp>
      <p:sp>
        <p:nvSpPr>
          <p:cNvPr id="18" name="TextBox 17"/>
          <p:cNvSpPr txBox="1"/>
          <p:nvPr/>
        </p:nvSpPr>
        <p:spPr>
          <a:xfrm>
            <a:off x="5715000" y="3035808"/>
            <a:ext cx="2331720" cy="566928"/>
          </a:xfrm>
          <a:prstGeom prst="rect">
            <a:avLst/>
          </a:prstGeom>
          <a:noFill/>
        </p:spPr>
        <p:txBody>
          <a:bodyPr wrap="square" lIns="73152" rIns="73152" tIns="36576" bIns="36576" anchor="ctr">
            <a:spAutoFit/>
          </a:bodyPr>
          <a:lstStyle/>
          <a:p>
            <a:pPr algn="l">
              <a:lnSpc>
                <a:spcPct val="105000"/>
              </a:lnSpc>
            </a:pPr>
            <a:r>
              <a:rPr sz="1150" b="0" i="0">
                <a:solidFill>
                  <a:srgbClr val="0F172A"/>
                </a:solidFill>
                <a:latin typeface="Arial"/>
              </a:rPr>
              <a:t>Nothing in Grafana</a:t>
            </a:r>
          </a:p>
        </p:txBody>
      </p:sp>
      <p:sp>
        <p:nvSpPr>
          <p:cNvPr id="19" name="TextBox 18"/>
          <p:cNvSpPr txBox="1"/>
          <p:nvPr/>
        </p:nvSpPr>
        <p:spPr>
          <a:xfrm>
            <a:off x="8183879" y="3035808"/>
            <a:ext cx="3410712" cy="566928"/>
          </a:xfrm>
          <a:prstGeom prst="rect">
            <a:avLst/>
          </a:prstGeom>
          <a:noFill/>
        </p:spPr>
        <p:txBody>
          <a:bodyPr wrap="square" lIns="73152" rIns="73152" tIns="36576" bIns="36576" anchor="ctr">
            <a:spAutoFit/>
          </a:bodyPr>
          <a:lstStyle/>
          <a:p>
            <a:pPr algn="l">
              <a:lnSpc>
                <a:spcPct val="105000"/>
              </a:lnSpc>
            </a:pPr>
            <a:r>
              <a:rPr sz="1150" b="0" i="0">
                <a:solidFill>
                  <a:srgbClr val="475569"/>
                </a:solidFill>
                <a:latin typeface="Arial"/>
              </a:rPr>
              <a:t>Dedicated Grafana
Viewer token</a:t>
            </a:r>
          </a:p>
        </p:txBody>
      </p:sp>
      <p:sp>
        <p:nvSpPr>
          <p:cNvPr id="20" name="Rounded Rectangle 19"/>
          <p:cNvSpPr/>
          <p:nvPr/>
        </p:nvSpPr>
        <p:spPr>
          <a:xfrm>
            <a:off x="548640" y="3657600"/>
            <a:ext cx="11091672" cy="585216"/>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3675887"/>
            <a:ext cx="2377440" cy="566928"/>
          </a:xfrm>
          <a:prstGeom prst="rect">
            <a:avLst/>
          </a:prstGeom>
          <a:noFill/>
        </p:spPr>
        <p:txBody>
          <a:bodyPr wrap="square" lIns="73152" rIns="73152" tIns="36576" bIns="36576" anchor="ctr">
            <a:spAutoFit/>
          </a:bodyPr>
          <a:lstStyle/>
          <a:p>
            <a:pPr algn="l">
              <a:lnSpc>
                <a:spcPct val="105000"/>
              </a:lnSpc>
            </a:pPr>
            <a:r>
              <a:rPr sz="1150" b="1" i="0">
                <a:solidFill>
                  <a:srgbClr val="0F172A"/>
                </a:solidFill>
                <a:latin typeface="Arial"/>
              </a:rPr>
              <a:t>Remediation
Komodor cloud</a:t>
            </a:r>
          </a:p>
        </p:txBody>
      </p:sp>
      <p:sp>
        <p:nvSpPr>
          <p:cNvPr id="22" name="TextBox 21"/>
          <p:cNvSpPr txBox="1"/>
          <p:nvPr/>
        </p:nvSpPr>
        <p:spPr>
          <a:xfrm>
            <a:off x="3154680" y="3675887"/>
            <a:ext cx="2423160" cy="566928"/>
          </a:xfrm>
          <a:prstGeom prst="rect">
            <a:avLst/>
          </a:prstGeom>
          <a:noFill/>
        </p:spPr>
        <p:txBody>
          <a:bodyPr wrap="square" lIns="73152" rIns="73152" tIns="36576" bIns="36576" anchor="ctr">
            <a:spAutoFit/>
          </a:bodyPr>
          <a:lstStyle/>
          <a:p>
            <a:pPr algn="l">
              <a:lnSpc>
                <a:spcPct val="105000"/>
              </a:lnSpc>
            </a:pPr>
            <a:r>
              <a:rPr sz="1150" b="0" i="0">
                <a:solidFill>
                  <a:srgbClr val="475569"/>
                </a:solidFill>
                <a:latin typeface="Arial"/>
              </a:rPr>
              <a:t>The finished
investigation</a:t>
            </a:r>
          </a:p>
        </p:txBody>
      </p:sp>
      <p:sp>
        <p:nvSpPr>
          <p:cNvPr id="23" name="TextBox 22"/>
          <p:cNvSpPr txBox="1"/>
          <p:nvPr/>
        </p:nvSpPr>
        <p:spPr>
          <a:xfrm>
            <a:off x="5715000" y="3675887"/>
            <a:ext cx="2331720" cy="566928"/>
          </a:xfrm>
          <a:prstGeom prst="rect">
            <a:avLst/>
          </a:prstGeom>
          <a:noFill/>
        </p:spPr>
        <p:txBody>
          <a:bodyPr wrap="square" lIns="73152" rIns="73152" tIns="36576" bIns="36576" anchor="ctr">
            <a:spAutoFit/>
          </a:bodyPr>
          <a:lstStyle/>
          <a:p>
            <a:pPr algn="l">
              <a:lnSpc>
                <a:spcPct val="105000"/>
              </a:lnSpc>
            </a:pPr>
            <a:r>
              <a:rPr sz="1150" b="0" i="0">
                <a:solidFill>
                  <a:srgbClr val="0F172A"/>
                </a:solidFill>
                <a:latin typeface="Arial"/>
              </a:rPr>
              <a:t>Nothing</a:t>
            </a:r>
          </a:p>
        </p:txBody>
      </p:sp>
      <p:sp>
        <p:nvSpPr>
          <p:cNvPr id="24" name="TextBox 23"/>
          <p:cNvSpPr txBox="1"/>
          <p:nvPr/>
        </p:nvSpPr>
        <p:spPr>
          <a:xfrm>
            <a:off x="8183879" y="3675887"/>
            <a:ext cx="3410712" cy="566928"/>
          </a:xfrm>
          <a:prstGeom prst="rect">
            <a:avLst/>
          </a:prstGeom>
          <a:noFill/>
        </p:spPr>
        <p:txBody>
          <a:bodyPr wrap="square" lIns="73152" rIns="73152" tIns="36576" bIns="36576" anchor="ctr">
            <a:spAutoFit/>
          </a:bodyPr>
          <a:lstStyle/>
          <a:p>
            <a:pPr algn="l">
              <a:lnSpc>
                <a:spcPct val="105000"/>
              </a:lnSpc>
            </a:pPr>
            <a:r>
              <a:rPr sz="1150" b="0" i="0">
                <a:solidFill>
                  <a:srgbClr val="475569"/>
                </a:solidFill>
                <a:latin typeface="Arial"/>
              </a:rPr>
              <a:t>Holds no credentials
for any system</a:t>
            </a:r>
          </a:p>
        </p:txBody>
      </p:sp>
      <p:sp>
        <p:nvSpPr>
          <p:cNvPr id="25" name="Rounded Rectangle 24"/>
          <p:cNvSpPr/>
          <p:nvPr/>
        </p:nvSpPr>
        <p:spPr>
          <a:xfrm>
            <a:off x="548640" y="4297679"/>
            <a:ext cx="11091672" cy="585216"/>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 y="4315967"/>
            <a:ext cx="2377440" cy="566928"/>
          </a:xfrm>
          <a:prstGeom prst="rect">
            <a:avLst/>
          </a:prstGeom>
          <a:noFill/>
        </p:spPr>
        <p:txBody>
          <a:bodyPr wrap="square" lIns="73152" rIns="73152" tIns="36576" bIns="36576" anchor="ctr">
            <a:spAutoFit/>
          </a:bodyPr>
          <a:lstStyle/>
          <a:p>
            <a:pPr algn="l">
              <a:lnSpc>
                <a:spcPct val="105000"/>
              </a:lnSpc>
            </a:pPr>
            <a:r>
              <a:rPr sz="1150" b="1" i="0">
                <a:solidFill>
                  <a:srgbClr val="0F172A"/>
                </a:solidFill>
                <a:latin typeface="Arial"/>
              </a:rPr>
              <a:t>GitHub Agent
Komodor cloud</a:t>
            </a:r>
          </a:p>
        </p:txBody>
      </p:sp>
      <p:sp>
        <p:nvSpPr>
          <p:cNvPr id="27" name="TextBox 26"/>
          <p:cNvSpPr txBox="1"/>
          <p:nvPr/>
        </p:nvSpPr>
        <p:spPr>
          <a:xfrm>
            <a:off x="3154680" y="4315967"/>
            <a:ext cx="2423160" cy="566928"/>
          </a:xfrm>
          <a:prstGeom prst="rect">
            <a:avLst/>
          </a:prstGeom>
          <a:noFill/>
        </p:spPr>
        <p:txBody>
          <a:bodyPr wrap="square" lIns="73152" rIns="73152" tIns="36576" bIns="36576" anchor="ctr">
            <a:spAutoFit/>
          </a:bodyPr>
          <a:lstStyle/>
          <a:p>
            <a:pPr algn="l">
              <a:lnSpc>
                <a:spcPct val="105000"/>
              </a:lnSpc>
            </a:pPr>
            <a:r>
              <a:rPr sz="1150" b="0" i="0">
                <a:solidFill>
                  <a:srgbClr val="475569"/>
                </a:solidFill>
                <a:latin typeface="Arial"/>
              </a:rPr>
              <a:t>Repository code
and history</a:t>
            </a:r>
          </a:p>
        </p:txBody>
      </p:sp>
      <p:sp>
        <p:nvSpPr>
          <p:cNvPr id="28" name="TextBox 27"/>
          <p:cNvSpPr txBox="1"/>
          <p:nvPr/>
        </p:nvSpPr>
        <p:spPr>
          <a:xfrm>
            <a:off x="5715000" y="4315967"/>
            <a:ext cx="2331720" cy="566928"/>
          </a:xfrm>
          <a:prstGeom prst="rect">
            <a:avLst/>
          </a:prstGeom>
          <a:noFill/>
        </p:spPr>
        <p:txBody>
          <a:bodyPr wrap="square" lIns="73152" rIns="73152" tIns="36576" bIns="36576" anchor="ctr">
            <a:spAutoFit/>
          </a:bodyPr>
          <a:lstStyle/>
          <a:p>
            <a:pPr algn="l">
              <a:lnSpc>
                <a:spcPct val="105000"/>
              </a:lnSpc>
            </a:pPr>
            <a:r>
              <a:rPr sz="1150" b="0" i="0">
                <a:solidFill>
                  <a:srgbClr val="0F172A"/>
                </a:solidFill>
                <a:latin typeface="Arial"/>
              </a:rPr>
              <a:t>One PR, one config value,
after approval</a:t>
            </a:r>
          </a:p>
        </p:txBody>
      </p:sp>
      <p:sp>
        <p:nvSpPr>
          <p:cNvPr id="29" name="TextBox 28"/>
          <p:cNvSpPr txBox="1"/>
          <p:nvPr/>
        </p:nvSpPr>
        <p:spPr>
          <a:xfrm>
            <a:off x="8183879" y="4315967"/>
            <a:ext cx="3410712" cy="566928"/>
          </a:xfrm>
          <a:prstGeom prst="rect">
            <a:avLst/>
          </a:prstGeom>
          <a:noFill/>
        </p:spPr>
        <p:txBody>
          <a:bodyPr wrap="square" lIns="73152" rIns="73152" tIns="36576" bIns="36576" anchor="ctr">
            <a:spAutoFit/>
          </a:bodyPr>
          <a:lstStyle/>
          <a:p>
            <a:pPr algn="l">
              <a:lnSpc>
                <a:spcPct val="105000"/>
              </a:lnSpc>
            </a:pPr>
            <a:r>
              <a:rPr sz="1150" b="0" i="0">
                <a:solidFill>
                  <a:srgbClr val="475569"/>
                </a:solidFill>
                <a:latin typeface="Arial"/>
              </a:rPr>
              <a:t>KAOP approval gate +
GitHub App scopes</a:t>
            </a:r>
          </a:p>
        </p:txBody>
      </p:sp>
      <p:sp>
        <p:nvSpPr>
          <p:cNvPr id="30" name="Rounded Rectangle 29"/>
          <p:cNvSpPr/>
          <p:nvPr/>
        </p:nvSpPr>
        <p:spPr>
          <a:xfrm>
            <a:off x="548640" y="4937760"/>
            <a:ext cx="11091672" cy="585216"/>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956048"/>
            <a:ext cx="2377440" cy="566928"/>
          </a:xfrm>
          <a:prstGeom prst="rect">
            <a:avLst/>
          </a:prstGeom>
          <a:noFill/>
        </p:spPr>
        <p:txBody>
          <a:bodyPr wrap="square" lIns="73152" rIns="73152" tIns="36576" bIns="36576" anchor="ctr">
            <a:spAutoFit/>
          </a:bodyPr>
          <a:lstStyle/>
          <a:p>
            <a:pPr algn="l">
              <a:lnSpc>
                <a:spcPct val="105000"/>
              </a:lnSpc>
            </a:pPr>
            <a:r>
              <a:rPr sz="1150" b="1" i="0">
                <a:solidFill>
                  <a:srgbClr val="0F172A"/>
                </a:solidFill>
                <a:latin typeface="Arial"/>
              </a:rPr>
              <a:t>Code Reviewer
Komodor cloud</a:t>
            </a:r>
          </a:p>
        </p:txBody>
      </p:sp>
      <p:sp>
        <p:nvSpPr>
          <p:cNvPr id="32" name="TextBox 31"/>
          <p:cNvSpPr txBox="1"/>
          <p:nvPr/>
        </p:nvSpPr>
        <p:spPr>
          <a:xfrm>
            <a:off x="3154680" y="4956048"/>
            <a:ext cx="2423160" cy="566928"/>
          </a:xfrm>
          <a:prstGeom prst="rect">
            <a:avLst/>
          </a:prstGeom>
          <a:noFill/>
        </p:spPr>
        <p:txBody>
          <a:bodyPr wrap="square" lIns="73152" rIns="73152" tIns="36576" bIns="36576" anchor="ctr">
            <a:spAutoFit/>
          </a:bodyPr>
          <a:lstStyle/>
          <a:p>
            <a:pPr algn="l">
              <a:lnSpc>
                <a:spcPct val="105000"/>
              </a:lnSpc>
            </a:pPr>
            <a:r>
              <a:rPr sz="1150" b="0" i="0">
                <a:solidFill>
                  <a:srgbClr val="475569"/>
                </a:solidFill>
                <a:latin typeface="Arial"/>
              </a:rPr>
              <a:t>The PR diff</a:t>
            </a:r>
          </a:p>
        </p:txBody>
      </p:sp>
      <p:sp>
        <p:nvSpPr>
          <p:cNvPr id="33" name="TextBox 32"/>
          <p:cNvSpPr txBox="1"/>
          <p:nvPr/>
        </p:nvSpPr>
        <p:spPr>
          <a:xfrm>
            <a:off x="5715000" y="4956048"/>
            <a:ext cx="2331720" cy="566928"/>
          </a:xfrm>
          <a:prstGeom prst="rect">
            <a:avLst/>
          </a:prstGeom>
          <a:noFill/>
        </p:spPr>
        <p:txBody>
          <a:bodyPr wrap="square" lIns="73152" rIns="73152" tIns="36576" bIns="36576" anchor="ctr">
            <a:spAutoFit/>
          </a:bodyPr>
          <a:lstStyle/>
          <a:p>
            <a:pPr algn="l">
              <a:lnSpc>
                <a:spcPct val="105000"/>
              </a:lnSpc>
            </a:pPr>
            <a:r>
              <a:rPr sz="1150" b="0" i="0">
                <a:solidFill>
                  <a:srgbClr val="0F172A"/>
                </a:solidFill>
                <a:latin typeface="Arial"/>
              </a:rPr>
              <a:t>One comment per commit</a:t>
            </a:r>
          </a:p>
        </p:txBody>
      </p:sp>
      <p:sp>
        <p:nvSpPr>
          <p:cNvPr id="34" name="TextBox 33"/>
          <p:cNvSpPr txBox="1"/>
          <p:nvPr/>
        </p:nvSpPr>
        <p:spPr>
          <a:xfrm>
            <a:off x="8183879" y="4956048"/>
            <a:ext cx="3410712" cy="566928"/>
          </a:xfrm>
          <a:prstGeom prst="rect">
            <a:avLst/>
          </a:prstGeom>
          <a:noFill/>
        </p:spPr>
        <p:txBody>
          <a:bodyPr wrap="square" lIns="73152" rIns="73152" tIns="36576" bIns="36576" anchor="ctr">
            <a:spAutoFit/>
          </a:bodyPr>
          <a:lstStyle/>
          <a:p>
            <a:pPr algn="l">
              <a:lnSpc>
                <a:spcPct val="105000"/>
              </a:lnSpc>
            </a:pPr>
            <a:r>
              <a:rPr sz="1150" b="0" i="0">
                <a:solidFill>
                  <a:srgbClr val="475569"/>
                </a:solidFill>
                <a:latin typeface="Arial"/>
              </a:rPr>
              <a:t>GitHub App scopes;
cannot approve or merge</a:t>
            </a:r>
          </a:p>
        </p:txBody>
      </p:sp>
      <p:sp>
        <p:nvSpPr>
          <p:cNvPr id="35" name="Rounded Rectangle 34"/>
          <p:cNvSpPr/>
          <p:nvPr/>
        </p:nvSpPr>
        <p:spPr>
          <a:xfrm>
            <a:off x="548640" y="5760720"/>
            <a:ext cx="11091672" cy="640080"/>
          </a:xfrm>
          <a:prstGeom prst="roundRect">
            <a:avLst>
              <a:gd name="adj" fmla="val 12000"/>
            </a:avLst>
          </a:prstGeom>
          <a:solidFill>
            <a:srgbClr val="E6F6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73152" tIns="36576" bIns="36576"/>
          <a:lstStyle/>
          <a:p>
            <a:pPr algn="l">
              <a:lnSpc>
                <a:spcPct val="110000"/>
              </a:lnSpc>
            </a:pPr>
            <a:r>
              <a:rPr sz="1100" b="1" i="0">
                <a:solidFill>
                  <a:srgbClr val="0F766E"/>
                </a:solidFill>
                <a:latin typeface="Arial"/>
              </a:rPr>
              <a:t>VERIFIED   </a:t>
            </a:r>
            <a:r>
              <a:rPr sz="1250" b="0" i="0">
                <a:solidFill>
                  <a:srgbClr val="0F172A"/>
                </a:solidFill>
                <a:latin typeface="Arial"/>
              </a:rPr>
              <a:t>KAOP's agent chart RBAC, applied to this cluster and checked with kubectl auth can-i: reads pods, events, logs; denied Secrets, exec, delete, patch, scale.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KAOP  ·  PLATFORM ENGINEERING</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08 / 09</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Live: one bad rollout, one Redis outage</a:t>
            </a:r>
          </a:p>
        </p:txBody>
      </p:sp>
      <p:sp>
        <p:nvSpPr>
          <p:cNvPr id="5" name="TextBox 4"/>
          <p:cNvSpPr txBox="1"/>
          <p:nvPr/>
        </p:nvSpPr>
        <p:spPr>
          <a:xfrm>
            <a:off x="548640" y="1371600"/>
            <a:ext cx="11064240" cy="457200"/>
          </a:xfrm>
          <a:prstGeom prst="rect">
            <a:avLst/>
          </a:prstGeom>
          <a:noFill/>
        </p:spPr>
        <p:txBody>
          <a:bodyPr wrap="square" lIns="73152" rIns="73152" tIns="36576" bIns="36576" anchor="t">
            <a:spAutoFit/>
          </a:bodyPr>
          <a:lstStyle/>
          <a:p>
            <a:pPr algn="l">
              <a:lnSpc>
                <a:spcPct val="110000"/>
              </a:lnSpc>
            </a:pPr>
            <a:r>
              <a:rPr sz="1600" b="0" i="0">
                <a:solidFill>
                  <a:srgbClr val="475569"/>
                </a:solidFill>
                <a:latin typeface="Arial"/>
              </a:rPr>
              <a:t>Real cluster, real alert, real agents. Nothing on screen is staged.</a:t>
            </a:r>
          </a:p>
        </p:txBody>
      </p:sp>
      <p:sp>
        <p:nvSpPr>
          <p:cNvPr id="6" name="Rounded Rectangle 5"/>
          <p:cNvSpPr/>
          <p:nvPr/>
        </p:nvSpPr>
        <p:spPr>
          <a:xfrm>
            <a:off x="548640" y="2011680"/>
            <a:ext cx="2670048" cy="16002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31520" y="2194560"/>
            <a:ext cx="329184" cy="329184"/>
          </a:xfrm>
          <a:prstGeom prst="roundRect">
            <a:avLst>
              <a:gd name="adj" fmla="val 5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100" b="1" i="0">
                <a:solidFill>
                  <a:srgbClr val="FFFFFF"/>
                </a:solidFill>
                <a:latin typeface="Arial"/>
              </a:rPr>
              <a:t>1</a:t>
            </a:r>
          </a:p>
        </p:txBody>
      </p:sp>
      <p:sp>
        <p:nvSpPr>
          <p:cNvPr id="8" name="TextBox 7"/>
          <p:cNvSpPr txBox="1"/>
          <p:nvPr/>
        </p:nvSpPr>
        <p:spPr>
          <a:xfrm>
            <a:off x="1143000" y="2167128"/>
            <a:ext cx="2011680" cy="365760"/>
          </a:xfrm>
          <a:prstGeom prst="rect">
            <a:avLst/>
          </a:prstGeom>
          <a:noFill/>
        </p:spPr>
        <p:txBody>
          <a:bodyPr wrap="square" lIns="73152" rIns="73152" tIns="36576" bIns="36576" anchor="t">
            <a:spAutoFit/>
          </a:bodyPr>
          <a:lstStyle/>
          <a:p>
            <a:pPr algn="l">
              <a:lnSpc>
                <a:spcPct val="110000"/>
              </a:lnSpc>
            </a:pPr>
            <a:r>
              <a:rPr sz="1500" b="1" i="0">
                <a:solidFill>
                  <a:srgbClr val="0F172A"/>
                </a:solidFill>
                <a:latin typeface="Arial"/>
              </a:rPr>
              <a:t>Latent defect</a:t>
            </a:r>
          </a:p>
        </p:txBody>
      </p:sp>
      <p:sp>
        <p:nvSpPr>
          <p:cNvPr id="9" name="TextBox 8"/>
          <p:cNvSpPr txBox="1"/>
          <p:nvPr/>
        </p:nvSpPr>
        <p:spPr>
          <a:xfrm>
            <a:off x="731520" y="2651760"/>
            <a:ext cx="2377440" cy="914400"/>
          </a:xfrm>
          <a:prstGeom prst="rect">
            <a:avLst/>
          </a:prstGeom>
          <a:noFill/>
        </p:spPr>
        <p:txBody>
          <a:bodyPr wrap="square" lIns="73152" rIns="73152" tIns="36576" bIns="36576" anchor="t">
            <a:spAutoFit/>
          </a:bodyPr>
          <a:lstStyle/>
          <a:p>
            <a:pPr algn="l">
              <a:lnSpc>
                <a:spcPct val="112000"/>
              </a:lnSpc>
            </a:pPr>
            <a:r>
              <a:rPr sz="1200" b="0" i="0">
                <a:solidFill>
                  <a:srgbClr val="475569"/>
                </a:solidFill>
                <a:latin typeface="Arial"/>
              </a:rPr>
              <a:t>Last week's rollout points liveness at /readyz, which depends on Redis.</a:t>
            </a:r>
          </a:p>
        </p:txBody>
      </p:sp>
      <p:sp>
        <p:nvSpPr>
          <p:cNvPr id="10" name="Rounded Rectangle 9"/>
          <p:cNvSpPr/>
          <p:nvPr/>
        </p:nvSpPr>
        <p:spPr>
          <a:xfrm>
            <a:off x="3355848" y="2011680"/>
            <a:ext cx="2670048" cy="1600200"/>
          </a:xfrm>
          <a:prstGeom prst="roundRect">
            <a:avLst>
              <a:gd name="adj" fmla="val 6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3538728" y="2194560"/>
            <a:ext cx="329184" cy="329184"/>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100" b="1" i="0">
                <a:solidFill>
                  <a:srgbClr val="FFFFFF"/>
                </a:solidFill>
                <a:latin typeface="Arial"/>
              </a:rPr>
              <a:t>2</a:t>
            </a:r>
          </a:p>
        </p:txBody>
      </p:sp>
      <p:sp>
        <p:nvSpPr>
          <p:cNvPr id="12" name="TextBox 11"/>
          <p:cNvSpPr txBox="1"/>
          <p:nvPr/>
        </p:nvSpPr>
        <p:spPr>
          <a:xfrm>
            <a:off x="3950208" y="2167128"/>
            <a:ext cx="2011680" cy="365760"/>
          </a:xfrm>
          <a:prstGeom prst="rect">
            <a:avLst/>
          </a:prstGeom>
          <a:noFill/>
        </p:spPr>
        <p:txBody>
          <a:bodyPr wrap="square" lIns="73152" rIns="73152" tIns="36576" bIns="36576" anchor="t">
            <a:spAutoFit/>
          </a:bodyPr>
          <a:lstStyle/>
          <a:p>
            <a:pPr algn="l">
              <a:lnSpc>
                <a:spcPct val="110000"/>
              </a:lnSpc>
            </a:pPr>
            <a:r>
              <a:rPr sz="1500" b="1" i="0">
                <a:solidFill>
                  <a:srgbClr val="0F172A"/>
                </a:solidFill>
                <a:latin typeface="Arial"/>
              </a:rPr>
              <a:t>Dependency blip</a:t>
            </a:r>
          </a:p>
        </p:txBody>
      </p:sp>
      <p:sp>
        <p:nvSpPr>
          <p:cNvPr id="13" name="TextBox 12"/>
          <p:cNvSpPr txBox="1"/>
          <p:nvPr/>
        </p:nvSpPr>
        <p:spPr>
          <a:xfrm>
            <a:off x="3538728" y="2651760"/>
            <a:ext cx="2377440" cy="914400"/>
          </a:xfrm>
          <a:prstGeom prst="rect">
            <a:avLst/>
          </a:prstGeom>
          <a:noFill/>
        </p:spPr>
        <p:txBody>
          <a:bodyPr wrap="square" lIns="73152" rIns="73152" tIns="36576" bIns="36576" anchor="t">
            <a:spAutoFit/>
          </a:bodyPr>
          <a:lstStyle/>
          <a:p>
            <a:pPr algn="l">
              <a:lnSpc>
                <a:spcPct val="112000"/>
              </a:lnSpc>
            </a:pPr>
            <a:r>
              <a:rPr sz="1200" b="0" i="0">
                <a:solidFill>
                  <a:srgbClr val="475569"/>
                </a:solidFill>
                <a:latin typeface="Arial"/>
              </a:rPr>
              <a:t>Redis goes away. Readiness fails, which is correct.</a:t>
            </a:r>
          </a:p>
        </p:txBody>
      </p:sp>
      <p:sp>
        <p:nvSpPr>
          <p:cNvPr id="14" name="Rounded Rectangle 13"/>
          <p:cNvSpPr/>
          <p:nvPr/>
        </p:nvSpPr>
        <p:spPr>
          <a:xfrm>
            <a:off x="6163055" y="2011680"/>
            <a:ext cx="2670048" cy="1600200"/>
          </a:xfrm>
          <a:prstGeom prst="roundRect">
            <a:avLst>
              <a:gd name="adj" fmla="val 6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345936" y="2194560"/>
            <a:ext cx="329184" cy="329184"/>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100" b="1" i="0">
                <a:solidFill>
                  <a:srgbClr val="FFFFFF"/>
                </a:solidFill>
                <a:latin typeface="Arial"/>
              </a:rPr>
              <a:t>3</a:t>
            </a:r>
          </a:p>
        </p:txBody>
      </p:sp>
      <p:sp>
        <p:nvSpPr>
          <p:cNvPr id="16" name="TextBox 15"/>
          <p:cNvSpPr txBox="1"/>
          <p:nvPr/>
        </p:nvSpPr>
        <p:spPr>
          <a:xfrm>
            <a:off x="6757416" y="2167128"/>
            <a:ext cx="2011680" cy="365760"/>
          </a:xfrm>
          <a:prstGeom prst="rect">
            <a:avLst/>
          </a:prstGeom>
          <a:noFill/>
        </p:spPr>
        <p:txBody>
          <a:bodyPr wrap="square" lIns="73152" rIns="73152" tIns="36576" bIns="36576" anchor="t">
            <a:spAutoFit/>
          </a:bodyPr>
          <a:lstStyle/>
          <a:p>
            <a:pPr algn="l">
              <a:lnSpc>
                <a:spcPct val="110000"/>
              </a:lnSpc>
            </a:pPr>
            <a:r>
              <a:rPr sz="1500" b="1" i="0">
                <a:solidFill>
                  <a:srgbClr val="0F172A"/>
                </a:solidFill>
                <a:latin typeface="Arial"/>
              </a:rPr>
              <a:t>Amplified</a:t>
            </a:r>
          </a:p>
        </p:txBody>
      </p:sp>
      <p:sp>
        <p:nvSpPr>
          <p:cNvPr id="17" name="TextBox 16"/>
          <p:cNvSpPr txBox="1"/>
          <p:nvPr/>
        </p:nvSpPr>
        <p:spPr>
          <a:xfrm>
            <a:off x="6345936" y="2651760"/>
            <a:ext cx="2377440" cy="914400"/>
          </a:xfrm>
          <a:prstGeom prst="rect">
            <a:avLst/>
          </a:prstGeom>
          <a:noFill/>
        </p:spPr>
        <p:txBody>
          <a:bodyPr wrap="square" lIns="73152" rIns="73152" tIns="36576" bIns="36576" anchor="t">
            <a:spAutoFit/>
          </a:bodyPr>
          <a:lstStyle/>
          <a:p>
            <a:pPr algn="l">
              <a:lnSpc>
                <a:spcPct val="112000"/>
              </a:lnSpc>
            </a:pPr>
            <a:r>
              <a:rPr sz="1200" b="0" i="0">
                <a:solidFill>
                  <a:srgbClr val="475569"/>
                </a:solidFill>
                <a:latin typeface="Arial"/>
              </a:rPr>
              <a:t>Liveness fails too, so Kubernetes kills a healthy API again and again, and pages the wrong team.</a:t>
            </a:r>
          </a:p>
        </p:txBody>
      </p:sp>
      <p:sp>
        <p:nvSpPr>
          <p:cNvPr id="18" name="Rounded Rectangle 17"/>
          <p:cNvSpPr/>
          <p:nvPr/>
        </p:nvSpPr>
        <p:spPr>
          <a:xfrm>
            <a:off x="8970263" y="2011680"/>
            <a:ext cx="2670048" cy="16002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9153143" y="2194560"/>
            <a:ext cx="329184" cy="329184"/>
          </a:xfrm>
          <a:prstGeom prst="roundRect">
            <a:avLst>
              <a:gd name="adj" fmla="val 5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100" b="1" i="0">
                <a:solidFill>
                  <a:srgbClr val="FFFFFF"/>
                </a:solidFill>
                <a:latin typeface="Arial"/>
              </a:rPr>
              <a:t>4</a:t>
            </a:r>
          </a:p>
        </p:txBody>
      </p:sp>
      <p:sp>
        <p:nvSpPr>
          <p:cNvPr id="20" name="TextBox 19"/>
          <p:cNvSpPr txBox="1"/>
          <p:nvPr/>
        </p:nvSpPr>
        <p:spPr>
          <a:xfrm>
            <a:off x="9564624" y="2167128"/>
            <a:ext cx="2011680" cy="365760"/>
          </a:xfrm>
          <a:prstGeom prst="rect">
            <a:avLst/>
          </a:prstGeom>
          <a:noFill/>
        </p:spPr>
        <p:txBody>
          <a:bodyPr wrap="square" lIns="73152" rIns="73152" tIns="36576" bIns="36576" anchor="t">
            <a:spAutoFit/>
          </a:bodyPr>
          <a:lstStyle/>
          <a:p>
            <a:pPr algn="l">
              <a:lnSpc>
                <a:spcPct val="110000"/>
              </a:lnSpc>
            </a:pPr>
            <a:r>
              <a:rPr sz="1500" b="1" i="0">
                <a:solidFill>
                  <a:srgbClr val="0F172A"/>
                </a:solidFill>
                <a:latin typeface="Arial"/>
              </a:rPr>
              <a:t>Detect</a:t>
            </a:r>
          </a:p>
        </p:txBody>
      </p:sp>
      <p:sp>
        <p:nvSpPr>
          <p:cNvPr id="21" name="TextBox 20"/>
          <p:cNvSpPr txBox="1"/>
          <p:nvPr/>
        </p:nvSpPr>
        <p:spPr>
          <a:xfrm>
            <a:off x="9153143" y="2651760"/>
            <a:ext cx="2377440" cy="914400"/>
          </a:xfrm>
          <a:prstGeom prst="rect">
            <a:avLst/>
          </a:prstGeom>
          <a:noFill/>
        </p:spPr>
        <p:txBody>
          <a:bodyPr wrap="square" lIns="73152" rIns="73152" tIns="36576" bIns="36576" anchor="t">
            <a:spAutoFit/>
          </a:bodyPr>
          <a:lstStyle/>
          <a:p>
            <a:pPr algn="l">
              <a:lnSpc>
                <a:spcPct val="112000"/>
              </a:lnSpc>
            </a:pPr>
            <a:r>
              <a:rPr sz="1200" b="0" i="0">
                <a:solidFill>
                  <a:srgbClr val="475569"/>
                </a:solidFill>
                <a:latin typeface="Arial"/>
              </a:rPr>
              <a:t>Grafana's restart alert fires and posts to KAOP.</a:t>
            </a:r>
          </a:p>
        </p:txBody>
      </p:sp>
      <p:sp>
        <p:nvSpPr>
          <p:cNvPr id="22" name="Rounded Rectangle 21"/>
          <p:cNvSpPr/>
          <p:nvPr/>
        </p:nvSpPr>
        <p:spPr>
          <a:xfrm>
            <a:off x="548640" y="3749039"/>
            <a:ext cx="2670048" cy="16002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731520" y="3931920"/>
            <a:ext cx="329184" cy="329184"/>
          </a:xfrm>
          <a:prstGeom prst="roundRect">
            <a:avLst>
              <a:gd name="adj" fmla="val 5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100" b="1" i="0">
                <a:solidFill>
                  <a:srgbClr val="FFFFFF"/>
                </a:solidFill>
                <a:latin typeface="Arial"/>
              </a:rPr>
              <a:t>5</a:t>
            </a:r>
          </a:p>
        </p:txBody>
      </p:sp>
      <p:sp>
        <p:nvSpPr>
          <p:cNvPr id="24" name="TextBox 23"/>
          <p:cNvSpPr txBox="1"/>
          <p:nvPr/>
        </p:nvSpPr>
        <p:spPr>
          <a:xfrm>
            <a:off x="1143000" y="3904487"/>
            <a:ext cx="2011680" cy="365760"/>
          </a:xfrm>
          <a:prstGeom prst="rect">
            <a:avLst/>
          </a:prstGeom>
          <a:noFill/>
        </p:spPr>
        <p:txBody>
          <a:bodyPr wrap="square" lIns="73152" rIns="73152" tIns="36576" bIns="36576" anchor="t">
            <a:spAutoFit/>
          </a:bodyPr>
          <a:lstStyle/>
          <a:p>
            <a:pPr algn="l">
              <a:lnSpc>
                <a:spcPct val="110000"/>
              </a:lnSpc>
            </a:pPr>
            <a:r>
              <a:rPr sz="1500" b="1" i="0">
                <a:solidFill>
                  <a:srgbClr val="0F172A"/>
                </a:solidFill>
                <a:latin typeface="Arial"/>
              </a:rPr>
              <a:t>Investigate</a:t>
            </a:r>
          </a:p>
        </p:txBody>
      </p:sp>
      <p:sp>
        <p:nvSpPr>
          <p:cNvPr id="25" name="TextBox 24"/>
          <p:cNvSpPr txBox="1"/>
          <p:nvPr/>
        </p:nvSpPr>
        <p:spPr>
          <a:xfrm>
            <a:off x="731520" y="4389120"/>
            <a:ext cx="2377440" cy="914400"/>
          </a:xfrm>
          <a:prstGeom prst="rect">
            <a:avLst/>
          </a:prstGeom>
          <a:noFill/>
        </p:spPr>
        <p:txBody>
          <a:bodyPr wrap="square" lIns="73152" rIns="73152" tIns="36576" bIns="36576" anchor="t">
            <a:spAutoFit/>
          </a:bodyPr>
          <a:lstStyle/>
          <a:p>
            <a:pPr algn="l">
              <a:lnSpc>
                <a:spcPct val="112000"/>
              </a:lnSpc>
            </a:pPr>
            <a:r>
              <a:rPr sz="1200" b="0" i="0">
                <a:solidFill>
                  <a:srgbClr val="475569"/>
                </a:solidFill>
                <a:latin typeface="Arial"/>
              </a:rPr>
              <a:t>Root cause, confidence and evidence from two specialists.</a:t>
            </a:r>
          </a:p>
        </p:txBody>
      </p:sp>
      <p:sp>
        <p:nvSpPr>
          <p:cNvPr id="26" name="Rounded Rectangle 25"/>
          <p:cNvSpPr/>
          <p:nvPr/>
        </p:nvSpPr>
        <p:spPr>
          <a:xfrm>
            <a:off x="3355848" y="3749039"/>
            <a:ext cx="2670048" cy="16002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3538728" y="3931920"/>
            <a:ext cx="329184" cy="329184"/>
          </a:xfrm>
          <a:prstGeom prst="roundRect">
            <a:avLst>
              <a:gd name="adj" fmla="val 5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100" b="1" i="0">
                <a:solidFill>
                  <a:srgbClr val="FFFFFF"/>
                </a:solidFill>
                <a:latin typeface="Arial"/>
              </a:rPr>
              <a:t>6</a:t>
            </a:r>
          </a:p>
        </p:txBody>
      </p:sp>
      <p:sp>
        <p:nvSpPr>
          <p:cNvPr id="28" name="TextBox 27"/>
          <p:cNvSpPr txBox="1"/>
          <p:nvPr/>
        </p:nvSpPr>
        <p:spPr>
          <a:xfrm>
            <a:off x="3950208" y="3904487"/>
            <a:ext cx="2011680" cy="365760"/>
          </a:xfrm>
          <a:prstGeom prst="rect">
            <a:avLst/>
          </a:prstGeom>
          <a:noFill/>
        </p:spPr>
        <p:txBody>
          <a:bodyPr wrap="square" lIns="73152" rIns="73152" tIns="36576" bIns="36576" anchor="t">
            <a:spAutoFit/>
          </a:bodyPr>
          <a:lstStyle/>
          <a:p>
            <a:pPr algn="l">
              <a:lnSpc>
                <a:spcPct val="110000"/>
              </a:lnSpc>
            </a:pPr>
            <a:r>
              <a:rPr sz="1500" b="1" i="0">
                <a:solidFill>
                  <a:srgbClr val="0F172A"/>
                </a:solidFill>
                <a:latin typeface="Arial"/>
              </a:rPr>
              <a:t>Decide</a:t>
            </a:r>
          </a:p>
        </p:txBody>
      </p:sp>
      <p:sp>
        <p:nvSpPr>
          <p:cNvPr id="29" name="TextBox 28"/>
          <p:cNvSpPr txBox="1"/>
          <p:nvPr/>
        </p:nvSpPr>
        <p:spPr>
          <a:xfrm>
            <a:off x="3538728" y="4389120"/>
            <a:ext cx="2377440" cy="914400"/>
          </a:xfrm>
          <a:prstGeom prst="rect">
            <a:avLst/>
          </a:prstGeom>
          <a:noFill/>
        </p:spPr>
        <p:txBody>
          <a:bodyPr wrap="square" lIns="73152" rIns="73152" tIns="36576" bIns="36576" anchor="t">
            <a:spAutoFit/>
          </a:bodyPr>
          <a:lstStyle/>
          <a:p>
            <a:pPr algn="l">
              <a:lnSpc>
                <a:spcPct val="112000"/>
              </a:lnSpc>
            </a:pPr>
            <a:r>
              <a:rPr sz="1200" b="0" i="0">
                <a:solidFill>
                  <a:srgbClr val="475569"/>
                </a:solidFill>
                <a:latin typeface="Arial"/>
              </a:rPr>
              <a:t>I approve. The GitHub Agent opens the one-line fix.</a:t>
            </a:r>
          </a:p>
        </p:txBody>
      </p:sp>
      <p:sp>
        <p:nvSpPr>
          <p:cNvPr id="30" name="Rounded Rectangle 29"/>
          <p:cNvSpPr/>
          <p:nvPr/>
        </p:nvSpPr>
        <p:spPr>
          <a:xfrm>
            <a:off x="6163055" y="3749039"/>
            <a:ext cx="2670048" cy="16002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345936" y="3931920"/>
            <a:ext cx="329184" cy="329184"/>
          </a:xfrm>
          <a:prstGeom prst="roundRect">
            <a:avLst>
              <a:gd name="adj" fmla="val 5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0000"/>
              </a:lnSpc>
            </a:pPr>
            <a:r>
              <a:rPr sz="1100" b="1" i="0">
                <a:solidFill>
                  <a:srgbClr val="FFFFFF"/>
                </a:solidFill>
                <a:latin typeface="Arial"/>
              </a:rPr>
              <a:t>7</a:t>
            </a:r>
          </a:p>
        </p:txBody>
      </p:sp>
      <p:sp>
        <p:nvSpPr>
          <p:cNvPr id="32" name="TextBox 31"/>
          <p:cNvSpPr txBox="1"/>
          <p:nvPr/>
        </p:nvSpPr>
        <p:spPr>
          <a:xfrm>
            <a:off x="6757416" y="3904487"/>
            <a:ext cx="2011680" cy="365760"/>
          </a:xfrm>
          <a:prstGeom prst="rect">
            <a:avLst/>
          </a:prstGeom>
          <a:noFill/>
        </p:spPr>
        <p:txBody>
          <a:bodyPr wrap="square" lIns="73152" rIns="73152" tIns="36576" bIns="36576" anchor="t">
            <a:spAutoFit/>
          </a:bodyPr>
          <a:lstStyle/>
          <a:p>
            <a:pPr algn="l">
              <a:lnSpc>
                <a:spcPct val="110000"/>
              </a:lnSpc>
            </a:pPr>
            <a:r>
              <a:rPr sz="1500" b="1" i="0">
                <a:solidFill>
                  <a:srgbClr val="0F172A"/>
                </a:solidFill>
                <a:latin typeface="Arial"/>
              </a:rPr>
              <a:t>Review</a:t>
            </a:r>
          </a:p>
        </p:txBody>
      </p:sp>
      <p:sp>
        <p:nvSpPr>
          <p:cNvPr id="33" name="TextBox 32"/>
          <p:cNvSpPr txBox="1"/>
          <p:nvPr/>
        </p:nvSpPr>
        <p:spPr>
          <a:xfrm>
            <a:off x="6345936" y="4389120"/>
            <a:ext cx="2377440" cy="914400"/>
          </a:xfrm>
          <a:prstGeom prst="rect">
            <a:avLst/>
          </a:prstGeom>
          <a:noFill/>
        </p:spPr>
        <p:txBody>
          <a:bodyPr wrap="square" lIns="73152" rIns="73152" tIns="36576" bIns="36576" anchor="t">
            <a:spAutoFit/>
          </a:bodyPr>
          <a:lstStyle/>
          <a:p>
            <a:pPr algn="l">
              <a:lnSpc>
                <a:spcPct val="112000"/>
              </a:lnSpc>
            </a:pPr>
            <a:r>
              <a:rPr sz="1200" b="0" i="0">
                <a:solidFill>
                  <a:srgbClr val="475569"/>
                </a:solidFill>
                <a:latin typeface="Arial"/>
              </a:rPr>
              <a:t>The Code Reviewer comments. A human merges. The re-run shows zero restarts.</a:t>
            </a:r>
          </a:p>
        </p:txBody>
      </p:sp>
      <p:sp>
        <p:nvSpPr>
          <p:cNvPr id="34" name="Rounded Rectangle 33"/>
          <p:cNvSpPr/>
          <p:nvPr/>
        </p:nvSpPr>
        <p:spPr>
          <a:xfrm>
            <a:off x="8970263" y="3749039"/>
            <a:ext cx="2670048" cy="16002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153143" y="3904487"/>
            <a:ext cx="2377440" cy="274320"/>
          </a:xfrm>
          <a:prstGeom prst="rect">
            <a:avLst/>
          </a:prstGeom>
          <a:noFill/>
        </p:spPr>
        <p:txBody>
          <a:bodyPr wrap="square" lIns="73152" rIns="73152" tIns="36576" bIns="36576" anchor="t">
            <a:spAutoFit/>
          </a:bodyPr>
          <a:lstStyle/>
          <a:p>
            <a:pPr algn="l">
              <a:lnSpc>
                <a:spcPct val="110000"/>
              </a:lnSpc>
            </a:pPr>
            <a:r>
              <a:rPr sz="950" b="1" i="0">
                <a:solidFill>
                  <a:srgbClr val="A5B4FC"/>
                </a:solidFill>
                <a:latin typeface="Arial"/>
              </a:rPr>
              <a:t>MEASURED IN REHEARSAL</a:t>
            </a:r>
          </a:p>
        </p:txBody>
      </p:sp>
      <p:sp>
        <p:nvSpPr>
          <p:cNvPr id="36" name="TextBox 35"/>
          <p:cNvSpPr txBox="1"/>
          <p:nvPr/>
        </p:nvSpPr>
        <p:spPr>
          <a:xfrm>
            <a:off x="9153143" y="4206240"/>
            <a:ext cx="2423160" cy="1097280"/>
          </a:xfrm>
          <a:prstGeom prst="rect">
            <a:avLst/>
          </a:prstGeom>
          <a:noFill/>
        </p:spPr>
        <p:txBody>
          <a:bodyPr wrap="square" lIns="73152" rIns="73152" tIns="36576" bIns="36576" anchor="t">
            <a:spAutoFit/>
          </a:bodyPr>
          <a:lstStyle/>
          <a:p>
            <a:pPr algn="l">
              <a:lnSpc>
                <a:spcPct val="115000"/>
              </a:lnSpc>
            </a:pPr>
            <a:r>
              <a:rPr sz="1150" b="1" i="0">
                <a:solidFill>
                  <a:srgbClr val="FCA5A5"/>
                </a:solidFill>
                <a:latin typeface="Arial"/>
              </a:rPr>
              <a:t>Bad probe</a:t>
            </a:r>
          </a:p>
          <a:p>
            <a:pPr algn="l">
              <a:lnSpc>
                <a:spcPct val="115000"/>
              </a:lnSpc>
              <a:spcAft>
                <a:spcPts val="400"/>
              </a:spcAft>
            </a:pPr>
            <a:r>
              <a:rPr sz="1150" b="0" i="0">
                <a:solidFill>
                  <a:srgbClr val="FFFFFF"/>
                </a:solidFill>
                <a:latin typeface="Arial"/>
              </a:rPr>
              <a:t>5 kills in 5 min; alert at +3 min</a:t>
            </a:r>
          </a:p>
          <a:p>
            <a:pPr algn="l">
              <a:lnSpc>
                <a:spcPct val="115000"/>
              </a:lnSpc>
            </a:pPr>
            <a:r>
              <a:rPr sz="1150" b="1" i="0">
                <a:solidFill>
                  <a:srgbClr val="5EEAD4"/>
                </a:solidFill>
                <a:latin typeface="Arial"/>
              </a:rPr>
              <a:t>Fixed probe</a:t>
            </a:r>
          </a:p>
          <a:p>
            <a:pPr algn="l">
              <a:lnSpc>
                <a:spcPct val="115000"/>
              </a:lnSpc>
            </a:pPr>
            <a:r>
              <a:rPr sz="1150" b="0" i="0">
                <a:solidFill>
                  <a:srgbClr val="FFFFFF"/>
                </a:solidFill>
                <a:latin typeface="Arial"/>
              </a:rPr>
              <a:t>0 kills; alert stayed Normal</a:t>
            </a:r>
          </a:p>
        </p:txBody>
      </p:sp>
      <p:sp>
        <p:nvSpPr>
          <p:cNvPr id="37" name="Rounded Rectangle 36"/>
          <p:cNvSpPr/>
          <p:nvPr/>
        </p:nvSpPr>
        <p:spPr>
          <a:xfrm>
            <a:off x="548640" y="5806440"/>
            <a:ext cx="11091672" cy="566928"/>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73152" tIns="36576" bIns="36576"/>
          <a:lstStyle/>
          <a:p>
            <a:pPr algn="l">
              <a:lnSpc>
                <a:spcPct val="110000"/>
              </a:lnSpc>
            </a:pPr>
            <a:r>
              <a:rPr sz="1100" b="1" i="0">
                <a:solidFill>
                  <a:srgbClr val="A5B4FC"/>
                </a:solidFill>
                <a:latin typeface="Arial"/>
              </a:rPr>
              <a:t>WATCH FOR   </a:t>
            </a:r>
            <a:r>
              <a:rPr sz="1400" b="0" i="0">
                <a:solidFill>
                  <a:srgbClr val="FFFFFF"/>
                </a:solidFill>
                <a:latin typeface="Arial"/>
              </a:rPr>
              <a:t>The trigger (Redis went away) versus the root cause (a probe that punishes the API for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KAOP  ·  PLATFORM ENGINEERING</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09 / 09</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Start with one owned workflow, and measure it</a:t>
            </a:r>
          </a:p>
        </p:txBody>
      </p:sp>
      <p:sp>
        <p:nvSpPr>
          <p:cNvPr id="5" name="TextBox 4"/>
          <p:cNvSpPr txBox="1"/>
          <p:nvPr/>
        </p:nvSpPr>
        <p:spPr>
          <a:xfrm>
            <a:off x="548640" y="1371600"/>
            <a:ext cx="11064240" cy="457200"/>
          </a:xfrm>
          <a:prstGeom prst="rect">
            <a:avLst/>
          </a:prstGeom>
          <a:noFill/>
        </p:spPr>
        <p:txBody>
          <a:bodyPr wrap="square" lIns="73152" rIns="73152" tIns="36576" bIns="36576" anchor="t">
            <a:spAutoFit/>
          </a:bodyPr>
          <a:lstStyle/>
          <a:p>
            <a:pPr algn="l">
              <a:lnSpc>
                <a:spcPct val="110000"/>
              </a:lnSpc>
            </a:pPr>
            <a:r>
              <a:rPr sz="1600" b="0" i="0">
                <a:solidFill>
                  <a:srgbClr val="475569"/>
                </a:solidFill>
                <a:latin typeface="Arial"/>
              </a:rPr>
              <a:t>A two-week pilot your platform team runs, with pass criteria agreed up front.</a:t>
            </a:r>
          </a:p>
        </p:txBody>
      </p:sp>
      <p:sp>
        <p:nvSpPr>
          <p:cNvPr id="6" name="Rounded Rectangle 5"/>
          <p:cNvSpPr/>
          <p:nvPr/>
        </p:nvSpPr>
        <p:spPr>
          <a:xfrm>
            <a:off x="548640" y="2011680"/>
            <a:ext cx="3593592" cy="196596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49808" y="2240280"/>
            <a:ext cx="73152" cy="38404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6112" y="2194560"/>
            <a:ext cx="3090672"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WEEK 1</a:t>
            </a:r>
          </a:p>
        </p:txBody>
      </p:sp>
      <p:sp>
        <p:nvSpPr>
          <p:cNvPr id="9" name="TextBox 8"/>
          <p:cNvSpPr txBox="1"/>
          <p:nvPr/>
        </p:nvSpPr>
        <p:spPr>
          <a:xfrm>
            <a:off x="896112" y="2423160"/>
            <a:ext cx="3090672" cy="685800"/>
          </a:xfrm>
          <a:prstGeom prst="rect">
            <a:avLst/>
          </a:prstGeom>
          <a:noFill/>
        </p:spPr>
        <p:txBody>
          <a:bodyPr wrap="square" lIns="73152" rIns="73152" tIns="36576" bIns="36576" anchor="t">
            <a:spAutoFit/>
          </a:bodyPr>
          <a:lstStyle/>
          <a:p>
            <a:pPr algn="l">
              <a:lnSpc>
                <a:spcPct val="100000"/>
              </a:lnSpc>
            </a:pPr>
            <a:r>
              <a:rPr sz="1700" b="1" i="0">
                <a:solidFill>
                  <a:srgbClr val="0F172A"/>
                </a:solidFill>
                <a:latin typeface="Arial"/>
              </a:rPr>
              <a:t>Incident investigation</a:t>
            </a:r>
          </a:p>
        </p:txBody>
      </p:sp>
      <p:sp>
        <p:nvSpPr>
          <p:cNvPr id="10" name="TextBox 9"/>
          <p:cNvSpPr txBox="1"/>
          <p:nvPr/>
        </p:nvSpPr>
        <p:spPr>
          <a:xfrm>
            <a:off x="749808" y="2926080"/>
            <a:ext cx="3227832" cy="960119"/>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One cluster, read-only Kubernetes RCA, alerts from your existing Grafana or Datadog. Approvals on every write.</a:t>
            </a:r>
          </a:p>
        </p:txBody>
      </p:sp>
      <p:sp>
        <p:nvSpPr>
          <p:cNvPr id="11" name="Rounded Rectangle 10"/>
          <p:cNvSpPr/>
          <p:nvPr/>
        </p:nvSpPr>
        <p:spPr>
          <a:xfrm>
            <a:off x="4297679" y="2011680"/>
            <a:ext cx="3593592" cy="196596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98847" y="2240280"/>
            <a:ext cx="73152" cy="3840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45151" y="2194560"/>
            <a:ext cx="3090672" cy="274320"/>
          </a:xfrm>
          <a:prstGeom prst="rect">
            <a:avLst/>
          </a:prstGeom>
          <a:noFill/>
        </p:spPr>
        <p:txBody>
          <a:bodyPr wrap="square" lIns="73152" rIns="73152" tIns="36576" bIns="36576" anchor="t">
            <a:spAutoFit/>
          </a:bodyPr>
          <a:lstStyle/>
          <a:p>
            <a:pPr algn="l">
              <a:lnSpc>
                <a:spcPct val="110000"/>
              </a:lnSpc>
            </a:pPr>
            <a:r>
              <a:rPr sz="1000" b="1" i="0">
                <a:solidFill>
                  <a:srgbClr val="0F766E"/>
                </a:solidFill>
                <a:latin typeface="Arial"/>
              </a:rPr>
              <a:t>WEEK 2</a:t>
            </a:r>
          </a:p>
        </p:txBody>
      </p:sp>
      <p:sp>
        <p:nvSpPr>
          <p:cNvPr id="14" name="TextBox 13"/>
          <p:cNvSpPr txBox="1"/>
          <p:nvPr/>
        </p:nvSpPr>
        <p:spPr>
          <a:xfrm>
            <a:off x="4645151" y="2423160"/>
            <a:ext cx="3090672" cy="685800"/>
          </a:xfrm>
          <a:prstGeom prst="rect">
            <a:avLst/>
          </a:prstGeom>
          <a:noFill/>
        </p:spPr>
        <p:txBody>
          <a:bodyPr wrap="square" lIns="73152" rIns="73152" tIns="36576" bIns="36576" anchor="t">
            <a:spAutoFit/>
          </a:bodyPr>
          <a:lstStyle/>
          <a:p>
            <a:pPr algn="l">
              <a:lnSpc>
                <a:spcPct val="100000"/>
              </a:lnSpc>
            </a:pPr>
            <a:r>
              <a:rPr sz="1700" b="1" i="0">
                <a:solidFill>
                  <a:srgbClr val="0F172A"/>
                </a:solidFill>
                <a:latin typeface="Arial"/>
              </a:rPr>
              <a:t>Add PR review</a:t>
            </a:r>
          </a:p>
        </p:txBody>
      </p:sp>
      <p:sp>
        <p:nvSpPr>
          <p:cNvPr id="15" name="TextBox 14"/>
          <p:cNvSpPr txBox="1"/>
          <p:nvPr/>
        </p:nvSpPr>
        <p:spPr>
          <a:xfrm>
            <a:off x="4498847" y="2926080"/>
            <a:ext cx="3227832" cy="960119"/>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One repository on the Code Reviewer. Agent-opened fixes go through your normal review and merge.</a:t>
            </a:r>
          </a:p>
        </p:txBody>
      </p:sp>
      <p:sp>
        <p:nvSpPr>
          <p:cNvPr id="16" name="Rounded Rectangle 15"/>
          <p:cNvSpPr/>
          <p:nvPr/>
        </p:nvSpPr>
        <p:spPr>
          <a:xfrm>
            <a:off x="8046719" y="2011680"/>
            <a:ext cx="3593592" cy="196596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7888" y="2240280"/>
            <a:ext cx="73152" cy="38404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94192" y="2194560"/>
            <a:ext cx="3090672" cy="274320"/>
          </a:xfrm>
          <a:prstGeom prst="rect">
            <a:avLst/>
          </a:prstGeom>
          <a:noFill/>
        </p:spPr>
        <p:txBody>
          <a:bodyPr wrap="square" lIns="73152" rIns="73152" tIns="36576" bIns="36576" anchor="t">
            <a:spAutoFit/>
          </a:bodyPr>
          <a:lstStyle/>
          <a:p>
            <a:pPr algn="l">
              <a:lnSpc>
                <a:spcPct val="110000"/>
              </a:lnSpc>
            </a:pPr>
            <a:r>
              <a:rPr sz="1000" b="1" i="0">
                <a:solidFill>
                  <a:srgbClr val="B91C1C"/>
                </a:solidFill>
                <a:latin typeface="Arial"/>
              </a:rPr>
              <a:t>DECISION</a:t>
            </a:r>
          </a:p>
        </p:txBody>
      </p:sp>
      <p:sp>
        <p:nvSpPr>
          <p:cNvPr id="19" name="TextBox 18"/>
          <p:cNvSpPr txBox="1"/>
          <p:nvPr/>
        </p:nvSpPr>
        <p:spPr>
          <a:xfrm>
            <a:off x="8394192" y="2423160"/>
            <a:ext cx="3090672" cy="685800"/>
          </a:xfrm>
          <a:prstGeom prst="rect">
            <a:avLst/>
          </a:prstGeom>
          <a:noFill/>
        </p:spPr>
        <p:txBody>
          <a:bodyPr wrap="square" lIns="73152" rIns="73152" tIns="36576" bIns="36576" anchor="t">
            <a:spAutoFit/>
          </a:bodyPr>
          <a:lstStyle/>
          <a:p>
            <a:pPr algn="l">
              <a:lnSpc>
                <a:spcPct val="100000"/>
              </a:lnSpc>
            </a:pPr>
            <a:r>
              <a:rPr sz="1700" b="1" i="0">
                <a:solidFill>
                  <a:srgbClr val="0F172A"/>
                </a:solidFill>
                <a:latin typeface="Arial"/>
              </a:rPr>
              <a:t>Scale or stop</a:t>
            </a:r>
          </a:p>
        </p:txBody>
      </p:sp>
      <p:sp>
        <p:nvSpPr>
          <p:cNvPr id="20" name="TextBox 19"/>
          <p:cNvSpPr txBox="1"/>
          <p:nvPr/>
        </p:nvSpPr>
        <p:spPr>
          <a:xfrm>
            <a:off x="8247888" y="2926080"/>
            <a:ext cx="3227832" cy="960119"/>
          </a:xfrm>
          <a:prstGeom prst="rect">
            <a:avLst/>
          </a:prstGeom>
          <a:noFill/>
        </p:spPr>
        <p:txBody>
          <a:bodyPr wrap="square" lIns="73152" rIns="73152" tIns="36576" bIns="36576" anchor="t">
            <a:spAutoFit/>
          </a:bodyPr>
          <a:lstStyle/>
          <a:p>
            <a:pPr algn="l">
              <a:lnSpc>
                <a:spcPct val="115000"/>
              </a:lnSpc>
            </a:pPr>
            <a:r>
              <a:rPr sz="1250" b="0" i="0">
                <a:solidFill>
                  <a:srgbClr val="475569"/>
                </a:solidFill>
                <a:latin typeface="Arial"/>
              </a:rPr>
              <a:t>Review the scorecard together. Expand to more teams only if the numbers hold.</a:t>
            </a:r>
          </a:p>
        </p:txBody>
      </p:sp>
      <p:sp>
        <p:nvSpPr>
          <p:cNvPr id="21" name="TextBox 20"/>
          <p:cNvSpPr txBox="1"/>
          <p:nvPr/>
        </p:nvSpPr>
        <p:spPr>
          <a:xfrm>
            <a:off x="548640" y="4160520"/>
            <a:ext cx="5486400" cy="320040"/>
          </a:xfrm>
          <a:prstGeom prst="rect">
            <a:avLst/>
          </a:prstGeom>
          <a:noFill/>
        </p:spPr>
        <p:txBody>
          <a:bodyPr wrap="square" lIns="73152" rIns="73152" tIns="36576" bIns="36576" anchor="t">
            <a:spAutoFit/>
          </a:bodyPr>
          <a:lstStyle/>
          <a:p>
            <a:pPr algn="l">
              <a:lnSpc>
                <a:spcPct val="110000"/>
              </a:lnSpc>
            </a:pPr>
            <a:r>
              <a:rPr sz="1000" b="1" i="0">
                <a:solidFill>
                  <a:srgbClr val="94A3B8"/>
                </a:solidFill>
                <a:latin typeface="Arial"/>
              </a:rPr>
              <a:t>PILOT SCORECARD  ·  proposed thresholds, agreed with you</a:t>
            </a:r>
          </a:p>
        </p:txBody>
      </p:sp>
      <p:sp>
        <p:nvSpPr>
          <p:cNvPr id="22" name="Rounded Rectangle 21"/>
          <p:cNvSpPr/>
          <p:nvPr/>
        </p:nvSpPr>
        <p:spPr>
          <a:xfrm>
            <a:off x="548640" y="4480560"/>
            <a:ext cx="2670048" cy="11430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1520" y="4572000"/>
            <a:ext cx="2377440" cy="320040"/>
          </a:xfrm>
          <a:prstGeom prst="rect">
            <a:avLst/>
          </a:prstGeom>
          <a:noFill/>
        </p:spPr>
        <p:txBody>
          <a:bodyPr wrap="square" lIns="73152" rIns="73152" tIns="36576" bIns="36576" anchor="t">
            <a:spAutoFit/>
          </a:bodyPr>
          <a:lstStyle/>
          <a:p>
            <a:pPr algn="l">
              <a:lnSpc>
                <a:spcPct val="110000"/>
              </a:lnSpc>
            </a:pPr>
            <a:r>
              <a:rPr sz="1400" b="1" i="0">
                <a:solidFill>
                  <a:srgbClr val="0F172A"/>
                </a:solidFill>
                <a:latin typeface="Arial"/>
              </a:rPr>
              <a:t>Evidence</a:t>
            </a:r>
          </a:p>
        </p:txBody>
      </p:sp>
      <p:sp>
        <p:nvSpPr>
          <p:cNvPr id="24" name="TextBox 23"/>
          <p:cNvSpPr txBox="1"/>
          <p:nvPr/>
        </p:nvSpPr>
        <p:spPr>
          <a:xfrm>
            <a:off x="731520" y="4892040"/>
            <a:ext cx="2377440" cy="731520"/>
          </a:xfrm>
          <a:prstGeom prst="rect">
            <a:avLst/>
          </a:prstGeom>
          <a:noFill/>
        </p:spPr>
        <p:txBody>
          <a:bodyPr wrap="square" lIns="73152" rIns="73152" tIns="36576" bIns="36576" anchor="t">
            <a:spAutoFit/>
          </a:bodyPr>
          <a:lstStyle/>
          <a:p>
            <a:pPr algn="l">
              <a:lnSpc>
                <a:spcPct val="112000"/>
              </a:lnSpc>
            </a:pPr>
            <a:r>
              <a:rPr sz="1150" b="0" i="0">
                <a:solidFill>
                  <a:srgbClr val="475569"/>
                </a:solidFill>
                <a:latin typeface="Arial"/>
              </a:rPr>
              <a:t>Each RCA cites the change and two or more evidence types</a:t>
            </a:r>
          </a:p>
        </p:txBody>
      </p:sp>
      <p:sp>
        <p:nvSpPr>
          <p:cNvPr id="25" name="Rounded Rectangle 24"/>
          <p:cNvSpPr/>
          <p:nvPr/>
        </p:nvSpPr>
        <p:spPr>
          <a:xfrm>
            <a:off x="3355848" y="4480560"/>
            <a:ext cx="2670048" cy="11430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538728" y="4572000"/>
            <a:ext cx="2377440" cy="320040"/>
          </a:xfrm>
          <a:prstGeom prst="rect">
            <a:avLst/>
          </a:prstGeom>
          <a:noFill/>
        </p:spPr>
        <p:txBody>
          <a:bodyPr wrap="square" lIns="73152" rIns="73152" tIns="36576" bIns="36576" anchor="t">
            <a:spAutoFit/>
          </a:bodyPr>
          <a:lstStyle/>
          <a:p>
            <a:pPr algn="l">
              <a:lnSpc>
                <a:spcPct val="110000"/>
              </a:lnSpc>
            </a:pPr>
            <a:r>
              <a:rPr sz="1400" b="1" i="0">
                <a:solidFill>
                  <a:srgbClr val="0F172A"/>
                </a:solidFill>
                <a:latin typeface="Arial"/>
              </a:rPr>
              <a:t>Usefulness</a:t>
            </a:r>
          </a:p>
        </p:txBody>
      </p:sp>
      <p:sp>
        <p:nvSpPr>
          <p:cNvPr id="27" name="TextBox 26"/>
          <p:cNvSpPr txBox="1"/>
          <p:nvPr/>
        </p:nvSpPr>
        <p:spPr>
          <a:xfrm>
            <a:off x="3538728" y="4892040"/>
            <a:ext cx="2377440" cy="731520"/>
          </a:xfrm>
          <a:prstGeom prst="rect">
            <a:avLst/>
          </a:prstGeom>
          <a:noFill/>
        </p:spPr>
        <p:txBody>
          <a:bodyPr wrap="square" lIns="73152" rIns="73152" tIns="36576" bIns="36576" anchor="t">
            <a:spAutoFit/>
          </a:bodyPr>
          <a:lstStyle/>
          <a:p>
            <a:pPr algn="l">
              <a:lnSpc>
                <a:spcPct val="112000"/>
              </a:lnSpc>
            </a:pPr>
            <a:r>
              <a:rPr sz="1150" b="0" i="0">
                <a:solidFill>
                  <a:srgbClr val="475569"/>
                </a:solidFill>
                <a:latin typeface="Arial"/>
              </a:rPr>
              <a:t>On-call rates the RCA actionable in 4 of 5 incidents</a:t>
            </a:r>
          </a:p>
        </p:txBody>
      </p:sp>
      <p:sp>
        <p:nvSpPr>
          <p:cNvPr id="28" name="Rounded Rectangle 27"/>
          <p:cNvSpPr/>
          <p:nvPr/>
        </p:nvSpPr>
        <p:spPr>
          <a:xfrm>
            <a:off x="6163055" y="4480560"/>
            <a:ext cx="2670048" cy="11430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45936" y="4572000"/>
            <a:ext cx="2377440" cy="320040"/>
          </a:xfrm>
          <a:prstGeom prst="rect">
            <a:avLst/>
          </a:prstGeom>
          <a:noFill/>
        </p:spPr>
        <p:txBody>
          <a:bodyPr wrap="square" lIns="73152" rIns="73152" tIns="36576" bIns="36576" anchor="t">
            <a:spAutoFit/>
          </a:bodyPr>
          <a:lstStyle/>
          <a:p>
            <a:pPr algn="l">
              <a:lnSpc>
                <a:spcPct val="110000"/>
              </a:lnSpc>
            </a:pPr>
            <a:r>
              <a:rPr sz="1400" b="1" i="0">
                <a:solidFill>
                  <a:srgbClr val="0F172A"/>
                </a:solidFill>
                <a:latin typeface="Arial"/>
              </a:rPr>
              <a:t>Control</a:t>
            </a:r>
          </a:p>
        </p:txBody>
      </p:sp>
      <p:sp>
        <p:nvSpPr>
          <p:cNvPr id="30" name="TextBox 29"/>
          <p:cNvSpPr txBox="1"/>
          <p:nvPr/>
        </p:nvSpPr>
        <p:spPr>
          <a:xfrm>
            <a:off x="6345936" y="4892040"/>
            <a:ext cx="2377440" cy="731520"/>
          </a:xfrm>
          <a:prstGeom prst="rect">
            <a:avLst/>
          </a:prstGeom>
          <a:noFill/>
        </p:spPr>
        <p:txBody>
          <a:bodyPr wrap="square" lIns="73152" rIns="73152" tIns="36576" bIns="36576" anchor="t">
            <a:spAutoFit/>
          </a:bodyPr>
          <a:lstStyle/>
          <a:p>
            <a:pPr algn="l">
              <a:lnSpc>
                <a:spcPct val="112000"/>
              </a:lnSpc>
            </a:pPr>
            <a:r>
              <a:rPr sz="1150" b="0" i="0">
                <a:solidFill>
                  <a:srgbClr val="475569"/>
                </a:solidFill>
                <a:latin typeface="Arial"/>
              </a:rPr>
              <a:t>Zero out-of-policy tool calls; every write approved</a:t>
            </a:r>
          </a:p>
        </p:txBody>
      </p:sp>
      <p:sp>
        <p:nvSpPr>
          <p:cNvPr id="31" name="Rounded Rectangle 30"/>
          <p:cNvSpPr/>
          <p:nvPr/>
        </p:nvSpPr>
        <p:spPr>
          <a:xfrm>
            <a:off x="8970263" y="4480560"/>
            <a:ext cx="2670048" cy="11430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153143" y="4572000"/>
            <a:ext cx="2377440" cy="320040"/>
          </a:xfrm>
          <a:prstGeom prst="rect">
            <a:avLst/>
          </a:prstGeom>
          <a:noFill/>
        </p:spPr>
        <p:txBody>
          <a:bodyPr wrap="square" lIns="73152" rIns="73152" tIns="36576" bIns="36576" anchor="t">
            <a:spAutoFit/>
          </a:bodyPr>
          <a:lstStyle/>
          <a:p>
            <a:pPr algn="l">
              <a:lnSpc>
                <a:spcPct val="110000"/>
              </a:lnSpc>
            </a:pPr>
            <a:r>
              <a:rPr sz="1400" b="1" i="0">
                <a:solidFill>
                  <a:srgbClr val="0F172A"/>
                </a:solidFill>
                <a:latin typeface="Arial"/>
              </a:rPr>
              <a:t>Cost</a:t>
            </a:r>
          </a:p>
        </p:txBody>
      </p:sp>
      <p:sp>
        <p:nvSpPr>
          <p:cNvPr id="33" name="TextBox 32"/>
          <p:cNvSpPr txBox="1"/>
          <p:nvPr/>
        </p:nvSpPr>
        <p:spPr>
          <a:xfrm>
            <a:off x="9153143" y="4892040"/>
            <a:ext cx="2377440" cy="731520"/>
          </a:xfrm>
          <a:prstGeom prst="rect">
            <a:avLst/>
          </a:prstGeom>
          <a:noFill/>
        </p:spPr>
        <p:txBody>
          <a:bodyPr wrap="square" lIns="73152" rIns="73152" tIns="36576" bIns="36576" anchor="t">
            <a:spAutoFit/>
          </a:bodyPr>
          <a:lstStyle/>
          <a:p>
            <a:pPr algn="l">
              <a:lnSpc>
                <a:spcPct val="112000"/>
              </a:lnSpc>
            </a:pPr>
            <a:r>
              <a:rPr sz="1150" b="0" i="0">
                <a:solidFill>
                  <a:srgbClr val="475569"/>
                </a:solidFill>
                <a:latin typeface="Arial"/>
              </a:rPr>
              <a:t>Cost per run within the agreed budget</a:t>
            </a:r>
          </a:p>
        </p:txBody>
      </p:sp>
      <p:sp>
        <p:nvSpPr>
          <p:cNvPr id="34" name="Rounded Rectangle 33"/>
          <p:cNvSpPr/>
          <p:nvPr/>
        </p:nvSpPr>
        <p:spPr>
          <a:xfrm>
            <a:off x="548640" y="5806440"/>
            <a:ext cx="11091672" cy="566928"/>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73152" tIns="36576" bIns="36576"/>
          <a:lstStyle/>
          <a:p>
            <a:pPr algn="l">
              <a:lnSpc>
                <a:spcPct val="110000"/>
              </a:lnSpc>
            </a:pPr>
            <a:r>
              <a:rPr sz="1100" b="1" i="0">
                <a:solidFill>
                  <a:srgbClr val="A5B4FC"/>
                </a:solidFill>
                <a:latin typeface="Arial"/>
              </a:rPr>
              <a:t>ASK   </a:t>
            </a:r>
            <a:r>
              <a:rPr sz="1400" b="0" i="0">
                <a:solidFill>
                  <a:srgbClr val="FFFFFF"/>
                </a:solidFill>
                <a:latin typeface="Arial"/>
              </a:rPr>
              <a:t>Which workflow would you sponsor first, and who on your team owns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BACKUP</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BACKUP A</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How I built this pitch</a:t>
            </a:r>
          </a:p>
        </p:txBody>
      </p:sp>
      <p:sp>
        <p:nvSpPr>
          <p:cNvPr id="5" name="TextBox 4"/>
          <p:cNvSpPr txBox="1"/>
          <p:nvPr/>
        </p:nvSpPr>
        <p:spPr>
          <a:xfrm>
            <a:off x="548640" y="1371600"/>
            <a:ext cx="11064240" cy="457200"/>
          </a:xfrm>
          <a:prstGeom prst="rect">
            <a:avLst/>
          </a:prstGeom>
          <a:noFill/>
        </p:spPr>
        <p:txBody>
          <a:bodyPr wrap="square" lIns="73152" rIns="73152" tIns="36576" bIns="36576" anchor="t">
            <a:spAutoFit/>
          </a:bodyPr>
          <a:lstStyle/>
          <a:p>
            <a:pPr algn="l">
              <a:lnSpc>
                <a:spcPct val="110000"/>
              </a:lnSpc>
            </a:pPr>
            <a:r>
              <a:rPr sz="1600" b="0" i="0">
                <a:solidFill>
                  <a:srgbClr val="475569"/>
                </a:solidFill>
                <a:latin typeface="Arial"/>
              </a:rPr>
              <a:t>Every claim traces to Komodor's own material or to something run in this lab.</a:t>
            </a:r>
          </a:p>
        </p:txBody>
      </p:sp>
      <p:sp>
        <p:nvSpPr>
          <p:cNvPr id="6" name="Rounded Rectangle 5"/>
          <p:cNvSpPr/>
          <p:nvPr/>
        </p:nvSpPr>
        <p:spPr>
          <a:xfrm>
            <a:off x="548640" y="2011680"/>
            <a:ext cx="11091672" cy="53035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2048256"/>
            <a:ext cx="3566160" cy="457200"/>
          </a:xfrm>
          <a:prstGeom prst="rect">
            <a:avLst/>
          </a:prstGeom>
          <a:noFill/>
        </p:spPr>
        <p:txBody>
          <a:bodyPr wrap="square" lIns="73152" rIns="73152" tIns="36576" bIns="36576" anchor="ctr">
            <a:spAutoFit/>
          </a:bodyPr>
          <a:lstStyle/>
          <a:p>
            <a:pPr algn="l">
              <a:lnSpc>
                <a:spcPct val="110000"/>
              </a:lnSpc>
            </a:pPr>
            <a:r>
              <a:rPr sz="1250" b="1" i="0">
                <a:solidFill>
                  <a:srgbClr val="0F172A"/>
                </a:solidFill>
                <a:latin typeface="Arial"/>
              </a:rPr>
              <a:t>Komodor KAOP launch (Sept 2026)</a:t>
            </a:r>
          </a:p>
        </p:txBody>
      </p:sp>
      <p:sp>
        <p:nvSpPr>
          <p:cNvPr id="8" name="TextBox 7"/>
          <p:cNvSpPr txBox="1"/>
          <p:nvPr/>
        </p:nvSpPr>
        <p:spPr>
          <a:xfrm>
            <a:off x="4297680" y="2048256"/>
            <a:ext cx="7223760" cy="457200"/>
          </a:xfrm>
          <a:prstGeom prst="rect">
            <a:avLst/>
          </a:prstGeom>
          <a:noFill/>
        </p:spPr>
        <p:txBody>
          <a:bodyPr wrap="square" lIns="73152" rIns="73152" tIns="36576" bIns="36576" anchor="ctr">
            <a:spAutoFit/>
          </a:bodyPr>
          <a:lstStyle/>
          <a:p>
            <a:pPr algn="l">
              <a:lnSpc>
                <a:spcPct val="110000"/>
              </a:lnSpc>
            </a:pPr>
            <a:r>
              <a:rPr sz="1200" b="0" i="0">
                <a:solidFill>
                  <a:srgbClr val="475569"/>
                </a:solidFill>
                <a:latin typeface="Arial"/>
              </a:rPr>
              <a:t>Positioning: build, run, govern, optimize. Gartner's cancellation stat and the CTO's line that building the agents isn't the hard part.</a:t>
            </a:r>
          </a:p>
        </p:txBody>
      </p:sp>
      <p:sp>
        <p:nvSpPr>
          <p:cNvPr id="9" name="Rounded Rectangle 8"/>
          <p:cNvSpPr/>
          <p:nvPr/>
        </p:nvSpPr>
        <p:spPr>
          <a:xfrm>
            <a:off x="548640" y="2615184"/>
            <a:ext cx="11091672" cy="53035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651760"/>
            <a:ext cx="3566160" cy="457200"/>
          </a:xfrm>
          <a:prstGeom prst="rect">
            <a:avLst/>
          </a:prstGeom>
          <a:noFill/>
        </p:spPr>
        <p:txBody>
          <a:bodyPr wrap="square" lIns="73152" rIns="73152" tIns="36576" bIns="36576" anchor="ctr">
            <a:spAutoFit/>
          </a:bodyPr>
          <a:lstStyle/>
          <a:p>
            <a:pPr algn="l">
              <a:lnSpc>
                <a:spcPct val="110000"/>
              </a:lnSpc>
            </a:pPr>
            <a:r>
              <a:rPr sz="1250" b="1" i="0">
                <a:solidFill>
                  <a:srgbClr val="0F172A"/>
                </a:solidFill>
                <a:latin typeface="Arial"/>
              </a:rPr>
              <a:t>KAOP docs: Security &amp; governance</a:t>
            </a:r>
          </a:p>
        </p:txBody>
      </p:sp>
      <p:sp>
        <p:nvSpPr>
          <p:cNvPr id="11" name="TextBox 10"/>
          <p:cNvSpPr txBox="1"/>
          <p:nvPr/>
        </p:nvSpPr>
        <p:spPr>
          <a:xfrm>
            <a:off x="4297680" y="2651760"/>
            <a:ext cx="7223760" cy="457200"/>
          </a:xfrm>
          <a:prstGeom prst="rect">
            <a:avLst/>
          </a:prstGeom>
          <a:noFill/>
        </p:spPr>
        <p:txBody>
          <a:bodyPr wrap="square" lIns="73152" rIns="73152" tIns="36576" bIns="36576" anchor="ctr">
            <a:spAutoFit/>
          </a:bodyPr>
          <a:lstStyle/>
          <a:p>
            <a:pPr algn="l">
              <a:lnSpc>
                <a:spcPct val="110000"/>
              </a:lnSpc>
            </a:pPr>
            <a:r>
              <a:rPr sz="1200" b="0" i="0">
                <a:solidFill>
                  <a:srgbClr val="475569"/>
                </a:solidFill>
                <a:latin typeface="Arial"/>
              </a:rPr>
              <a:t>The six governance layers, approvals, audit log and Access explorer. Slides 4 and 5.</a:t>
            </a:r>
          </a:p>
        </p:txBody>
      </p:sp>
      <p:sp>
        <p:nvSpPr>
          <p:cNvPr id="12" name="Rounded Rectangle 11"/>
          <p:cNvSpPr/>
          <p:nvPr/>
        </p:nvSpPr>
        <p:spPr>
          <a:xfrm>
            <a:off x="548640" y="3218688"/>
            <a:ext cx="11091672" cy="53035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31520" y="3255264"/>
            <a:ext cx="3566160" cy="457200"/>
          </a:xfrm>
          <a:prstGeom prst="rect">
            <a:avLst/>
          </a:prstGeom>
          <a:noFill/>
        </p:spPr>
        <p:txBody>
          <a:bodyPr wrap="square" lIns="73152" rIns="73152" tIns="36576" bIns="36576" anchor="ctr">
            <a:spAutoFit/>
          </a:bodyPr>
          <a:lstStyle/>
          <a:p>
            <a:pPr algn="l">
              <a:lnSpc>
                <a:spcPct val="110000"/>
              </a:lnSpc>
            </a:pPr>
            <a:r>
              <a:rPr sz="1250" b="1" i="0">
                <a:solidFill>
                  <a:srgbClr val="0F172A"/>
                </a:solidFill>
                <a:latin typeface="Arial"/>
              </a:rPr>
              <a:t>KAOP docs: Agent catalog</a:t>
            </a:r>
          </a:p>
        </p:txBody>
      </p:sp>
      <p:sp>
        <p:nvSpPr>
          <p:cNvPr id="14" name="TextBox 13"/>
          <p:cNvSpPr txBox="1"/>
          <p:nvPr/>
        </p:nvSpPr>
        <p:spPr>
          <a:xfrm>
            <a:off x="4297680" y="3255264"/>
            <a:ext cx="7223760" cy="457200"/>
          </a:xfrm>
          <a:prstGeom prst="rect">
            <a:avLst/>
          </a:prstGeom>
          <a:noFill/>
        </p:spPr>
        <p:txBody>
          <a:bodyPr wrap="square" lIns="73152" rIns="73152" tIns="36576" bIns="36576" anchor="ctr">
            <a:spAutoFit/>
          </a:bodyPr>
          <a:lstStyle/>
          <a:p>
            <a:pPr algn="l">
              <a:lnSpc>
                <a:spcPct val="110000"/>
              </a:lnSpc>
            </a:pPr>
            <a:r>
              <a:rPr sz="1200" b="0" i="0">
                <a:solidFill>
                  <a:srgbClr val="475569"/>
                </a:solidFill>
                <a:latin typeface="Arial"/>
              </a:rPr>
              <a:t>Kubernetes RCA, Grafana Investigator, Remediation, GitHub Agent and Code Reviewer: what each reads, changes and where it stops. Slides 6 and 7.</a:t>
            </a:r>
          </a:p>
        </p:txBody>
      </p:sp>
      <p:sp>
        <p:nvSpPr>
          <p:cNvPr id="15" name="Rounded Rectangle 14"/>
          <p:cNvSpPr/>
          <p:nvPr/>
        </p:nvSpPr>
        <p:spPr>
          <a:xfrm>
            <a:off x="548640" y="3822191"/>
            <a:ext cx="11091672" cy="53035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858768"/>
            <a:ext cx="3566160" cy="457200"/>
          </a:xfrm>
          <a:prstGeom prst="rect">
            <a:avLst/>
          </a:prstGeom>
          <a:noFill/>
        </p:spPr>
        <p:txBody>
          <a:bodyPr wrap="square" lIns="73152" rIns="73152" tIns="36576" bIns="36576" anchor="ctr">
            <a:spAutoFit/>
          </a:bodyPr>
          <a:lstStyle/>
          <a:p>
            <a:pPr algn="l">
              <a:lnSpc>
                <a:spcPct val="110000"/>
              </a:lnSpc>
            </a:pPr>
            <a:r>
              <a:rPr sz="1250" b="1" i="0">
                <a:solidFill>
                  <a:srgbClr val="0F172A"/>
                </a:solidFill>
                <a:latin typeface="Arial"/>
              </a:rPr>
              <a:t>KAOP docs: Incident management module</a:t>
            </a:r>
          </a:p>
        </p:txBody>
      </p:sp>
      <p:sp>
        <p:nvSpPr>
          <p:cNvPr id="17" name="TextBox 16"/>
          <p:cNvSpPr txBox="1"/>
          <p:nvPr/>
        </p:nvSpPr>
        <p:spPr>
          <a:xfrm>
            <a:off x="4297680" y="3858768"/>
            <a:ext cx="7223760" cy="457200"/>
          </a:xfrm>
          <a:prstGeom prst="rect">
            <a:avLst/>
          </a:prstGeom>
          <a:noFill/>
        </p:spPr>
        <p:txBody>
          <a:bodyPr wrap="square" lIns="73152" rIns="73152" tIns="36576" bIns="36576" anchor="ctr">
            <a:spAutoFit/>
          </a:bodyPr>
          <a:lstStyle/>
          <a:p>
            <a:pPr algn="l">
              <a:lnSpc>
                <a:spcPct val="110000"/>
              </a:lnSpc>
            </a:pPr>
            <a:r>
              <a:rPr sz="1200" b="0" i="0">
                <a:solidFill>
                  <a:srgbClr val="475569"/>
                </a:solidFill>
                <a:latin typeface="Arial"/>
              </a:rPr>
              <a:t>The Production Alert Investigation workflow: source, correlate, investigate, remediate.</a:t>
            </a:r>
          </a:p>
        </p:txBody>
      </p:sp>
      <p:sp>
        <p:nvSpPr>
          <p:cNvPr id="18" name="Rounded Rectangle 17"/>
          <p:cNvSpPr/>
          <p:nvPr/>
        </p:nvSpPr>
        <p:spPr>
          <a:xfrm>
            <a:off x="548640" y="4425696"/>
            <a:ext cx="11091672" cy="53035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20" y="4462272"/>
            <a:ext cx="3566160" cy="457200"/>
          </a:xfrm>
          <a:prstGeom prst="rect">
            <a:avLst/>
          </a:prstGeom>
          <a:noFill/>
        </p:spPr>
        <p:txBody>
          <a:bodyPr wrap="square" lIns="73152" rIns="73152" tIns="36576" bIns="36576" anchor="ctr">
            <a:spAutoFit/>
          </a:bodyPr>
          <a:lstStyle/>
          <a:p>
            <a:pPr algn="l">
              <a:lnSpc>
                <a:spcPct val="110000"/>
              </a:lnSpc>
            </a:pPr>
            <a:r>
              <a:rPr sz="1250" b="1" i="0">
                <a:solidFill>
                  <a:srgbClr val="0F172A"/>
                </a:solidFill>
                <a:latin typeface="Arial"/>
              </a:rPr>
              <a:t>Klaudia announcement (2024)</a:t>
            </a:r>
          </a:p>
        </p:txBody>
      </p:sp>
      <p:sp>
        <p:nvSpPr>
          <p:cNvPr id="20" name="TextBox 19"/>
          <p:cNvSpPr txBox="1"/>
          <p:nvPr/>
        </p:nvSpPr>
        <p:spPr>
          <a:xfrm>
            <a:off x="4297680" y="4462272"/>
            <a:ext cx="7223760" cy="457200"/>
          </a:xfrm>
          <a:prstGeom prst="rect">
            <a:avLst/>
          </a:prstGeom>
          <a:noFill/>
        </p:spPr>
        <p:txBody>
          <a:bodyPr wrap="square" lIns="73152" rIns="73152" tIns="36576" bIns="36576" anchor="ctr">
            <a:spAutoFit/>
          </a:bodyPr>
          <a:lstStyle/>
          <a:p>
            <a:pPr algn="l">
              <a:lnSpc>
                <a:spcPct val="110000"/>
              </a:lnSpc>
            </a:pPr>
            <a:r>
              <a:rPr sz="1200" b="0" i="0">
                <a:solidFill>
                  <a:srgbClr val="475569"/>
                </a:solidFill>
                <a:latin typeface="Arial"/>
              </a:rPr>
              <a:t>Why the RCA is credible: Komodor's existing root-cause expertise, now packaged as an agent.</a:t>
            </a:r>
          </a:p>
        </p:txBody>
      </p:sp>
      <p:sp>
        <p:nvSpPr>
          <p:cNvPr id="21" name="Rounded Rectangle 20"/>
          <p:cNvSpPr/>
          <p:nvPr/>
        </p:nvSpPr>
        <p:spPr>
          <a:xfrm>
            <a:off x="548640" y="5029200"/>
            <a:ext cx="11091672" cy="530352"/>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20" y="5065776"/>
            <a:ext cx="3566160" cy="457200"/>
          </a:xfrm>
          <a:prstGeom prst="rect">
            <a:avLst/>
          </a:prstGeom>
          <a:noFill/>
        </p:spPr>
        <p:txBody>
          <a:bodyPr wrap="square" lIns="73152" rIns="73152" tIns="36576" bIns="36576" anchor="ctr">
            <a:spAutoFit/>
          </a:bodyPr>
          <a:lstStyle/>
          <a:p>
            <a:pPr algn="l">
              <a:lnSpc>
                <a:spcPct val="110000"/>
              </a:lnSpc>
            </a:pPr>
            <a:r>
              <a:rPr sz="1250" b="1" i="0">
                <a:solidFill>
                  <a:srgbClr val="0F172A"/>
                </a:solidFill>
                <a:latin typeface="Arial"/>
              </a:rPr>
              <a:t>This lab</a:t>
            </a:r>
          </a:p>
        </p:txBody>
      </p:sp>
      <p:sp>
        <p:nvSpPr>
          <p:cNvPr id="23" name="TextBox 22"/>
          <p:cNvSpPr txBox="1"/>
          <p:nvPr/>
        </p:nvSpPr>
        <p:spPr>
          <a:xfrm>
            <a:off x="4297680" y="5065776"/>
            <a:ext cx="7223760" cy="457200"/>
          </a:xfrm>
          <a:prstGeom prst="rect">
            <a:avLst/>
          </a:prstGeom>
          <a:noFill/>
        </p:spPr>
        <p:txBody>
          <a:bodyPr wrap="square" lIns="73152" rIns="73152" tIns="36576" bIns="36576" anchor="ctr">
            <a:spAutoFit/>
          </a:bodyPr>
          <a:lstStyle/>
          <a:p>
            <a:pPr algn="l">
              <a:lnSpc>
                <a:spcPct val="110000"/>
              </a:lnSpc>
            </a:pPr>
            <a:r>
              <a:rPr sz="1200" b="0" i="0">
                <a:solidFill>
                  <a:srgbClr val="475569"/>
                </a:solidFill>
                <a:latin typeface="Arial"/>
              </a:rPr>
              <a:t>A real fault, real Grafana alert, RBAC verified with kubectl, recovery measured with and without the fix.</a:t>
            </a:r>
          </a:p>
        </p:txBody>
      </p:sp>
      <p:sp>
        <p:nvSpPr>
          <p:cNvPr id="24" name="Rounded Rectangle 23"/>
          <p:cNvSpPr/>
          <p:nvPr/>
        </p:nvSpPr>
        <p:spPr>
          <a:xfrm>
            <a:off x="548640" y="5760720"/>
            <a:ext cx="11091672" cy="566928"/>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73152" tIns="36576" bIns="36576"/>
          <a:lstStyle/>
          <a:p>
            <a:pPr algn="l">
              <a:lnSpc>
                <a:spcPct val="110000"/>
              </a:lnSpc>
            </a:pPr>
            <a:r>
              <a:rPr sz="1100" b="1" i="0">
                <a:solidFill>
                  <a:srgbClr val="A5B4FC"/>
                </a:solidFill>
                <a:latin typeface="Arial"/>
              </a:rPr>
              <a:t>STRATEGY   </a:t>
            </a:r>
            <a:r>
              <a:rPr sz="1400" b="0" i="0">
                <a:solidFill>
                  <a:srgbClr val="FFFFFF"/>
                </a:solidFill>
                <a:latin typeface="Arial"/>
              </a:rPr>
              <a:t>Lead with the platform team's pain, prove it with one real incident, close on a measurable pilot.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BACKUP</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BACKUP B</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Questions I expect, and my answers</a:t>
            </a:r>
          </a:p>
        </p:txBody>
      </p:sp>
      <p:sp>
        <p:nvSpPr>
          <p:cNvPr id="5" name="Rounded Rectangle 4"/>
          <p:cNvSpPr/>
          <p:nvPr/>
        </p:nvSpPr>
        <p:spPr>
          <a:xfrm>
            <a:off x="548640" y="1508760"/>
            <a:ext cx="11091672" cy="7772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554480"/>
            <a:ext cx="3749039" cy="685800"/>
          </a:xfrm>
          <a:prstGeom prst="rect">
            <a:avLst/>
          </a:prstGeom>
          <a:noFill/>
        </p:spPr>
        <p:txBody>
          <a:bodyPr wrap="square" lIns="73152" rIns="73152" tIns="36576" bIns="36576" anchor="ctr">
            <a:spAutoFit/>
          </a:bodyPr>
          <a:lstStyle/>
          <a:p>
            <a:pPr algn="l">
              <a:lnSpc>
                <a:spcPct val="110000"/>
              </a:lnSpc>
            </a:pPr>
            <a:r>
              <a:rPr sz="1300" b="1" i="0">
                <a:solidFill>
                  <a:srgbClr val="0F172A"/>
                </a:solidFill>
                <a:latin typeface="Arial"/>
              </a:rPr>
              <a:t>"We'll build this ourselves."</a:t>
            </a:r>
          </a:p>
        </p:txBody>
      </p:sp>
      <p:sp>
        <p:nvSpPr>
          <p:cNvPr id="7" name="TextBox 6"/>
          <p:cNvSpPr txBox="1"/>
          <p:nvPr/>
        </p:nvSpPr>
        <p:spPr>
          <a:xfrm>
            <a:off x="4480560" y="1554480"/>
            <a:ext cx="7040880" cy="685800"/>
          </a:xfrm>
          <a:prstGeom prst="rect">
            <a:avLst/>
          </a:prstGeom>
          <a:noFill/>
        </p:spPr>
        <p:txBody>
          <a:bodyPr wrap="square" lIns="73152" rIns="73152" tIns="36576" bIns="36576" anchor="ctr">
            <a:spAutoFit/>
          </a:bodyPr>
          <a:lstStyle/>
          <a:p>
            <a:pPr algn="l">
              <a:lnSpc>
                <a:spcPct val="112000"/>
              </a:lnSpc>
            </a:pPr>
            <a:r>
              <a:rPr sz="1200" b="0" i="0">
                <a:solidFill>
                  <a:srgbClr val="475569"/>
                </a:solidFill>
                <a:latin typeface="Arial"/>
              </a:rPr>
              <a:t>You can build an agent. Building the identity, approvals, audit, budgets and evaluation around every agent, for every team, is the platform. That's KAOP.</a:t>
            </a:r>
          </a:p>
        </p:txBody>
      </p:sp>
      <p:sp>
        <p:nvSpPr>
          <p:cNvPr id="8" name="Rounded Rectangle 7"/>
          <p:cNvSpPr/>
          <p:nvPr/>
        </p:nvSpPr>
        <p:spPr>
          <a:xfrm>
            <a:off x="548640" y="2377439"/>
            <a:ext cx="11091672" cy="7772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23159"/>
            <a:ext cx="3749039" cy="685800"/>
          </a:xfrm>
          <a:prstGeom prst="rect">
            <a:avLst/>
          </a:prstGeom>
          <a:noFill/>
        </p:spPr>
        <p:txBody>
          <a:bodyPr wrap="square" lIns="73152" rIns="73152" tIns="36576" bIns="36576" anchor="ctr">
            <a:spAutoFit/>
          </a:bodyPr>
          <a:lstStyle/>
          <a:p>
            <a:pPr algn="l">
              <a:lnSpc>
                <a:spcPct val="110000"/>
              </a:lnSpc>
            </a:pPr>
            <a:r>
              <a:rPr sz="1300" b="1" i="0">
                <a:solidFill>
                  <a:srgbClr val="0F172A"/>
                </a:solidFill>
                <a:latin typeface="Arial"/>
              </a:rPr>
              <a:t>"Komodor already has Klaudia. Why KAOP?"</a:t>
            </a:r>
          </a:p>
        </p:txBody>
      </p:sp>
      <p:sp>
        <p:nvSpPr>
          <p:cNvPr id="10" name="TextBox 9"/>
          <p:cNvSpPr txBox="1"/>
          <p:nvPr/>
        </p:nvSpPr>
        <p:spPr>
          <a:xfrm>
            <a:off x="4480560" y="2423159"/>
            <a:ext cx="7040880" cy="685800"/>
          </a:xfrm>
          <a:prstGeom prst="rect">
            <a:avLst/>
          </a:prstGeom>
          <a:noFill/>
        </p:spPr>
        <p:txBody>
          <a:bodyPr wrap="square" lIns="73152" rIns="73152" tIns="36576" bIns="36576" anchor="ctr">
            <a:spAutoFit/>
          </a:bodyPr>
          <a:lstStyle/>
          <a:p>
            <a:pPr algn="l">
              <a:lnSpc>
                <a:spcPct val="112000"/>
              </a:lnSpc>
            </a:pPr>
            <a:r>
              <a:rPr sz="1200" b="0" i="0">
                <a:solidFill>
                  <a:srgbClr val="475569"/>
                </a:solidFill>
                <a:latin typeface="Arial"/>
              </a:rPr>
              <a:t>Klaudia is the expertise. KAOP is the operating model: it runs Klaudia-grade agents beside your own, under one policy and one record.</a:t>
            </a:r>
          </a:p>
        </p:txBody>
      </p:sp>
      <p:sp>
        <p:nvSpPr>
          <p:cNvPr id="11" name="Rounded Rectangle 10"/>
          <p:cNvSpPr/>
          <p:nvPr/>
        </p:nvSpPr>
        <p:spPr>
          <a:xfrm>
            <a:off x="548640" y="3246120"/>
            <a:ext cx="11091672" cy="7772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3291839"/>
            <a:ext cx="3749039" cy="685800"/>
          </a:xfrm>
          <a:prstGeom prst="rect">
            <a:avLst/>
          </a:prstGeom>
          <a:noFill/>
        </p:spPr>
        <p:txBody>
          <a:bodyPr wrap="square" lIns="73152" rIns="73152" tIns="36576" bIns="36576" anchor="ctr">
            <a:spAutoFit/>
          </a:bodyPr>
          <a:lstStyle/>
          <a:p>
            <a:pPr algn="l">
              <a:lnSpc>
                <a:spcPct val="110000"/>
              </a:lnSpc>
            </a:pPr>
            <a:r>
              <a:rPr sz="1300" b="1" i="0">
                <a:solidFill>
                  <a:srgbClr val="0F172A"/>
                </a:solidFill>
                <a:latin typeface="Arial"/>
              </a:rPr>
              <a:t>"What if the agent is wrong?"</a:t>
            </a:r>
          </a:p>
        </p:txBody>
      </p:sp>
      <p:sp>
        <p:nvSpPr>
          <p:cNvPr id="13" name="TextBox 12"/>
          <p:cNvSpPr txBox="1"/>
          <p:nvPr/>
        </p:nvSpPr>
        <p:spPr>
          <a:xfrm>
            <a:off x="4480560" y="3291839"/>
            <a:ext cx="7040880" cy="685800"/>
          </a:xfrm>
          <a:prstGeom prst="rect">
            <a:avLst/>
          </a:prstGeom>
          <a:noFill/>
        </p:spPr>
        <p:txBody>
          <a:bodyPr wrap="square" lIns="73152" rIns="73152" tIns="36576" bIns="36576" anchor="ctr">
            <a:spAutoFit/>
          </a:bodyPr>
          <a:lstStyle/>
          <a:p>
            <a:pPr algn="l">
              <a:lnSpc>
                <a:spcPct val="112000"/>
              </a:lnSpc>
            </a:pPr>
            <a:r>
              <a:rPr sz="1200" b="0" i="0">
                <a:solidFill>
                  <a:srgbClr val="475569"/>
                </a:solidFill>
                <a:latin typeface="Arial"/>
              </a:rPr>
              <a:t>Remediation separates observed evidence from inference and can answer no action. Every write needs approval. Evaluations grade runs over time.</a:t>
            </a:r>
          </a:p>
        </p:txBody>
      </p:sp>
      <p:sp>
        <p:nvSpPr>
          <p:cNvPr id="14" name="Rounded Rectangle 13"/>
          <p:cNvSpPr/>
          <p:nvPr/>
        </p:nvSpPr>
        <p:spPr>
          <a:xfrm>
            <a:off x="548640" y="4114800"/>
            <a:ext cx="11091672" cy="7772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1520" y="4160520"/>
            <a:ext cx="3749039" cy="685800"/>
          </a:xfrm>
          <a:prstGeom prst="rect">
            <a:avLst/>
          </a:prstGeom>
          <a:noFill/>
        </p:spPr>
        <p:txBody>
          <a:bodyPr wrap="square" lIns="73152" rIns="73152" tIns="36576" bIns="36576" anchor="ctr">
            <a:spAutoFit/>
          </a:bodyPr>
          <a:lstStyle/>
          <a:p>
            <a:pPr algn="l">
              <a:lnSpc>
                <a:spcPct val="110000"/>
              </a:lnSpc>
            </a:pPr>
            <a:r>
              <a:rPr sz="1300" b="1" i="0">
                <a:solidFill>
                  <a:srgbClr val="0F172A"/>
                </a:solidFill>
                <a:latin typeface="Arial"/>
              </a:rPr>
              <a:t>"Will it touch production?"</a:t>
            </a:r>
          </a:p>
        </p:txBody>
      </p:sp>
      <p:sp>
        <p:nvSpPr>
          <p:cNvPr id="16" name="TextBox 15"/>
          <p:cNvSpPr txBox="1"/>
          <p:nvPr/>
        </p:nvSpPr>
        <p:spPr>
          <a:xfrm>
            <a:off x="4480560" y="4160520"/>
            <a:ext cx="7040880" cy="685800"/>
          </a:xfrm>
          <a:prstGeom prst="rect">
            <a:avLst/>
          </a:prstGeom>
          <a:noFill/>
        </p:spPr>
        <p:txBody>
          <a:bodyPr wrap="square" lIns="73152" rIns="73152" tIns="36576" bIns="36576" anchor="ctr">
            <a:spAutoFit/>
          </a:bodyPr>
          <a:lstStyle/>
          <a:p>
            <a:pPr algn="l">
              <a:lnSpc>
                <a:spcPct val="112000"/>
              </a:lnSpc>
            </a:pPr>
            <a:r>
              <a:rPr sz="1200" b="0" i="0">
                <a:solidFill>
                  <a:srgbClr val="475569"/>
                </a:solidFill>
                <a:latin typeface="Arial"/>
              </a:rPr>
              <a:t>Only through actions you approve. In this lab, no agent can write to the cluster, and the fix went through git and a human.</a:t>
            </a:r>
          </a:p>
        </p:txBody>
      </p:sp>
      <p:sp>
        <p:nvSpPr>
          <p:cNvPr id="17" name="Rounded Rectangle 16"/>
          <p:cNvSpPr/>
          <p:nvPr/>
        </p:nvSpPr>
        <p:spPr>
          <a:xfrm>
            <a:off x="548640" y="4983479"/>
            <a:ext cx="11091672" cy="7772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5029199"/>
            <a:ext cx="3749039" cy="685800"/>
          </a:xfrm>
          <a:prstGeom prst="rect">
            <a:avLst/>
          </a:prstGeom>
          <a:noFill/>
        </p:spPr>
        <p:txBody>
          <a:bodyPr wrap="square" lIns="73152" rIns="73152" tIns="36576" bIns="36576" anchor="ctr">
            <a:spAutoFit/>
          </a:bodyPr>
          <a:lstStyle/>
          <a:p>
            <a:pPr algn="l">
              <a:lnSpc>
                <a:spcPct val="110000"/>
              </a:lnSpc>
            </a:pPr>
            <a:r>
              <a:rPr sz="1300" b="1" i="0">
                <a:solidFill>
                  <a:srgbClr val="0F172A"/>
                </a:solidFill>
                <a:latin typeface="Arial"/>
              </a:rPr>
              <a:t>"What does it cost?"</a:t>
            </a:r>
          </a:p>
        </p:txBody>
      </p:sp>
      <p:sp>
        <p:nvSpPr>
          <p:cNvPr id="19" name="TextBox 18"/>
          <p:cNvSpPr txBox="1"/>
          <p:nvPr/>
        </p:nvSpPr>
        <p:spPr>
          <a:xfrm>
            <a:off x="4480560" y="5029199"/>
            <a:ext cx="7040880" cy="685800"/>
          </a:xfrm>
          <a:prstGeom prst="rect">
            <a:avLst/>
          </a:prstGeom>
          <a:noFill/>
        </p:spPr>
        <p:txBody>
          <a:bodyPr wrap="square" lIns="73152" rIns="73152" tIns="36576" bIns="36576" anchor="ctr">
            <a:spAutoFit/>
          </a:bodyPr>
          <a:lstStyle/>
          <a:p>
            <a:pPr algn="l">
              <a:lnSpc>
                <a:spcPct val="112000"/>
              </a:lnSpc>
            </a:pPr>
            <a:r>
              <a:rPr sz="1200" b="0" i="0">
                <a:solidFill>
                  <a:srgbClr val="475569"/>
                </a:solidFill>
                <a:latin typeface="Arial"/>
              </a:rPr>
              <a:t>Every run shows its cost. Budgets block new runs at a cap. The pilot measures cost per useful RCA.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20040"/>
            <a:ext cx="7315200" cy="274320"/>
          </a:xfrm>
          <a:prstGeom prst="rect">
            <a:avLst/>
          </a:prstGeom>
          <a:noFill/>
        </p:spPr>
        <p:txBody>
          <a:bodyPr wrap="square" lIns="73152" rIns="73152" tIns="36576" bIns="36576" anchor="t">
            <a:spAutoFit/>
          </a:bodyPr>
          <a:lstStyle/>
          <a:p>
            <a:pPr algn="l">
              <a:lnSpc>
                <a:spcPct val="110000"/>
              </a:lnSpc>
            </a:pPr>
            <a:r>
              <a:rPr sz="1000" b="1" i="0">
                <a:solidFill>
                  <a:srgbClr val="4F46E5"/>
                </a:solidFill>
                <a:latin typeface="Arial"/>
              </a:rPr>
              <a:t>BACKUP</a:t>
            </a:r>
          </a:p>
        </p:txBody>
      </p:sp>
      <p:sp>
        <p:nvSpPr>
          <p:cNvPr id="3" name="TextBox 2"/>
          <p:cNvSpPr txBox="1"/>
          <p:nvPr/>
        </p:nvSpPr>
        <p:spPr>
          <a:xfrm>
            <a:off x="9784080" y="320040"/>
            <a:ext cx="1828800" cy="274320"/>
          </a:xfrm>
          <a:prstGeom prst="rect">
            <a:avLst/>
          </a:prstGeom>
          <a:noFill/>
        </p:spPr>
        <p:txBody>
          <a:bodyPr wrap="square" lIns="73152" rIns="73152" tIns="36576" bIns="36576" anchor="t">
            <a:spAutoFit/>
          </a:bodyPr>
          <a:lstStyle/>
          <a:p>
            <a:pPr algn="r">
              <a:lnSpc>
                <a:spcPct val="110000"/>
              </a:lnSpc>
            </a:pPr>
            <a:r>
              <a:rPr sz="1000" b="0" i="0">
                <a:solidFill>
                  <a:srgbClr val="94A3B8"/>
                </a:solidFill>
                <a:latin typeface="Arial"/>
              </a:rPr>
              <a:t>BACKUP C</a:t>
            </a:r>
          </a:p>
        </p:txBody>
      </p:sp>
      <p:sp>
        <p:nvSpPr>
          <p:cNvPr id="4" name="TextBox 3"/>
          <p:cNvSpPr txBox="1"/>
          <p:nvPr/>
        </p:nvSpPr>
        <p:spPr>
          <a:xfrm>
            <a:off x="548640" y="640080"/>
            <a:ext cx="11064240" cy="822960"/>
          </a:xfrm>
          <a:prstGeom prst="rect">
            <a:avLst/>
          </a:prstGeom>
          <a:noFill/>
        </p:spPr>
        <p:txBody>
          <a:bodyPr wrap="square" lIns="73152" rIns="73152" tIns="36576" bIns="36576" anchor="t">
            <a:spAutoFit/>
          </a:bodyPr>
          <a:lstStyle/>
          <a:p>
            <a:pPr algn="l">
              <a:lnSpc>
                <a:spcPct val="110000"/>
              </a:lnSpc>
            </a:pPr>
            <a:r>
              <a:rPr sz="3000" b="1" i="0">
                <a:solidFill>
                  <a:srgbClr val="0F172A"/>
                </a:solidFill>
                <a:latin typeface="Arial"/>
              </a:rPr>
              <a:t>Rehearsal evidence</a:t>
            </a:r>
          </a:p>
        </p:txBody>
      </p:sp>
      <p:sp>
        <p:nvSpPr>
          <p:cNvPr id="5" name="TextBox 4"/>
          <p:cNvSpPr txBox="1"/>
          <p:nvPr/>
        </p:nvSpPr>
        <p:spPr>
          <a:xfrm>
            <a:off x="548640" y="1371600"/>
            <a:ext cx="11064240" cy="457200"/>
          </a:xfrm>
          <a:prstGeom prst="rect">
            <a:avLst/>
          </a:prstGeom>
          <a:noFill/>
        </p:spPr>
        <p:txBody>
          <a:bodyPr wrap="square" lIns="73152" rIns="73152" tIns="36576" bIns="36576" anchor="t">
            <a:spAutoFit/>
          </a:bodyPr>
          <a:lstStyle/>
          <a:p>
            <a:pPr algn="l">
              <a:lnSpc>
                <a:spcPct val="110000"/>
              </a:lnSpc>
            </a:pPr>
            <a:r>
              <a:rPr sz="1600" b="0" i="0">
                <a:solidFill>
                  <a:srgbClr val="475569"/>
                </a:solidFill>
                <a:latin typeface="Arial"/>
              </a:rPr>
              <a:t>Same Redis outage, measured with both probe configurations.</a:t>
            </a:r>
          </a:p>
        </p:txBody>
      </p:sp>
      <p:sp>
        <p:nvSpPr>
          <p:cNvPr id="6" name="TextBox 5"/>
          <p:cNvSpPr txBox="1"/>
          <p:nvPr/>
        </p:nvSpPr>
        <p:spPr>
          <a:xfrm>
            <a:off x="731520" y="2011680"/>
            <a:ext cx="3383280" cy="320040"/>
          </a:xfrm>
          <a:prstGeom prst="rect">
            <a:avLst/>
          </a:prstGeom>
          <a:noFill/>
        </p:spPr>
        <p:txBody>
          <a:bodyPr wrap="square" lIns="73152" rIns="73152" tIns="36576" bIns="36576" anchor="ctr">
            <a:spAutoFit/>
          </a:bodyPr>
          <a:lstStyle/>
          <a:p>
            <a:pPr algn="l">
              <a:lnSpc>
                <a:spcPct val="110000"/>
              </a:lnSpc>
            </a:pPr>
            <a:r>
              <a:rPr sz="1000" b="1" i="0">
                <a:solidFill>
                  <a:srgbClr val="94A3B8"/>
                </a:solidFill>
                <a:latin typeface="Arial"/>
              </a:rPr>
              <a:t/>
            </a:r>
          </a:p>
        </p:txBody>
      </p:sp>
      <p:sp>
        <p:nvSpPr>
          <p:cNvPr id="7" name="TextBox 6"/>
          <p:cNvSpPr txBox="1"/>
          <p:nvPr/>
        </p:nvSpPr>
        <p:spPr>
          <a:xfrm>
            <a:off x="4206240" y="2011680"/>
            <a:ext cx="3657600" cy="320040"/>
          </a:xfrm>
          <a:prstGeom prst="rect">
            <a:avLst/>
          </a:prstGeom>
          <a:noFill/>
        </p:spPr>
        <p:txBody>
          <a:bodyPr wrap="square" lIns="73152" rIns="73152" tIns="36576" bIns="36576" anchor="ctr">
            <a:spAutoFit/>
          </a:bodyPr>
          <a:lstStyle/>
          <a:p>
            <a:pPr algn="l">
              <a:lnSpc>
                <a:spcPct val="110000"/>
              </a:lnSpc>
            </a:pPr>
            <a:r>
              <a:rPr sz="1000" b="1" i="0">
                <a:solidFill>
                  <a:srgbClr val="94A3B8"/>
                </a:solidFill>
                <a:latin typeface="Arial"/>
              </a:rPr>
              <a:t>Liveness on /readyz (bad rollout)</a:t>
            </a:r>
          </a:p>
        </p:txBody>
      </p:sp>
      <p:sp>
        <p:nvSpPr>
          <p:cNvPr id="8" name="TextBox 7"/>
          <p:cNvSpPr txBox="1"/>
          <p:nvPr/>
        </p:nvSpPr>
        <p:spPr>
          <a:xfrm>
            <a:off x="7955279" y="2011680"/>
            <a:ext cx="3657600" cy="320040"/>
          </a:xfrm>
          <a:prstGeom prst="rect">
            <a:avLst/>
          </a:prstGeom>
          <a:noFill/>
        </p:spPr>
        <p:txBody>
          <a:bodyPr wrap="square" lIns="73152" rIns="73152" tIns="36576" bIns="36576" anchor="ctr">
            <a:spAutoFit/>
          </a:bodyPr>
          <a:lstStyle/>
          <a:p>
            <a:pPr algn="l">
              <a:lnSpc>
                <a:spcPct val="110000"/>
              </a:lnSpc>
            </a:pPr>
            <a:r>
              <a:rPr sz="1000" b="1" i="0">
                <a:solidFill>
                  <a:srgbClr val="94A3B8"/>
                </a:solidFill>
                <a:latin typeface="Arial"/>
              </a:rPr>
              <a:t>Liveness on /healthz (fix)</a:t>
            </a:r>
          </a:p>
        </p:txBody>
      </p:sp>
      <p:sp>
        <p:nvSpPr>
          <p:cNvPr id="9" name="Rounded Rectangle 8"/>
          <p:cNvSpPr/>
          <p:nvPr/>
        </p:nvSpPr>
        <p:spPr>
          <a:xfrm>
            <a:off x="548640" y="2377440"/>
            <a:ext cx="11091672" cy="512064"/>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404872"/>
            <a:ext cx="3383280" cy="457200"/>
          </a:xfrm>
          <a:prstGeom prst="rect">
            <a:avLst/>
          </a:prstGeom>
          <a:noFill/>
        </p:spPr>
        <p:txBody>
          <a:bodyPr wrap="square" lIns="73152" rIns="73152" tIns="36576" bIns="36576" anchor="ctr">
            <a:spAutoFit/>
          </a:bodyPr>
          <a:lstStyle/>
          <a:p>
            <a:pPr algn="l">
              <a:lnSpc>
                <a:spcPct val="110000"/>
              </a:lnSpc>
            </a:pPr>
            <a:r>
              <a:rPr sz="1300" b="1" i="0">
                <a:solidFill>
                  <a:srgbClr val="0F172A"/>
                </a:solidFill>
                <a:latin typeface="Arial"/>
              </a:rPr>
              <a:t>Liveness kills of a healthy API</a:t>
            </a:r>
          </a:p>
        </p:txBody>
      </p:sp>
      <p:sp>
        <p:nvSpPr>
          <p:cNvPr id="11" name="TextBox 10"/>
          <p:cNvSpPr txBox="1"/>
          <p:nvPr/>
        </p:nvSpPr>
        <p:spPr>
          <a:xfrm>
            <a:off x="4206240" y="2404872"/>
            <a:ext cx="3657600" cy="457200"/>
          </a:xfrm>
          <a:prstGeom prst="rect">
            <a:avLst/>
          </a:prstGeom>
          <a:noFill/>
        </p:spPr>
        <p:txBody>
          <a:bodyPr wrap="square" lIns="73152" rIns="73152" tIns="36576" bIns="36576" anchor="ctr">
            <a:spAutoFit/>
          </a:bodyPr>
          <a:lstStyle/>
          <a:p>
            <a:pPr algn="l">
              <a:lnSpc>
                <a:spcPct val="110000"/>
              </a:lnSpc>
            </a:pPr>
            <a:r>
              <a:rPr sz="1300" b="0" i="0">
                <a:solidFill>
                  <a:srgbClr val="B91C1C"/>
                </a:solidFill>
                <a:latin typeface="Arial"/>
              </a:rPr>
              <a:t>5 in a 5-minute outage</a:t>
            </a:r>
          </a:p>
        </p:txBody>
      </p:sp>
      <p:sp>
        <p:nvSpPr>
          <p:cNvPr id="12" name="TextBox 11"/>
          <p:cNvSpPr txBox="1"/>
          <p:nvPr/>
        </p:nvSpPr>
        <p:spPr>
          <a:xfrm>
            <a:off x="7955279" y="2404872"/>
            <a:ext cx="3657600" cy="457200"/>
          </a:xfrm>
          <a:prstGeom prst="rect">
            <a:avLst/>
          </a:prstGeom>
          <a:noFill/>
        </p:spPr>
        <p:txBody>
          <a:bodyPr wrap="square" lIns="73152" rIns="73152" tIns="36576" bIns="36576" anchor="ctr">
            <a:spAutoFit/>
          </a:bodyPr>
          <a:lstStyle/>
          <a:p>
            <a:pPr algn="l">
              <a:lnSpc>
                <a:spcPct val="110000"/>
              </a:lnSpc>
            </a:pPr>
            <a:r>
              <a:rPr sz="1300" b="0" i="0">
                <a:solidFill>
                  <a:srgbClr val="0F766E"/>
                </a:solidFill>
                <a:latin typeface="Arial"/>
              </a:rPr>
              <a:t>0 in a 2.5-minute outage</a:t>
            </a:r>
          </a:p>
        </p:txBody>
      </p:sp>
      <p:sp>
        <p:nvSpPr>
          <p:cNvPr id="13" name="Rounded Rectangle 12"/>
          <p:cNvSpPr/>
          <p:nvPr/>
        </p:nvSpPr>
        <p:spPr>
          <a:xfrm>
            <a:off x="548640" y="2944368"/>
            <a:ext cx="11091672" cy="512064"/>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2971800"/>
            <a:ext cx="3383280" cy="457200"/>
          </a:xfrm>
          <a:prstGeom prst="rect">
            <a:avLst/>
          </a:prstGeom>
          <a:noFill/>
        </p:spPr>
        <p:txBody>
          <a:bodyPr wrap="square" lIns="73152" rIns="73152" tIns="36576" bIns="36576" anchor="ctr">
            <a:spAutoFit/>
          </a:bodyPr>
          <a:lstStyle/>
          <a:p>
            <a:pPr algn="l">
              <a:lnSpc>
                <a:spcPct val="110000"/>
              </a:lnSpc>
            </a:pPr>
            <a:r>
              <a:rPr sz="1300" b="1" i="0">
                <a:solidFill>
                  <a:srgbClr val="0F172A"/>
                </a:solidFill>
                <a:latin typeface="Arial"/>
              </a:rPr>
              <a:t>Liveness HTTP 503 events</a:t>
            </a:r>
          </a:p>
        </p:txBody>
      </p:sp>
      <p:sp>
        <p:nvSpPr>
          <p:cNvPr id="15" name="TextBox 14"/>
          <p:cNvSpPr txBox="1"/>
          <p:nvPr/>
        </p:nvSpPr>
        <p:spPr>
          <a:xfrm>
            <a:off x="4206240" y="2971800"/>
            <a:ext cx="3657600" cy="457200"/>
          </a:xfrm>
          <a:prstGeom prst="rect">
            <a:avLst/>
          </a:prstGeom>
          <a:noFill/>
        </p:spPr>
        <p:txBody>
          <a:bodyPr wrap="square" lIns="73152" rIns="73152" tIns="36576" bIns="36576" anchor="ctr">
            <a:spAutoFit/>
          </a:bodyPr>
          <a:lstStyle/>
          <a:p>
            <a:pPr algn="l">
              <a:lnSpc>
                <a:spcPct val="110000"/>
              </a:lnSpc>
            </a:pPr>
            <a:r>
              <a:rPr sz="1300" b="0" i="0">
                <a:solidFill>
                  <a:srgbClr val="B91C1C"/>
                </a:solidFill>
                <a:latin typeface="Arial"/>
              </a:rPr>
              <a:t>Yes</a:t>
            </a:r>
          </a:p>
        </p:txBody>
      </p:sp>
      <p:sp>
        <p:nvSpPr>
          <p:cNvPr id="16" name="TextBox 15"/>
          <p:cNvSpPr txBox="1"/>
          <p:nvPr/>
        </p:nvSpPr>
        <p:spPr>
          <a:xfrm>
            <a:off x="7955279" y="2971800"/>
            <a:ext cx="3657600" cy="457200"/>
          </a:xfrm>
          <a:prstGeom prst="rect">
            <a:avLst/>
          </a:prstGeom>
          <a:noFill/>
        </p:spPr>
        <p:txBody>
          <a:bodyPr wrap="square" lIns="73152" rIns="73152" tIns="36576" bIns="36576" anchor="ctr">
            <a:spAutoFit/>
          </a:bodyPr>
          <a:lstStyle/>
          <a:p>
            <a:pPr algn="l">
              <a:lnSpc>
                <a:spcPct val="110000"/>
              </a:lnSpc>
            </a:pPr>
            <a:r>
              <a:rPr sz="1300" b="0" i="0">
                <a:solidFill>
                  <a:srgbClr val="0F766E"/>
                </a:solidFill>
                <a:latin typeface="Arial"/>
              </a:rPr>
              <a:t>None</a:t>
            </a:r>
          </a:p>
        </p:txBody>
      </p:sp>
      <p:sp>
        <p:nvSpPr>
          <p:cNvPr id="17" name="Rounded Rectangle 16"/>
          <p:cNvSpPr/>
          <p:nvPr/>
        </p:nvSpPr>
        <p:spPr>
          <a:xfrm>
            <a:off x="548640" y="3511296"/>
            <a:ext cx="11091672" cy="512064"/>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3538728"/>
            <a:ext cx="3383280" cy="457200"/>
          </a:xfrm>
          <a:prstGeom prst="rect">
            <a:avLst/>
          </a:prstGeom>
          <a:noFill/>
        </p:spPr>
        <p:txBody>
          <a:bodyPr wrap="square" lIns="73152" rIns="73152" tIns="36576" bIns="36576" anchor="ctr">
            <a:spAutoFit/>
          </a:bodyPr>
          <a:lstStyle/>
          <a:p>
            <a:pPr algn="l">
              <a:lnSpc>
                <a:spcPct val="110000"/>
              </a:lnSpc>
            </a:pPr>
            <a:r>
              <a:rPr sz="1300" b="1" i="0">
                <a:solidFill>
                  <a:srgbClr val="0F172A"/>
                </a:solidFill>
                <a:latin typeface="Arial"/>
              </a:rPr>
              <a:t>Grafana restart alert</a:t>
            </a:r>
          </a:p>
        </p:txBody>
      </p:sp>
      <p:sp>
        <p:nvSpPr>
          <p:cNvPr id="19" name="TextBox 18"/>
          <p:cNvSpPr txBox="1"/>
          <p:nvPr/>
        </p:nvSpPr>
        <p:spPr>
          <a:xfrm>
            <a:off x="4206240" y="3538728"/>
            <a:ext cx="3657600" cy="457200"/>
          </a:xfrm>
          <a:prstGeom prst="rect">
            <a:avLst/>
          </a:prstGeom>
          <a:noFill/>
        </p:spPr>
        <p:txBody>
          <a:bodyPr wrap="square" lIns="73152" rIns="73152" tIns="36576" bIns="36576" anchor="ctr">
            <a:spAutoFit/>
          </a:bodyPr>
          <a:lstStyle/>
          <a:p>
            <a:pPr algn="l">
              <a:lnSpc>
                <a:spcPct val="110000"/>
              </a:lnSpc>
            </a:pPr>
            <a:r>
              <a:rPr sz="1300" b="0" i="0">
                <a:solidFill>
                  <a:srgbClr val="B91C1C"/>
                </a:solidFill>
                <a:latin typeface="Arial"/>
              </a:rPr>
              <a:t>Pending +111 s, Alerting +175 s</a:t>
            </a:r>
          </a:p>
        </p:txBody>
      </p:sp>
      <p:sp>
        <p:nvSpPr>
          <p:cNvPr id="20" name="TextBox 19"/>
          <p:cNvSpPr txBox="1"/>
          <p:nvPr/>
        </p:nvSpPr>
        <p:spPr>
          <a:xfrm>
            <a:off x="7955279" y="3538728"/>
            <a:ext cx="3657600" cy="457200"/>
          </a:xfrm>
          <a:prstGeom prst="rect">
            <a:avLst/>
          </a:prstGeom>
          <a:noFill/>
        </p:spPr>
        <p:txBody>
          <a:bodyPr wrap="square" lIns="73152" rIns="73152" tIns="36576" bIns="36576" anchor="ctr">
            <a:spAutoFit/>
          </a:bodyPr>
          <a:lstStyle/>
          <a:p>
            <a:pPr algn="l">
              <a:lnSpc>
                <a:spcPct val="110000"/>
              </a:lnSpc>
            </a:pPr>
            <a:r>
              <a:rPr sz="1300" b="0" i="0">
                <a:solidFill>
                  <a:srgbClr val="0F766E"/>
                </a:solidFill>
                <a:latin typeface="Arial"/>
              </a:rPr>
              <a:t>Stayed Normal</a:t>
            </a:r>
          </a:p>
        </p:txBody>
      </p:sp>
      <p:sp>
        <p:nvSpPr>
          <p:cNvPr id="21" name="Rounded Rectangle 20"/>
          <p:cNvSpPr/>
          <p:nvPr/>
        </p:nvSpPr>
        <p:spPr>
          <a:xfrm>
            <a:off x="548640" y="4078224"/>
            <a:ext cx="11091672" cy="512064"/>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20" y="4105656"/>
            <a:ext cx="3383280" cy="457200"/>
          </a:xfrm>
          <a:prstGeom prst="rect">
            <a:avLst/>
          </a:prstGeom>
          <a:noFill/>
        </p:spPr>
        <p:txBody>
          <a:bodyPr wrap="square" lIns="73152" rIns="73152" tIns="36576" bIns="36576" anchor="ctr">
            <a:spAutoFit/>
          </a:bodyPr>
          <a:lstStyle/>
          <a:p>
            <a:pPr algn="l">
              <a:lnSpc>
                <a:spcPct val="110000"/>
              </a:lnSpc>
            </a:pPr>
            <a:r>
              <a:rPr sz="1300" b="1" i="0">
                <a:solidFill>
                  <a:srgbClr val="0F172A"/>
                </a:solidFill>
                <a:latin typeface="Arial"/>
              </a:rPr>
              <a:t>API Ready after Redis returned</a:t>
            </a:r>
          </a:p>
        </p:txBody>
      </p:sp>
      <p:sp>
        <p:nvSpPr>
          <p:cNvPr id="23" name="TextBox 22"/>
          <p:cNvSpPr txBox="1"/>
          <p:nvPr/>
        </p:nvSpPr>
        <p:spPr>
          <a:xfrm>
            <a:off x="4206240" y="4105656"/>
            <a:ext cx="3657600" cy="457200"/>
          </a:xfrm>
          <a:prstGeom prst="rect">
            <a:avLst/>
          </a:prstGeom>
          <a:noFill/>
        </p:spPr>
        <p:txBody>
          <a:bodyPr wrap="square" lIns="73152" rIns="73152" tIns="36576" bIns="36576" anchor="ctr">
            <a:spAutoFit/>
          </a:bodyPr>
          <a:lstStyle/>
          <a:p>
            <a:pPr algn="l">
              <a:lnSpc>
                <a:spcPct val="110000"/>
              </a:lnSpc>
            </a:pPr>
            <a:r>
              <a:rPr sz="1300" b="0" i="0">
                <a:solidFill>
                  <a:srgbClr val="B91C1C"/>
                </a:solidFill>
                <a:latin typeface="Arial"/>
              </a:rPr>
              <a:t>4.8 s (between back-offs)</a:t>
            </a:r>
          </a:p>
        </p:txBody>
      </p:sp>
      <p:sp>
        <p:nvSpPr>
          <p:cNvPr id="24" name="TextBox 23"/>
          <p:cNvSpPr txBox="1"/>
          <p:nvPr/>
        </p:nvSpPr>
        <p:spPr>
          <a:xfrm>
            <a:off x="7955279" y="4105656"/>
            <a:ext cx="3657600" cy="457200"/>
          </a:xfrm>
          <a:prstGeom prst="rect">
            <a:avLst/>
          </a:prstGeom>
          <a:noFill/>
        </p:spPr>
        <p:txBody>
          <a:bodyPr wrap="square" lIns="73152" rIns="73152" tIns="36576" bIns="36576" anchor="ctr">
            <a:spAutoFit/>
          </a:bodyPr>
          <a:lstStyle/>
          <a:p>
            <a:pPr algn="l">
              <a:lnSpc>
                <a:spcPct val="110000"/>
              </a:lnSpc>
            </a:pPr>
            <a:r>
              <a:rPr sz="1300" b="0" i="0">
                <a:solidFill>
                  <a:srgbClr val="0F766E"/>
                </a:solidFill>
                <a:latin typeface="Arial"/>
              </a:rPr>
              <a:t>6.5 s</a:t>
            </a:r>
          </a:p>
        </p:txBody>
      </p:sp>
      <p:sp>
        <p:nvSpPr>
          <p:cNvPr id="25" name="Rounded Rectangle 24"/>
          <p:cNvSpPr/>
          <p:nvPr/>
        </p:nvSpPr>
        <p:spPr>
          <a:xfrm>
            <a:off x="548640" y="4645152"/>
            <a:ext cx="11091672" cy="512064"/>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4672584"/>
            <a:ext cx="3383280" cy="457200"/>
          </a:xfrm>
          <a:prstGeom prst="rect">
            <a:avLst/>
          </a:prstGeom>
          <a:noFill/>
        </p:spPr>
        <p:txBody>
          <a:bodyPr wrap="square" lIns="73152" rIns="73152" tIns="36576" bIns="36576" anchor="ctr">
            <a:spAutoFit/>
          </a:bodyPr>
          <a:lstStyle/>
          <a:p>
            <a:pPr algn="l">
              <a:lnSpc>
                <a:spcPct val="110000"/>
              </a:lnSpc>
            </a:pPr>
            <a:r>
              <a:rPr sz="1300" b="1" i="0">
                <a:solidFill>
                  <a:srgbClr val="0F172A"/>
                </a:solidFill>
                <a:latin typeface="Arial"/>
              </a:rPr>
              <a:t>Previous container log</a:t>
            </a:r>
          </a:p>
        </p:txBody>
      </p:sp>
      <p:sp>
        <p:nvSpPr>
          <p:cNvPr id="27" name="TextBox 26"/>
          <p:cNvSpPr txBox="1"/>
          <p:nvPr/>
        </p:nvSpPr>
        <p:spPr>
          <a:xfrm>
            <a:off x="4206240" y="4672584"/>
            <a:ext cx="3657600" cy="457200"/>
          </a:xfrm>
          <a:prstGeom prst="rect">
            <a:avLst/>
          </a:prstGeom>
          <a:noFill/>
        </p:spPr>
        <p:txBody>
          <a:bodyPr wrap="square" lIns="73152" rIns="73152" tIns="36576" bIns="36576" anchor="ctr">
            <a:spAutoFit/>
          </a:bodyPr>
          <a:lstStyle/>
          <a:p>
            <a:pPr algn="l">
              <a:lnSpc>
                <a:spcPct val="110000"/>
              </a:lnSpc>
            </a:pPr>
            <a:r>
              <a:rPr sz="1300" b="0" i="0">
                <a:solidFill>
                  <a:srgbClr val="B91C1C"/>
                </a:solidFill>
                <a:latin typeface="Arial"/>
              </a:rPr>
              <a:t>ConnectionRefusedError in /readyz</a:t>
            </a:r>
          </a:p>
        </p:txBody>
      </p:sp>
      <p:sp>
        <p:nvSpPr>
          <p:cNvPr id="28" name="TextBox 27"/>
          <p:cNvSpPr txBox="1"/>
          <p:nvPr/>
        </p:nvSpPr>
        <p:spPr>
          <a:xfrm>
            <a:off x="7955279" y="4672584"/>
            <a:ext cx="3657600" cy="457200"/>
          </a:xfrm>
          <a:prstGeom prst="rect">
            <a:avLst/>
          </a:prstGeom>
          <a:noFill/>
        </p:spPr>
        <p:txBody>
          <a:bodyPr wrap="square" lIns="73152" rIns="73152" tIns="36576" bIns="36576" anchor="ctr">
            <a:spAutoFit/>
          </a:bodyPr>
          <a:lstStyle/>
          <a:p>
            <a:pPr algn="l">
              <a:lnSpc>
                <a:spcPct val="110000"/>
              </a:lnSpc>
            </a:pPr>
            <a:r>
              <a:rPr sz="1300" b="0" i="0">
                <a:solidFill>
                  <a:srgbClr val="0F766E"/>
                </a:solidFill>
                <a:latin typeface="Arial"/>
              </a:rPr>
              <a:t>n/a, no restart</a:t>
            </a:r>
          </a:p>
        </p:txBody>
      </p:sp>
      <p:sp>
        <p:nvSpPr>
          <p:cNvPr id="29" name="TextBox 28"/>
          <p:cNvSpPr txBox="1"/>
          <p:nvPr/>
        </p:nvSpPr>
        <p:spPr>
          <a:xfrm>
            <a:off x="548640" y="5897880"/>
            <a:ext cx="11064240" cy="457200"/>
          </a:xfrm>
          <a:prstGeom prst="rect">
            <a:avLst/>
          </a:prstGeom>
          <a:noFill/>
        </p:spPr>
        <p:txBody>
          <a:bodyPr wrap="square" lIns="73152" rIns="73152" tIns="36576" bIns="36576" anchor="t">
            <a:spAutoFit/>
          </a:bodyPr>
          <a:lstStyle/>
          <a:p>
            <a:pPr algn="l">
              <a:lnSpc>
                <a:spcPct val="110000"/>
              </a:lnSpc>
            </a:pPr>
            <a:r>
              <a:rPr sz="1050" b="0" i="0">
                <a:solidFill>
                  <a:srgbClr val="94A3B8"/>
                </a:solidFill>
                <a:latin typeface="Arial"/>
              </a:rPr>
              <a:t>Rehearsal on 2026-10-24, single-node kind cluster. With the bad probe, recovery depends on where the restart back-off is when Redis returns (10 s doubling to 5 min). Raw evidence: artifacts/incidents/; summary: docs/evidence.md.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