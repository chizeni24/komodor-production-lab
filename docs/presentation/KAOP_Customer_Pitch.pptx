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475488"/>
            <a:ext cx="347472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86384" y="530352"/>
            <a:ext cx="32918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AGENT OPERATIONS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94944" y="1261872"/>
            <a:ext cx="67665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TEAMS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HAVE AGENTS.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94944" y="2880360"/>
            <a:ext cx="6035040" cy="1499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OWNS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RISK?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13232" y="4892040"/>
            <a:ext cx="78638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9D6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Something useful?  •  Can we see how?  •  Within the limits?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22376" y="6089904"/>
            <a:ext cx="822960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Echizeni Ikpah    |    Product Engineer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35240" y="1051560"/>
            <a:ext cx="3931920" cy="3931920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29384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110728" y="1527048"/>
            <a:ext cx="2980944" cy="2980944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33536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586216" y="2002536"/>
            <a:ext cx="2029968" cy="2029968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087D7D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558784" y="2450592"/>
            <a:ext cx="2103120" cy="1143000"/>
          </a:xfrm>
          <a:prstGeom prst="roundRect">
            <a:avLst>
              <a:gd name="adj" fmla="val 1920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741664" y="2651760"/>
            <a:ext cx="173736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14232" y="3072384"/>
            <a:ext cx="17830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PLANE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662672" y="1316736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08392" y="1586484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SRE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579608" y="1490472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625328" y="1760220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35240" y="4279392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680960" y="4549140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634472" y="4334256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680192" y="4604004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DIAGNOSE THE REAL RISK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does agent sprawl hurt your team first?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6656" y="1938528"/>
            <a:ext cx="3575304" cy="24688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86968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23544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40" dirty="0"/>
          </a:p>
        </p:txBody>
      </p:sp>
      <p:sp>
        <p:nvSpPr>
          <p:cNvPr id="11" name="Text 9"/>
          <p:cNvSpPr/>
          <p:nvPr/>
        </p:nvSpPr>
        <p:spPr>
          <a:xfrm>
            <a:off x="1389888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OWNERSHIP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896112" y="2788920"/>
            <a:ext cx="315468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OWNS IT?</a:t>
            </a:r>
            <a:endParaRPr lang="en-US" sz="1820" dirty="0"/>
          </a:p>
        </p:txBody>
      </p:sp>
      <p:sp>
        <p:nvSpPr>
          <p:cNvPr id="13" name="Text 11"/>
          <p:cNvSpPr/>
          <p:nvPr/>
        </p:nvSpPr>
        <p:spPr>
          <a:xfrm>
            <a:off x="896112" y="3447288"/>
            <a:ext cx="3136392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inventory, no clear owner</a:t>
            </a:r>
            <a:endParaRPr lang="en-US" sz="1510" dirty="0"/>
          </a:p>
        </p:txBody>
      </p:sp>
      <p:sp>
        <p:nvSpPr>
          <p:cNvPr id="14" name="Shape 12"/>
          <p:cNvSpPr/>
          <p:nvPr/>
        </p:nvSpPr>
        <p:spPr>
          <a:xfrm>
            <a:off x="4517136" y="1938528"/>
            <a:ext cx="3575304" cy="24688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727448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F4B860"/>
          </a:solidFill>
          <a:ln w="12700">
            <a:solidFill>
              <a:srgbClr val="F4B86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764024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40" dirty="0"/>
          </a:p>
        </p:txBody>
      </p:sp>
      <p:sp>
        <p:nvSpPr>
          <p:cNvPr id="17" name="Text 15"/>
          <p:cNvSpPr/>
          <p:nvPr/>
        </p:nvSpPr>
        <p:spPr>
          <a:xfrm>
            <a:off x="5230368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AUTHORITY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4736592" y="2788920"/>
            <a:ext cx="315468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CAN IT TOUCH?</a:t>
            </a:r>
            <a:endParaRPr lang="en-US" sz="1820" dirty="0"/>
          </a:p>
        </p:txBody>
      </p:sp>
      <p:sp>
        <p:nvSpPr>
          <p:cNvPr id="19" name="Text 17"/>
          <p:cNvSpPr/>
          <p:nvPr/>
        </p:nvSpPr>
        <p:spPr>
          <a:xfrm>
            <a:off x="4736592" y="3447288"/>
            <a:ext cx="3136392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Broad tokens, unclear access</a:t>
            </a:r>
            <a:endParaRPr lang="en-US" sz="1510" dirty="0"/>
          </a:p>
        </p:txBody>
      </p:sp>
      <p:sp>
        <p:nvSpPr>
          <p:cNvPr id="20" name="Shape 18"/>
          <p:cNvSpPr/>
          <p:nvPr/>
        </p:nvSpPr>
        <p:spPr>
          <a:xfrm>
            <a:off x="8357616" y="1938528"/>
            <a:ext cx="3575304" cy="24688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567928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604504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9070848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230" dirty="0"/>
          </a:p>
        </p:txBody>
      </p:sp>
      <p:sp>
        <p:nvSpPr>
          <p:cNvPr id="24" name="Text 22"/>
          <p:cNvSpPr/>
          <p:nvPr/>
        </p:nvSpPr>
        <p:spPr>
          <a:xfrm>
            <a:off x="8577072" y="2788920"/>
            <a:ext cx="315468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ACTUALLY HAPPENED?</a:t>
            </a:r>
            <a:endParaRPr lang="en-US" sz="1820" dirty="0"/>
          </a:p>
        </p:txBody>
      </p:sp>
      <p:sp>
        <p:nvSpPr>
          <p:cNvPr id="25" name="Text 23"/>
          <p:cNvSpPr/>
          <p:nvPr/>
        </p:nvSpPr>
        <p:spPr>
          <a:xfrm>
            <a:off x="8577072" y="3447288"/>
            <a:ext cx="3136392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Scattered runs and no decision trail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676656" y="4828032"/>
            <a:ext cx="10808208" cy="886968"/>
          </a:xfrm>
          <a:prstGeom prst="roundRect">
            <a:avLst>
              <a:gd name="adj" fmla="val 18557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4400" y="5010912"/>
            <a:ext cx="212140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30" kern="0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DISCOVERY QUESTION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99232" y="4965192"/>
            <a:ext cx="8193024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of these is hardest to manage across your teams today?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VALUE BEFORE FEATURES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outcomes. Not another agent dashboard.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494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Agents, owners,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and cost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3542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75488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475488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LIMITS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Permissions enforced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outside prompts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375904" y="1984248"/>
            <a:ext cx="3529584" cy="271576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595360" y="2212848"/>
            <a:ext cx="128016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8595360" y="2843784"/>
            <a:ext cx="310896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THAT CLOSES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595360" y="3493008"/>
            <a:ext cx="2999232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→ evidence →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→ review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77240" y="5056632"/>
            <a:ext cx="51572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on KAOP’s shared operating model</a:t>
            </a:r>
            <a:endParaRPr lang="en-US" sz="1640" dirty="0"/>
          </a:p>
        </p:txBody>
      </p:sp>
      <p:sp>
        <p:nvSpPr>
          <p:cNvPr id="21" name="Shape 19"/>
          <p:cNvSpPr/>
          <p:nvPr/>
        </p:nvSpPr>
        <p:spPr>
          <a:xfrm>
            <a:off x="5760720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870448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1130" dirty="0"/>
          </a:p>
        </p:txBody>
      </p:sp>
      <p:sp>
        <p:nvSpPr>
          <p:cNvPr id="23" name="Shape 21"/>
          <p:cNvSpPr/>
          <p:nvPr/>
        </p:nvSpPr>
        <p:spPr>
          <a:xfrm>
            <a:off x="7168896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278624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8577072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686800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1130" dirty="0"/>
          </a:p>
        </p:txBody>
      </p:sp>
      <p:sp>
        <p:nvSpPr>
          <p:cNvPr id="27" name="Shape 25"/>
          <p:cNvSpPr/>
          <p:nvPr/>
        </p:nvSpPr>
        <p:spPr>
          <a:xfrm>
            <a:off x="9985248" y="4965192"/>
            <a:ext cx="1298448" cy="347472"/>
          </a:xfrm>
          <a:prstGeom prst="roundRect">
            <a:avLst>
              <a:gd name="adj" fmla="val 39474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094976" y="5038344"/>
            <a:ext cx="1078992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OPTIMIZE</a:t>
            </a:r>
            <a:endParaRPr lang="en-US" sz="11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COORDINATED, NOT CONFUSED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triggers. Two workflows. One operating model.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856232"/>
            <a:ext cx="10863072" cy="1536192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77824" y="2039112"/>
            <a:ext cx="283464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69264" y="2093976"/>
            <a:ext cx="265176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A  /  GRAFANA ALERT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950976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42416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042416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restart signal</a:t>
            </a:r>
            <a:endParaRPr lang="en-US" sz="1140" dirty="0"/>
          </a:p>
        </p:txBody>
      </p:sp>
      <p:sp>
        <p:nvSpPr>
          <p:cNvPr id="14" name="Shape 12"/>
          <p:cNvSpPr/>
          <p:nvPr/>
        </p:nvSpPr>
        <p:spPr>
          <a:xfrm>
            <a:off x="3172968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319272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547872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639312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639312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K8s + Grafana</a:t>
            </a:r>
            <a:endParaRPr lang="en-US" sz="1140" dirty="0"/>
          </a:p>
        </p:txBody>
      </p:sp>
      <p:sp>
        <p:nvSpPr>
          <p:cNvPr id="19" name="Shape 17"/>
          <p:cNvSpPr/>
          <p:nvPr/>
        </p:nvSpPr>
        <p:spPr>
          <a:xfrm>
            <a:off x="5769864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16168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144768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236208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236208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 plan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8366760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513064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741664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833104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833104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restores</a:t>
            </a:r>
            <a:endParaRPr lang="en-US" sz="1140" dirty="0"/>
          </a:p>
        </p:txBody>
      </p:sp>
      <p:sp>
        <p:nvSpPr>
          <p:cNvPr id="29" name="Shape 27"/>
          <p:cNvSpPr/>
          <p:nvPr/>
        </p:nvSpPr>
        <p:spPr>
          <a:xfrm>
            <a:off x="658368" y="3675888"/>
            <a:ext cx="10863072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877824" y="3849624"/>
            <a:ext cx="2980944" cy="292608"/>
          </a:xfrm>
          <a:prstGeom prst="roundRect">
            <a:avLst>
              <a:gd name="adj" fmla="val 31250"/>
            </a:avLst>
          </a:prstGeom>
          <a:solidFill>
            <a:srgbClr val="5B91D5"/>
          </a:solidFill>
          <a:ln w="12700">
            <a:solidFill>
              <a:srgbClr val="5B91D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69264" y="3904488"/>
            <a:ext cx="27980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B  /  FRESH GITHUB PR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950976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042416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opens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42416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one-line fix</a:t>
            </a:r>
            <a:endParaRPr lang="en-US" sz="1120" dirty="0"/>
          </a:p>
        </p:txBody>
      </p:sp>
      <p:sp>
        <p:nvSpPr>
          <p:cNvPr id="35" name="Shape 33"/>
          <p:cNvSpPr/>
          <p:nvPr/>
        </p:nvSpPr>
        <p:spPr>
          <a:xfrm>
            <a:off x="3172968" y="46177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3319272" y="45308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547872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639312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reviewer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3639312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comments on PR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5769864" y="46177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916168" y="45308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144768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236208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236208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+ deploy</a:t>
            </a:r>
            <a:endParaRPr lang="en-US" sz="1120" dirty="0"/>
          </a:p>
        </p:txBody>
      </p:sp>
      <p:sp>
        <p:nvSpPr>
          <p:cNvPr id="45" name="Shape 43"/>
          <p:cNvSpPr/>
          <p:nvPr/>
        </p:nvSpPr>
        <p:spPr>
          <a:xfrm>
            <a:off x="8366760" y="46177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8513064" y="45308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8741664" y="43159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8833104" y="44348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833104" y="46908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 the fault</a:t>
            </a:r>
            <a:endParaRPr lang="en-US" sz="1120" dirty="0"/>
          </a:p>
        </p:txBody>
      </p:sp>
      <p:sp>
        <p:nvSpPr>
          <p:cNvPr id="50" name="Text 48"/>
          <p:cNvSpPr/>
          <p:nvPr/>
        </p:nvSpPr>
        <p:spPr>
          <a:xfrm>
            <a:off x="722376" y="5614416"/>
            <a:ext cx="10607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 review does not auto-start from the incident. The two workflows have separate triggers and privileges.</a:t>
            </a:r>
            <a:endParaRPr lang="en-US" sz="14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VERIFIED IN THIS LAB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prompt is not a permission boundary.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1938528"/>
            <a:ext cx="22402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</a:t>
            </a:r>
            <a:endParaRPr lang="en-US" sz="1140" dirty="0"/>
          </a:p>
        </p:txBody>
      </p:sp>
      <p:sp>
        <p:nvSpPr>
          <p:cNvPr id="9" name="Text 7"/>
          <p:cNvSpPr/>
          <p:nvPr/>
        </p:nvSpPr>
        <p:spPr>
          <a:xfrm>
            <a:off x="3136392" y="1938528"/>
            <a:ext cx="3200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ALLOWED WORK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6556248" y="1938528"/>
            <a:ext cx="2697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DO</a:t>
            </a:r>
            <a:endParaRPr lang="en-US" sz="1140" dirty="0"/>
          </a:p>
        </p:txBody>
      </p:sp>
      <p:sp>
        <p:nvSpPr>
          <p:cNvPr id="11" name="Text 9"/>
          <p:cNvSpPr/>
          <p:nvPr/>
        </p:nvSpPr>
        <p:spPr>
          <a:xfrm>
            <a:off x="9390888" y="1938528"/>
            <a:ext cx="21031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BY</a:t>
            </a:r>
            <a:endParaRPr lang="en-US" sz="1140" dirty="0"/>
          </a:p>
        </p:txBody>
      </p:sp>
      <p:sp>
        <p:nvSpPr>
          <p:cNvPr id="12" name="Shape 10"/>
          <p:cNvSpPr/>
          <p:nvPr/>
        </p:nvSpPr>
        <p:spPr>
          <a:xfrm>
            <a:off x="704088" y="2340864"/>
            <a:ext cx="10808208" cy="0"/>
          </a:xfrm>
          <a:prstGeom prst="line">
            <a:avLst/>
          </a:prstGeom>
          <a:noFill/>
          <a:ln w="1778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13232" y="2404872"/>
            <a:ext cx="10762488" cy="649224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95528" y="2487168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RCA</a:t>
            </a:r>
            <a:endParaRPr lang="en-US" sz="1420" dirty="0"/>
          </a:p>
        </p:txBody>
      </p:sp>
      <p:sp>
        <p:nvSpPr>
          <p:cNvPr id="15" name="Text 13"/>
          <p:cNvSpPr/>
          <p:nvPr/>
        </p:nvSpPr>
        <p:spPr>
          <a:xfrm>
            <a:off x="3191256" y="2487168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pods, events, logs</a:t>
            </a:r>
            <a:endParaRPr lang="en-US" sz="1330" dirty="0"/>
          </a:p>
        </p:txBody>
      </p:sp>
      <p:sp>
        <p:nvSpPr>
          <p:cNvPr id="16" name="Text 14"/>
          <p:cNvSpPr/>
          <p:nvPr/>
        </p:nvSpPr>
        <p:spPr>
          <a:xfrm>
            <a:off x="6611112" y="2487168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Secrets; exec; modify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9418320" y="2487168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RBAC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795528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investigator</a:t>
            </a:r>
            <a:endParaRPr lang="en-US" sz="1420" dirty="0"/>
          </a:p>
        </p:txBody>
      </p:sp>
      <p:sp>
        <p:nvSpPr>
          <p:cNvPr id="19" name="Text 17"/>
          <p:cNvSpPr/>
          <p:nvPr/>
        </p:nvSpPr>
        <p:spPr>
          <a:xfrm>
            <a:off x="3191256" y="3209544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metrics + alerts</a:t>
            </a:r>
            <a:endParaRPr lang="en-US" sz="1330" dirty="0"/>
          </a:p>
        </p:txBody>
      </p:sp>
      <p:sp>
        <p:nvSpPr>
          <p:cNvPr id="20" name="Text 18"/>
          <p:cNvSpPr/>
          <p:nvPr/>
        </p:nvSpPr>
        <p:spPr>
          <a:xfrm>
            <a:off x="6611112" y="3209544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/ unlisted tools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9418320" y="3209544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gateway allow list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713232" y="3849624"/>
            <a:ext cx="10762488" cy="649224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95528" y="3931920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</a:t>
            </a:r>
            <a:endParaRPr lang="en-US" sz="1420" dirty="0"/>
          </a:p>
        </p:txBody>
      </p:sp>
      <p:sp>
        <p:nvSpPr>
          <p:cNvPr id="24" name="Text 22"/>
          <p:cNvSpPr/>
          <p:nvPr/>
        </p:nvSpPr>
        <p:spPr>
          <a:xfrm>
            <a:off x="3191256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fix, undo, check</a:t>
            </a:r>
            <a:endParaRPr lang="en-US" sz="1330" dirty="0"/>
          </a:p>
        </p:txBody>
      </p:sp>
      <p:sp>
        <p:nvSpPr>
          <p:cNvPr id="25" name="Text 23"/>
          <p:cNvSpPr/>
          <p:nvPr/>
        </p:nvSpPr>
        <p:spPr>
          <a:xfrm>
            <a:off x="6611112" y="3931920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Touch a live system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9418320" y="3931920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live-system tools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795528" y="4654296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reviewer</a:t>
            </a:r>
            <a:endParaRPr lang="en-US" sz="1420" dirty="0"/>
          </a:p>
        </p:txBody>
      </p:sp>
      <p:sp>
        <p:nvSpPr>
          <p:cNvPr id="28" name="Text 26"/>
          <p:cNvSpPr/>
          <p:nvPr/>
        </p:nvSpPr>
        <p:spPr>
          <a:xfrm>
            <a:off x="3191256" y="4654296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Comment on PR</a:t>
            </a:r>
            <a:endParaRPr lang="en-US" sz="1330" dirty="0"/>
          </a:p>
        </p:txBody>
      </p:sp>
      <p:sp>
        <p:nvSpPr>
          <p:cNvPr id="29" name="Text 27"/>
          <p:cNvSpPr/>
          <p:nvPr/>
        </p:nvSpPr>
        <p:spPr>
          <a:xfrm>
            <a:off x="6611112" y="4654296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or merge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9418320" y="4654296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person merges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768096" y="5650992"/>
            <a:ext cx="10652760" cy="429768"/>
          </a:xfrm>
          <a:prstGeom prst="roundRect">
            <a:avLst>
              <a:gd name="adj" fmla="val 25532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87552" y="5742432"/>
            <a:ext cx="102047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TESTED:  Grafana tools outside the list refused  •  Kubernetes writes denied  •  Over-budget alert not investigated</a:t>
            </a:r>
            <a:endParaRPr lang="en-US" sz="12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DEMO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proof: six things you should see.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53896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SIGNAL</a:t>
            </a:r>
            <a:endParaRPr lang="en-US" sz="1360" dirty="0"/>
          </a:p>
        </p:txBody>
      </p:sp>
      <p:sp>
        <p:nvSpPr>
          <p:cNvPr id="12" name="Text 10"/>
          <p:cNvSpPr/>
          <p:nvPr/>
        </p:nvSpPr>
        <p:spPr>
          <a:xfrm>
            <a:off x="1453896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restart alert</a:t>
            </a:r>
            <a:endParaRPr lang="en-US" sz="1310" dirty="0"/>
          </a:p>
        </p:txBody>
      </p:sp>
      <p:sp>
        <p:nvSpPr>
          <p:cNvPr id="13" name="Shape 11"/>
          <p:cNvSpPr/>
          <p:nvPr/>
        </p:nvSpPr>
        <p:spPr>
          <a:xfrm>
            <a:off x="4462272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99432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645152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230368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5230368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RCA and tool calls</a:t>
            </a:r>
            <a:endParaRPr lang="en-US" sz="1310" dirty="0"/>
          </a:p>
        </p:txBody>
      </p:sp>
      <p:sp>
        <p:nvSpPr>
          <p:cNvPr id="18" name="Shape 16"/>
          <p:cNvSpPr/>
          <p:nvPr/>
        </p:nvSpPr>
        <p:spPr>
          <a:xfrm>
            <a:off x="8238744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375904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21624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006840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</a:t>
            </a:r>
            <a:endParaRPr lang="en-US" sz="1360" dirty="0"/>
          </a:p>
        </p:txBody>
      </p:sp>
      <p:sp>
        <p:nvSpPr>
          <p:cNvPr id="22" name="Text 20"/>
          <p:cNvSpPr/>
          <p:nvPr/>
        </p:nvSpPr>
        <p:spPr>
          <a:xfrm>
            <a:off x="9006840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cannot write</a:t>
            </a:r>
            <a:endParaRPr lang="en-US" sz="1310" dirty="0"/>
          </a:p>
        </p:txBody>
      </p:sp>
      <p:sp>
        <p:nvSpPr>
          <p:cNvPr id="23" name="Shape 21"/>
          <p:cNvSpPr/>
          <p:nvPr/>
        </p:nvSpPr>
        <p:spPr>
          <a:xfrm>
            <a:off x="685800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22960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53896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  <a:endParaRPr lang="en-US" sz="1360" dirty="0"/>
          </a:p>
        </p:txBody>
      </p:sp>
      <p:sp>
        <p:nvSpPr>
          <p:cNvPr id="27" name="Text 25"/>
          <p:cNvSpPr/>
          <p:nvPr/>
        </p:nvSpPr>
        <p:spPr>
          <a:xfrm>
            <a:off x="1453896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restores Redis</a:t>
            </a:r>
            <a:endParaRPr lang="en-US" sz="1310" dirty="0"/>
          </a:p>
        </p:txBody>
      </p:sp>
      <p:sp>
        <p:nvSpPr>
          <p:cNvPr id="28" name="Shape 26"/>
          <p:cNvSpPr/>
          <p:nvPr/>
        </p:nvSpPr>
        <p:spPr>
          <a:xfrm>
            <a:off x="4462272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599432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645152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30368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360" dirty="0"/>
          </a:p>
        </p:txBody>
      </p:sp>
      <p:sp>
        <p:nvSpPr>
          <p:cNvPr id="32" name="Text 30"/>
          <p:cNvSpPr/>
          <p:nvPr/>
        </p:nvSpPr>
        <p:spPr>
          <a:xfrm>
            <a:off x="5230368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Fresh GitHub bot comment</a:t>
            </a:r>
            <a:endParaRPr lang="en-US" sz="1310" dirty="0"/>
          </a:p>
        </p:txBody>
      </p:sp>
      <p:sp>
        <p:nvSpPr>
          <p:cNvPr id="33" name="Shape 31"/>
          <p:cNvSpPr/>
          <p:nvPr/>
        </p:nvSpPr>
        <p:spPr>
          <a:xfrm>
            <a:off x="8247888" y="4626864"/>
            <a:ext cx="3300984" cy="1106424"/>
          </a:xfrm>
          <a:prstGeom prst="roundRect">
            <a:avLst>
              <a:gd name="adj" fmla="val 14050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485632" y="4864608"/>
            <a:ext cx="278892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OUTAGE</a:t>
            </a:r>
            <a:endParaRPr lang="en-US" sz="1680" dirty="0"/>
          </a:p>
        </p:txBody>
      </p:sp>
      <p:sp>
        <p:nvSpPr>
          <p:cNvPr id="35" name="Text 33"/>
          <p:cNvSpPr/>
          <p:nvPr/>
        </p:nvSpPr>
        <p:spPr>
          <a:xfrm>
            <a:off x="8485632" y="5294376"/>
            <a:ext cx="2761488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Trigger, not probe defect</a:t>
            </a:r>
            <a:endParaRPr lang="en-US" sz="1230" dirty="0"/>
          </a:p>
        </p:txBody>
      </p:sp>
      <p:sp>
        <p:nvSpPr>
          <p:cNvPr id="36" name="Shape 34"/>
          <p:cNvSpPr/>
          <p:nvPr/>
        </p:nvSpPr>
        <p:spPr>
          <a:xfrm>
            <a:off x="685800" y="4626864"/>
            <a:ext cx="7251192" cy="1106424"/>
          </a:xfrm>
          <a:prstGeom prst="roundRect">
            <a:avLst>
              <a:gd name="adj" fmla="val 14050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32688" y="4864608"/>
            <a:ext cx="6711696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ROOT CAUSE OF AVOIDABLE RESTARTS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32688" y="5248656"/>
            <a:ext cx="67208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8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Redis-sensitive /readyz was misused for liveness.</a:t>
            </a:r>
            <a:endParaRPr lang="en-US" sz="1580" dirty="0"/>
          </a:p>
        </p:txBody>
      </p:sp>
      <p:sp>
        <p:nvSpPr>
          <p:cNvPr id="39" name="Shape 26"/>
          <p:cNvSpPr/>
          <p:nvPr/>
        </p:nvSpPr>
        <p:spPr>
          <a:xfrm>
            <a:off x="8238744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0" name="Shape 27"/>
          <p:cNvSpPr/>
          <p:nvPr/>
        </p:nvSpPr>
        <p:spPr>
          <a:xfrm>
            <a:off x="8375904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28"/>
          <p:cNvSpPr/>
          <p:nvPr/>
        </p:nvSpPr>
        <p:spPr>
          <a:xfrm>
            <a:off x="8421624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42" name="Text 29"/>
          <p:cNvSpPr/>
          <p:nvPr/>
        </p:nvSpPr>
        <p:spPr>
          <a:xfrm>
            <a:off x="9006840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1360" dirty="0"/>
          </a:p>
        </p:txBody>
      </p:sp>
      <p:sp>
        <p:nvSpPr>
          <p:cNvPr id="43" name="Text 30"/>
          <p:cNvSpPr/>
          <p:nvPr/>
        </p:nvSpPr>
        <p:spPr>
          <a:xfrm>
            <a:off x="9006840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Owner, cost and audit trail</a:t>
            </a:r>
            <a:endParaRPr lang="en-US" sz="13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D8F8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/ ACTUAL SCREENS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01 | Signal → evidence-backed diagnosis</a:t>
            </a:r>
            <a:endParaRPr lang="en-US" sz="298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41248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1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4526280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2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8302752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94192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3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31520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41832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41832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down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restart + liveness 503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41832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kills a healthy API because its liveness check needs Redis.</a:t>
            </a:r>
            <a:endParaRPr lang="en-US" sz="1290" dirty="0"/>
          </a:p>
        </p:txBody>
      </p:sp>
      <p:sp>
        <p:nvSpPr>
          <p:cNvPr id="18" name="Shape 16"/>
          <p:cNvSpPr/>
          <p:nvPr/>
        </p:nvSpPr>
        <p:spPr>
          <a:xfrm>
            <a:off x="4215384" y="3520440"/>
            <a:ext cx="237744" cy="0"/>
          </a:xfrm>
          <a:prstGeom prst="line">
            <a:avLst/>
          </a:prstGeom>
          <a:noFill/>
          <a:ln w="30480">
            <a:solidFill>
              <a:srgbClr val="D8F8F3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343400" y="3433572"/>
            <a:ext cx="146304" cy="173736"/>
          </a:xfrm>
          <a:prstGeom prst="chevron">
            <a:avLst/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498848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09160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CLOUD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709160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fires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 + timestamp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709160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Fires about 3 minutes in. Says what and when, not why.</a:t>
            </a:r>
            <a:endParaRPr lang="en-US" sz="1290" dirty="0"/>
          </a:p>
        </p:txBody>
      </p:sp>
      <p:sp>
        <p:nvSpPr>
          <p:cNvPr id="24" name="Shape 22"/>
          <p:cNvSpPr/>
          <p:nvPr/>
        </p:nvSpPr>
        <p:spPr>
          <a:xfrm>
            <a:off x="7982712" y="3520440"/>
            <a:ext cx="237744" cy="0"/>
          </a:xfrm>
          <a:prstGeom prst="line">
            <a:avLst/>
          </a:prstGeom>
          <a:noFill/>
          <a:ln w="30480">
            <a:solidFill>
              <a:srgbClr val="D8F8F3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10728" y="3433572"/>
            <a:ext cx="146304" cy="173736"/>
          </a:xfrm>
          <a:prstGeom prst="chevron">
            <a:avLst/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266176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76488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INCIDENT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476488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RCA + Grafana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orchestrated finding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476488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specialists. The orchestrator scores each possible cause.</a:t>
            </a:r>
            <a:endParaRPr lang="en-US" sz="1290" dirty="0"/>
          </a:p>
        </p:txBody>
      </p:sp>
      <p:sp>
        <p:nvSpPr>
          <p:cNvPr id="30" name="Shape 28"/>
          <p:cNvSpPr/>
          <p:nvPr/>
        </p:nvSpPr>
        <p:spPr>
          <a:xfrm>
            <a:off x="731520" y="5138928"/>
            <a:ext cx="10972800" cy="694944"/>
          </a:xfrm>
          <a:prstGeom prst="roundRect">
            <a:avLst>
              <a:gd name="adj" fmla="val 18421"/>
            </a:avLst>
          </a:prstGeom>
          <a:solidFill>
            <a:srgbClr val="22364B"/>
          </a:solidFill>
          <a:ln w="12700">
            <a:solidFill>
              <a:srgbClr val="22364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051560" y="5321808"/>
            <a:ext cx="4215384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OUTAGE  =  TRIGGER</a:t>
            </a:r>
            <a:endParaRPr lang="en-US" sz="1530" dirty="0"/>
          </a:p>
        </p:txBody>
      </p:sp>
      <p:sp>
        <p:nvSpPr>
          <p:cNvPr id="32" name="Text 30"/>
          <p:cNvSpPr/>
          <p:nvPr/>
        </p:nvSpPr>
        <p:spPr>
          <a:xfrm>
            <a:off x="5038344" y="5303520"/>
            <a:ext cx="61722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DEPENDENCY-COUPLED LIVENESS  =  RESTART ROOT CAUSE</a:t>
            </a:r>
            <a:endParaRPr lang="en-US" sz="14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D8F8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/ NO HIDDEN AUTOMATION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02 | Human decision → reviewed change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8096" y="1901952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32688" y="2029968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87552" y="2171700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1545336" y="2039112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proposes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91000" y="2057400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Restore Redis now + durable probe fix</a:t>
            </a:r>
            <a:endParaRPr lang="en-US" sz="1270" dirty="0"/>
          </a:p>
        </p:txBody>
      </p:sp>
      <p:sp>
        <p:nvSpPr>
          <p:cNvPr id="13" name="Shape 11"/>
          <p:cNvSpPr/>
          <p:nvPr/>
        </p:nvSpPr>
        <p:spPr>
          <a:xfrm>
            <a:off x="768096" y="2734056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32688" y="2862072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F4B860"/>
          </a:solidFill>
          <a:ln w="12700">
            <a:solidFill>
              <a:srgbClr val="F4B86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87552" y="3003804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1545336" y="2871216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APPLIES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91000" y="2889504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kubectl restores Redis in the lab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768096" y="3566160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32688" y="3694176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7552" y="3835908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1545336" y="3703320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OPENS PR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191000" y="3721608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liveness /readyz → /healthz</a:t>
            </a:r>
            <a:endParaRPr lang="en-US" sz="1270" dirty="0"/>
          </a:p>
        </p:txBody>
      </p:sp>
      <p:sp>
        <p:nvSpPr>
          <p:cNvPr id="23" name="Shape 21"/>
          <p:cNvSpPr/>
          <p:nvPr/>
        </p:nvSpPr>
        <p:spPr>
          <a:xfrm>
            <a:off x="768096" y="4398264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32688" y="4526280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87552" y="4668012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1545336" y="4535424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REVIEWER COMMENTS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191000" y="4553712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KAOP GitHub workflow</a:t>
            </a:r>
            <a:endParaRPr lang="en-US" sz="1270" dirty="0"/>
          </a:p>
        </p:txBody>
      </p:sp>
      <p:sp>
        <p:nvSpPr>
          <p:cNvPr id="28" name="Shape 26"/>
          <p:cNvSpPr/>
          <p:nvPr/>
        </p:nvSpPr>
        <p:spPr>
          <a:xfrm>
            <a:off x="7763256" y="1901952"/>
            <a:ext cx="3575304" cy="3209544"/>
          </a:xfrm>
          <a:prstGeom prst="roundRect">
            <a:avLst>
              <a:gd name="adj" fmla="val 5128"/>
            </a:avLst>
          </a:prstGeom>
          <a:solidFill>
            <a:srgbClr val="1D2F42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046720" y="2176272"/>
            <a:ext cx="3099816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AGENT DID THESE</a:t>
            </a:r>
            <a:endParaRPr lang="en-US" sz="1740" dirty="0"/>
          </a:p>
        </p:txBody>
      </p:sp>
      <p:sp>
        <p:nvSpPr>
          <p:cNvPr id="30" name="Text 28"/>
          <p:cNvSpPr/>
          <p:nvPr/>
        </p:nvSpPr>
        <p:spPr>
          <a:xfrm>
            <a:off x="8028432" y="2798064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66760" y="2807208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 production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028432" y="3364992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366760" y="3374136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or merged the PR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028432" y="3931920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366760" y="3941064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Took credit for the fix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58952" y="5513832"/>
            <a:ext cx="10579608" cy="411480"/>
          </a:xfrm>
          <a:prstGeom prst="roundRect">
            <a:avLst>
              <a:gd name="adj" fmla="val 2444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23544" y="5623560"/>
            <a:ext cx="10296144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 tested on the same outage: 5 liveness kills in 5 minutes before, 0 after.</a:t>
            </a:r>
            <a:endParaRPr lang="en-US" sz="14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QUALITY + COST MEASURED HERE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completed run is not a correct run.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4944" y="1874520"/>
            <a:ext cx="5486400" cy="3419856"/>
          </a:xfrm>
          <a:prstGeom prst="roundRect">
            <a:avLst>
              <a:gd name="adj" fmla="val 5615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2157984"/>
            <a:ext cx="50292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13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 QUALITY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23544" y="2706624"/>
            <a:ext cx="210312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667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of 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953512" y="2834640"/>
            <a:ext cx="4480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3483864" y="2706624"/>
            <a:ext cx="237744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of 10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14400" y="3456432"/>
            <a:ext cx="50292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1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found the actual cause</a:t>
            </a:r>
            <a:endParaRPr lang="en-US" sz="1710" dirty="0"/>
          </a:p>
        </p:txBody>
      </p:sp>
      <p:sp>
        <p:nvSpPr>
          <p:cNvPr id="14" name="Text 12"/>
          <p:cNvSpPr/>
          <p:nvPr/>
        </p:nvSpPr>
        <p:spPr>
          <a:xfrm>
            <a:off x="914400" y="3959352"/>
            <a:ext cx="493776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/ with one documented probe standard.</a:t>
            </a:r>
            <a:endParaRPr lang="en-US" sz="1460" dirty="0"/>
          </a:p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investigation input; small lab samples.</a:t>
            </a:r>
            <a:endParaRPr lang="en-US" sz="1460" dirty="0"/>
          </a:p>
        </p:txBody>
      </p:sp>
      <p:sp>
        <p:nvSpPr>
          <p:cNvPr id="15" name="Shape 13"/>
          <p:cNvSpPr/>
          <p:nvPr/>
        </p:nvSpPr>
        <p:spPr>
          <a:xfrm>
            <a:off x="6391656" y="1874520"/>
            <a:ext cx="5093208" cy="3419856"/>
          </a:xfrm>
          <a:prstGeom prst="roundRect">
            <a:avLst>
              <a:gd name="adj" fmla="val 5615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601968" y="2157984"/>
            <a:ext cx="46634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OF THE GRAFANA INVESTIGATOR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20256" y="2706624"/>
            <a:ext cx="1792224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$0.68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430768" y="2834640"/>
            <a:ext cx="4480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8924544" y="2706624"/>
            <a:ext cx="210312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$0.53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611112" y="3456432"/>
            <a:ext cx="46634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1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average per run</a:t>
            </a:r>
            <a:endParaRPr lang="en-US" sz="1710" dirty="0"/>
          </a:p>
        </p:txBody>
      </p:sp>
      <p:sp>
        <p:nvSpPr>
          <p:cNvPr id="21" name="Text 19"/>
          <p:cNvSpPr/>
          <p:nvPr/>
        </p:nvSpPr>
        <p:spPr>
          <a:xfrm>
            <a:off x="6611112" y="3959352"/>
            <a:ext cx="457200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read tools versus a broader toolset.</a:t>
            </a:r>
            <a:endParaRPr lang="en-US" sz="1460" dirty="0"/>
          </a:p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runs per setup; identical cases vary.</a:t>
            </a:r>
            <a:endParaRPr lang="en-US" sz="1460" dirty="0"/>
          </a:p>
        </p:txBody>
      </p:sp>
      <p:sp>
        <p:nvSpPr>
          <p:cNvPr id="22" name="Shape 20"/>
          <p:cNvSpPr/>
          <p:nvPr/>
        </p:nvSpPr>
        <p:spPr>
          <a:xfrm>
            <a:off x="694944" y="5495544"/>
            <a:ext cx="10789920" cy="438912"/>
          </a:xfrm>
          <a:prstGeom prst="roundRect">
            <a:avLst>
              <a:gd name="adj" fmla="val 2291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14400" y="5614416"/>
            <a:ext cx="1037844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BENCHMARK: Hosted agent changed version during tests; evaluation must be repeated in the customer environment.</a:t>
            </a:r>
            <a:endParaRPr lang="en-US" sz="11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PRODUCT ENGINEERING, NOT JUST A DEMO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 autonomy through measured adoption.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13232" y="2057400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06AFA5"/>
          </a:solidFill>
          <a:ln w="1016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59536" y="2194560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</a:t>
            </a:r>
            <a:endParaRPr lang="en-US" sz="1660" dirty="0"/>
          </a:p>
        </p:txBody>
      </p:sp>
      <p:sp>
        <p:nvSpPr>
          <p:cNvPr id="11" name="Text 9"/>
          <p:cNvSpPr/>
          <p:nvPr/>
        </p:nvSpPr>
        <p:spPr>
          <a:xfrm>
            <a:off x="859536" y="2980944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RCA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3300984" y="2697480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64992" y="261061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547872" y="1938528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94176" y="2075688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694176" y="2414016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</a:t>
            </a:r>
            <a:endParaRPr lang="en-US" sz="1660" dirty="0"/>
          </a:p>
        </p:txBody>
      </p:sp>
      <p:sp>
        <p:nvSpPr>
          <p:cNvPr id="17" name="Text 15"/>
          <p:cNvSpPr/>
          <p:nvPr/>
        </p:nvSpPr>
        <p:spPr>
          <a:xfrm>
            <a:off x="3694176" y="2862072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Proposals + evidence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6135624" y="2578608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99632" y="24917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82512" y="1819656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28816" y="1956816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28816" y="2295144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EXECUTE</a:t>
            </a:r>
            <a:endParaRPr lang="en-US" sz="1660" dirty="0"/>
          </a:p>
        </p:txBody>
      </p:sp>
      <p:sp>
        <p:nvSpPr>
          <p:cNvPr id="23" name="Text 21"/>
          <p:cNvSpPr/>
          <p:nvPr/>
        </p:nvSpPr>
        <p:spPr>
          <a:xfrm>
            <a:off x="6528816" y="2743200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gates writes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8970264" y="2459736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034272" y="2372868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217152" y="1700784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363456" y="1837944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363456" y="2176272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PRE-APPROVE</a:t>
            </a:r>
            <a:endParaRPr lang="en-US" sz="1660" dirty="0"/>
          </a:p>
        </p:txBody>
      </p:sp>
      <p:sp>
        <p:nvSpPr>
          <p:cNvPr id="29" name="Text 27"/>
          <p:cNvSpPr/>
          <p:nvPr/>
        </p:nvSpPr>
        <p:spPr>
          <a:xfrm>
            <a:off x="9363456" y="2624328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low-risk repeats</a:t>
            </a:r>
            <a:endParaRPr lang="en-US" sz="1220" dirty="0"/>
          </a:p>
        </p:txBody>
      </p:sp>
      <p:sp>
        <p:nvSpPr>
          <p:cNvPr id="30" name="Text 28"/>
          <p:cNvSpPr/>
          <p:nvPr/>
        </p:nvSpPr>
        <p:spPr>
          <a:xfrm>
            <a:off x="749808" y="3831336"/>
            <a:ext cx="1067104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the workflow before increasing its authority.</a:t>
            </a:r>
            <a:endParaRPr lang="en-US" sz="2150" dirty="0"/>
          </a:p>
        </p:txBody>
      </p:sp>
      <p:sp>
        <p:nvSpPr>
          <p:cNvPr id="31" name="Shape 29"/>
          <p:cNvSpPr/>
          <p:nvPr/>
        </p:nvSpPr>
        <p:spPr>
          <a:xfrm>
            <a:off x="731520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77824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252728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RCA + evidence</a:t>
            </a:r>
            <a:endParaRPr lang="en-US" sz="1330" dirty="0"/>
          </a:p>
        </p:txBody>
      </p:sp>
      <p:sp>
        <p:nvSpPr>
          <p:cNvPr id="34" name="Shape 32"/>
          <p:cNvSpPr/>
          <p:nvPr/>
        </p:nvSpPr>
        <p:spPr>
          <a:xfrm>
            <a:off x="4443984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590288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4965192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to useful decision</a:t>
            </a:r>
            <a:endParaRPr lang="en-US" sz="1330" dirty="0"/>
          </a:p>
        </p:txBody>
      </p:sp>
      <p:sp>
        <p:nvSpPr>
          <p:cNvPr id="37" name="Shape 35"/>
          <p:cNvSpPr/>
          <p:nvPr/>
        </p:nvSpPr>
        <p:spPr>
          <a:xfrm>
            <a:off x="8156448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302752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8677656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compliance</a:t>
            </a:r>
            <a:endParaRPr lang="en-US" sz="1330" dirty="0"/>
          </a:p>
        </p:txBody>
      </p:sp>
      <p:sp>
        <p:nvSpPr>
          <p:cNvPr id="40" name="Shape 38"/>
          <p:cNvSpPr/>
          <p:nvPr/>
        </p:nvSpPr>
        <p:spPr>
          <a:xfrm>
            <a:off x="731520" y="508406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77824" y="518922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1252728" y="518007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per useful run</a:t>
            </a:r>
            <a:endParaRPr lang="en-US" sz="1330" dirty="0"/>
          </a:p>
        </p:txBody>
      </p:sp>
      <p:sp>
        <p:nvSpPr>
          <p:cNvPr id="43" name="Shape 41"/>
          <p:cNvSpPr/>
          <p:nvPr/>
        </p:nvSpPr>
        <p:spPr>
          <a:xfrm>
            <a:off x="4443984" y="508406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90288" y="518922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4965192" y="518007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 adoption</a:t>
            </a:r>
            <a:endParaRPr lang="en-US" sz="13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CUSTOMER NEXT STEP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pilot. One owner. One decision to expand.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2376" y="1865376"/>
            <a:ext cx="5669280" cy="3547872"/>
          </a:xfrm>
          <a:prstGeom prst="roundRect">
            <a:avLst>
              <a:gd name="adj" fmla="val 56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78408" y="2176272"/>
            <a:ext cx="50200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10" b="1" spc="5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WORKFLOW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978408" y="2743200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71016" y="2679192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Named technical owner + interested users</a:t>
            </a:r>
            <a:endParaRPr lang="en-US" sz="1470" dirty="0"/>
          </a:p>
        </p:txBody>
      </p:sp>
      <p:sp>
        <p:nvSpPr>
          <p:cNvPr id="12" name="Shape 10"/>
          <p:cNvSpPr/>
          <p:nvPr/>
        </p:nvSpPr>
        <p:spPr>
          <a:xfrm>
            <a:off x="978408" y="3310128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71016" y="3246120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alert or PR workflow, not a fleet migration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978408" y="3877056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71016" y="3813048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Scoped access, human gates, baseline metrics</a:t>
            </a:r>
            <a:endParaRPr lang="en-US" sz="1470" dirty="0"/>
          </a:p>
        </p:txBody>
      </p:sp>
      <p:sp>
        <p:nvSpPr>
          <p:cNvPr id="16" name="Shape 14"/>
          <p:cNvSpPr/>
          <p:nvPr/>
        </p:nvSpPr>
        <p:spPr>
          <a:xfrm>
            <a:off x="978408" y="4443984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271016" y="4379976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actual outputs and adoption after pilot</a:t>
            </a:r>
            <a:endParaRPr lang="en-US" sz="1470" dirty="0"/>
          </a:p>
        </p:txBody>
      </p:sp>
      <p:sp>
        <p:nvSpPr>
          <p:cNvPr id="18" name="Shape 16"/>
          <p:cNvSpPr/>
          <p:nvPr/>
        </p:nvSpPr>
        <p:spPr>
          <a:xfrm>
            <a:off x="6620256" y="1865376"/>
            <a:ext cx="4873752" cy="3547872"/>
          </a:xfrm>
          <a:prstGeom prst="roundRect">
            <a:avLst>
              <a:gd name="adj" fmla="val 5928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940296" y="2249424"/>
            <a:ext cx="421538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QUESTION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40296" y="2816352"/>
            <a:ext cx="4169664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workflow would be worth proving first?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6940296" y="4251960"/>
            <a:ext cx="4133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B5C8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who would lead the scoping session with us?</a:t>
            </a:r>
            <a:endParaRPr lang="en-US" sz="17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" y="566928"/>
            <a:ext cx="164592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95528" y="621792"/>
            <a:ext cx="14630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THOUGHT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704088" y="1307592"/>
            <a:ext cx="9966960" cy="1609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AGENTS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ACCOUNTABLE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04088" y="3008376"/>
            <a:ext cx="10515600" cy="1536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MAKING THEM</a:t>
            </a:r>
            <a:endParaRPr lang="en-US" sz="4100" dirty="0"/>
          </a:p>
          <a:p>
            <a:pPr algn="l" indent="0" marL="0">
              <a:buNone/>
            </a:pPr>
            <a:r>
              <a:rPr lang="en-US" sz="41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AUTONOMOUS.</a:t>
            </a:r>
            <a:endParaRPr lang="en-US" sz="4100" dirty="0"/>
          </a:p>
        </p:txBody>
      </p:sp>
      <p:sp>
        <p:nvSpPr>
          <p:cNvPr id="6" name="Shape 4"/>
          <p:cNvSpPr/>
          <p:nvPr/>
        </p:nvSpPr>
        <p:spPr>
          <a:xfrm>
            <a:off x="704088" y="5029200"/>
            <a:ext cx="10725912" cy="0"/>
          </a:xfrm>
          <a:prstGeom prst="line">
            <a:avLst/>
          </a:prstGeom>
          <a:noFill/>
          <a:ln w="1905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13232" y="5349240"/>
            <a:ext cx="3044952" cy="347472"/>
          </a:xfrm>
          <a:prstGeom prst="roundRect">
            <a:avLst>
              <a:gd name="adj" fmla="val 39474"/>
            </a:avLst>
          </a:prstGeom>
          <a:solidFill>
            <a:srgbClr val="101E2D"/>
          </a:solidFill>
          <a:ln w="12700">
            <a:solidFill>
              <a:srgbClr val="101E2D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5422392"/>
            <a:ext cx="2825496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4078224" y="5349240"/>
            <a:ext cx="3044952" cy="347472"/>
          </a:xfrm>
          <a:prstGeom prst="roundRect">
            <a:avLst>
              <a:gd name="adj" fmla="val 39474"/>
            </a:avLst>
          </a:prstGeom>
          <a:solidFill>
            <a:srgbClr val="101E2D"/>
          </a:solidFill>
          <a:ln w="12700">
            <a:solidFill>
              <a:srgbClr val="101E2D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87952" y="5422392"/>
            <a:ext cx="2825496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LIMITS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7443216" y="5349240"/>
            <a:ext cx="3657600" cy="347472"/>
          </a:xfrm>
          <a:prstGeom prst="roundRect">
            <a:avLst>
              <a:gd name="adj" fmla="val 3947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552944" y="5422392"/>
            <a:ext cx="343814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→ DECISION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731520" y="6144768"/>
            <a:ext cx="87782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C0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would a first pilot need to show you?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93192"/>
            <a:ext cx="91440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/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22960"/>
            <a:ext cx="107716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9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results: what was actually measured</a:t>
            </a:r>
            <a:endParaRPr lang="en-US" sz="2940" dirty="0"/>
          </a:p>
        </p:txBody>
      </p:sp>
      <p:sp>
        <p:nvSpPr>
          <p:cNvPr id="4" name="Shape 2"/>
          <p:cNvSpPr/>
          <p:nvPr/>
        </p:nvSpPr>
        <p:spPr>
          <a:xfrm>
            <a:off x="685800" y="6327648"/>
            <a:ext cx="10744200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6428232"/>
            <a:ext cx="45720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 •  REFERENCE</a:t>
            </a:r>
            <a:endParaRPr lang="en-US" sz="970" dirty="0"/>
          </a:p>
        </p:txBody>
      </p:sp>
      <p:sp>
        <p:nvSpPr>
          <p:cNvPr id="6" name="Shape 4"/>
          <p:cNvSpPr/>
          <p:nvPr/>
        </p:nvSpPr>
        <p:spPr>
          <a:xfrm>
            <a:off x="731520" y="1746504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23544" y="1874520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 vs fix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953512" y="1874520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Bad probe: 5 liveness kills in 5 min; corrected probe: zero.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2368296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23544" y="2496312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 timing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953512" y="2496312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at +3:26 and +3:09 in two October 25 rehearsals.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2990088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23544" y="3118104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timing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953512" y="3118104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 suggestions ready around +11:30 and +13:36.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31520" y="3611880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23544" y="3739896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 reviewer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2953512" y="3739896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comment in 35 s and 33 s on rehearsal PRs.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31520" y="4233672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23544" y="4361688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2953512" y="4361688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10/10 with standards doc; 1/5 without, in stated comparison.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31520" y="4855464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23544" y="4983480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2953512" y="4983480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$0.68 → $0.53 average for 5 vs 5 Grafana agent runs.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58952" y="5806440"/>
            <a:ext cx="105156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Caveats: Single-node kind lab, small samples, shared dependency cause, and a hosted-agent upgrade during experiments.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93192"/>
            <a:ext cx="91440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/ SCOPE BOUNDARIES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22960"/>
            <a:ext cx="107716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9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had authority in this specific lab</a:t>
            </a:r>
            <a:endParaRPr lang="en-US" sz="2940" dirty="0"/>
          </a:p>
        </p:txBody>
      </p:sp>
      <p:sp>
        <p:nvSpPr>
          <p:cNvPr id="4" name="Shape 2"/>
          <p:cNvSpPr/>
          <p:nvPr/>
        </p:nvSpPr>
        <p:spPr>
          <a:xfrm>
            <a:off x="685800" y="6327648"/>
            <a:ext cx="10744200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6428232"/>
            <a:ext cx="45720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 •  REFERENCE</a:t>
            </a:r>
            <a:endParaRPr lang="en-US" sz="970" dirty="0"/>
          </a:p>
        </p:txBody>
      </p:sp>
      <p:sp>
        <p:nvSpPr>
          <p:cNvPr id="6" name="Text 4"/>
          <p:cNvSpPr/>
          <p:nvPr/>
        </p:nvSpPr>
        <p:spPr>
          <a:xfrm>
            <a:off x="804672" y="1691640"/>
            <a:ext cx="283464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/ ACTION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547872" y="1691640"/>
            <a:ext cx="4114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SCOPE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110728" y="1691640"/>
            <a:ext cx="3081528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EXCLUDED ACTIONS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4672" y="2011680"/>
            <a:ext cx="10451592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207568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86968" y="217627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RCA</a:t>
            </a:r>
            <a:endParaRPr lang="en-US" sz="1370" dirty="0"/>
          </a:p>
        </p:txBody>
      </p:sp>
      <p:sp>
        <p:nvSpPr>
          <p:cNvPr id="12" name="Text 10"/>
          <p:cNvSpPr/>
          <p:nvPr/>
        </p:nvSpPr>
        <p:spPr>
          <a:xfrm>
            <a:off x="3529584" y="217627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read-only via ServiceAccount RBAC</a:t>
            </a:r>
            <a:endParaRPr lang="en-US" sz="1310" dirty="0"/>
          </a:p>
        </p:txBody>
      </p:sp>
      <p:sp>
        <p:nvSpPr>
          <p:cNvPr id="13" name="Text 11"/>
          <p:cNvSpPr/>
          <p:nvPr/>
        </p:nvSpPr>
        <p:spPr>
          <a:xfrm>
            <a:off x="8129016" y="217627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Secrets, exec, delete, patch, scale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86968" y="281635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investigator</a:t>
            </a:r>
            <a:endParaRPr lang="en-US" sz="1370" dirty="0"/>
          </a:p>
        </p:txBody>
      </p:sp>
      <p:sp>
        <p:nvSpPr>
          <p:cNvPr id="15" name="Text 13"/>
          <p:cNvSpPr/>
          <p:nvPr/>
        </p:nvSpPr>
        <p:spPr>
          <a:xfrm>
            <a:off x="3529584" y="281635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selected read tools through KAOP gateway</a:t>
            </a:r>
            <a:endParaRPr lang="en-US" sz="1310" dirty="0"/>
          </a:p>
        </p:txBody>
      </p:sp>
      <p:sp>
        <p:nvSpPr>
          <p:cNvPr id="16" name="Text 14"/>
          <p:cNvSpPr/>
          <p:nvPr/>
        </p:nvSpPr>
        <p:spPr>
          <a:xfrm>
            <a:off x="8129016" y="281635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families outside allow list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335584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86968" y="345643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budget</a:t>
            </a:r>
            <a:endParaRPr lang="en-US" sz="1370" dirty="0"/>
          </a:p>
        </p:txBody>
      </p:sp>
      <p:sp>
        <p:nvSpPr>
          <p:cNvPr id="19" name="Text 17"/>
          <p:cNvSpPr/>
          <p:nvPr/>
        </p:nvSpPr>
        <p:spPr>
          <a:xfrm>
            <a:off x="3529584" y="345643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$40 a day; new runs blocked at the cap</a:t>
            </a:r>
            <a:endParaRPr lang="en-US" sz="1310" dirty="0"/>
          </a:p>
        </p:txBody>
      </p:sp>
      <p:sp>
        <p:nvSpPr>
          <p:cNvPr id="20" name="Text 18"/>
          <p:cNvSpPr/>
          <p:nvPr/>
        </p:nvSpPr>
        <p:spPr>
          <a:xfrm>
            <a:off x="8129016" y="345643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past the cap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6968" y="409651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</a:t>
            </a:r>
            <a:endParaRPr lang="en-US" sz="1370" dirty="0"/>
          </a:p>
        </p:txBody>
      </p:sp>
      <p:sp>
        <p:nvSpPr>
          <p:cNvPr id="22" name="Text 20"/>
          <p:cNvSpPr/>
          <p:nvPr/>
        </p:nvSpPr>
        <p:spPr>
          <a:xfrm>
            <a:off x="3529584" y="409651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and recommend, with verification</a:t>
            </a:r>
            <a:endParaRPr lang="en-US" sz="1310" dirty="0"/>
          </a:p>
        </p:txBody>
      </p:sp>
      <p:sp>
        <p:nvSpPr>
          <p:cNvPr id="23" name="Text 21"/>
          <p:cNvSpPr/>
          <p:nvPr/>
        </p:nvSpPr>
        <p:spPr>
          <a:xfrm>
            <a:off x="8129016" y="409651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tools on any live system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77240" y="463600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86968" y="473659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reviewer</a:t>
            </a:r>
            <a:endParaRPr lang="en-US" sz="1370" dirty="0"/>
          </a:p>
        </p:txBody>
      </p:sp>
      <p:sp>
        <p:nvSpPr>
          <p:cNvPr id="26" name="Text 24"/>
          <p:cNvSpPr/>
          <p:nvPr/>
        </p:nvSpPr>
        <p:spPr>
          <a:xfrm>
            <a:off x="3529584" y="473659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Issue-style review comment on a real PR</a:t>
            </a:r>
            <a:endParaRPr lang="en-US" sz="1310" dirty="0"/>
          </a:p>
        </p:txBody>
      </p:sp>
      <p:sp>
        <p:nvSpPr>
          <p:cNvPr id="27" name="Text 25"/>
          <p:cNvSpPr/>
          <p:nvPr/>
        </p:nvSpPr>
        <p:spPr>
          <a:xfrm>
            <a:off x="8129016" y="473659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approve or merge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" y="5669280"/>
            <a:ext cx="10460736" cy="420624"/>
          </a:xfrm>
          <a:prstGeom prst="roundRect">
            <a:avLst>
              <a:gd name="adj" fmla="val 26087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60120" y="5788152"/>
            <a:ext cx="101498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applies recovery; the workflow records that distinction.</a:t>
            </a:r>
            <a:endParaRPr lang="en-US" sz="13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Independent presentation draft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KAOP customer pitch</dc:title>
  <dc:subject/>
  <dc:creator>Echizeni Ikpah</dc:creator>
  <cp:lastModifiedBy>Echizeni Ikpah</cp:lastModifiedBy>
  <cp:revision>1</cp:revision>
  <dcterms:created xsi:type="dcterms:W3CDTF">2026-10-26T20:19:41Z</dcterms:created>
  <dcterms:modified xsi:type="dcterms:W3CDTF">2026-10-26T20:19:41Z</dcterms:modified>
  <dc:description/>
  <cp:keywords/>
</cp:coreProperties>
</file>