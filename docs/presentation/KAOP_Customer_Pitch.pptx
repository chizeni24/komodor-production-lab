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0" r:id="rId16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2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" y="475488"/>
            <a:ext cx="34747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86384" y="530352"/>
            <a:ext cx="3291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AGENT OPERATIONS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694944" y="1261872"/>
            <a:ext cx="6766560" cy="1508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TEAMS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HAVE AGENTS.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94944" y="2880360"/>
            <a:ext cx="6035040" cy="1499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RISK?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13232" y="4892040"/>
            <a:ext cx="7863840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D6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useful?  •  Can we see how?  •  Within the limits?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22376" y="6089904"/>
            <a:ext cx="822960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Echizeni Ikpah    |    Product Engineer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635240" y="1051560"/>
            <a:ext cx="3931920" cy="3931920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29384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110728" y="1527048"/>
            <a:ext cx="2980944" cy="2980944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33536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8586216" y="2002536"/>
            <a:ext cx="2029968" cy="2029968"/>
          </a:xfrm>
          <a:prstGeom prst="ellipse">
            <a:avLst/>
          </a:prstGeom>
          <a:solidFill>
            <a:srgbClr val="0C1423">
              <a:alpha val="0"/>
            </a:srgbClr>
          </a:solidFill>
          <a:ln w="25400">
            <a:solidFill>
              <a:srgbClr val="087D7D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558784" y="2450592"/>
            <a:ext cx="2103120" cy="1143000"/>
          </a:xfrm>
          <a:prstGeom prst="roundRect">
            <a:avLst>
              <a:gd name="adj" fmla="val 1920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41664" y="2651760"/>
            <a:ext cx="1737360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714232" y="3072384"/>
            <a:ext cx="1783080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662672" y="131673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08392" y="158648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10579608" y="149047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625328" y="176022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DEV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635240" y="4279392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680960" y="4549140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634472" y="4334256"/>
            <a:ext cx="731520" cy="731520"/>
          </a:xfrm>
          <a:prstGeom prst="ellipse">
            <a:avLst/>
          </a:prstGeom>
          <a:solidFill>
            <a:srgbClr val="101E2D"/>
          </a:solidFill>
          <a:ln w="21590">
            <a:solidFill>
              <a:srgbClr val="C6F783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680192" y="4604004"/>
            <a:ext cx="640080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INTRODUCTION  /  AGENDA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Today: one real incident and a first step.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7" name="Rounded Rectangle 6"/>
          <p:cNvSpPr/>
          <p:nvPr/>
        </p:nvSpPr>
        <p:spPr>
          <a:xfrm>
            <a:off x="673100" y="1905000"/>
            <a:ext cx="3683000" cy="3683000"/>
          </a:xfrm>
          <a:prstGeom prst="roundRect">
            <a:avLst>
              <a:gd name="adj" fmla="val 8000"/>
            </a:avLst>
          </a:prstGeom>
          <a:solidFill>
            <a:srgbClr val="0C1423"/>
          </a:solidFill>
          <a:ln>
            <a:solidFill>
              <a:srgbClr val="0C1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2500" y="2184400"/>
            <a:ext cx="3175000" cy="317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6F783"/>
                </a:solidFill>
                <a:latin typeface="Aptos"/>
              </a:rPr>
              <a:t>YOUR PRESENTER</a:t>
            </a:r>
          </a:p>
          <a:p>
            <a:pPr>
              <a:spcBef>
                <a:spcPts val="600"/>
              </a:spcBef>
            </a:pPr>
            <a:r>
              <a:rPr sz="2400" b="1">
                <a:solidFill>
                  <a:srgbClr val="FFFFFF"/>
                </a:solidFill>
                <a:latin typeface="Aptos"/>
              </a:rPr>
              <a:t>Echizeni Ikpah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B8C4D6"/>
                </a:solidFill>
                <a:latin typeface="Aptos"/>
              </a:rPr>
              <a:t>Product Engineer, Komodor</a:t>
            </a:r>
          </a:p>
          <a:p>
            <a:pPr>
              <a:spcBef>
                <a:spcPts val="600"/>
              </a:spcBef>
            </a:pPr>
            <a:r>
              <a:rPr sz="1400" b="1">
                <a:solidFill>
                  <a:srgbClr val="E6ECF4"/>
                </a:solidFill>
                <a:latin typeface="Aptos"/>
              </a:rPr>
              <a:t>I help teams adopt KAOP: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Get the first workflow running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Measure the results with you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E6ECF4"/>
                </a:solidFill>
                <a:latin typeface="Aptos"/>
              </a:rPr>
              <a:t>•  Bring your feedback to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4978400"/>
            <a:ext cx="3175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6F783"/>
                </a:solidFill>
                <a:latin typeface="Aptos"/>
              </a:rPr>
              <a:t>Please ask questions any time. This is a conversation.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9000" y="19558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9000" y="20574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8600" y="19050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Your environment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Where agent sprawl would hurt 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99000" y="26924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9000" y="27940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8600" y="26416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Why KAOP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One view, real limits, work that closes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99000" y="34290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99000" y="35306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8600" y="33782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live incident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real alert, the evidence, a human decision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9000" y="41656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9000" y="42672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8600" y="41148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A reviewed fix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A separate code reviewer on a real pull request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9000" y="4902200"/>
            <a:ext cx="406400" cy="406400"/>
          </a:xfrm>
          <a:prstGeom prst="roundRect">
            <a:avLst>
              <a:gd name="adj" fmla="val 8000"/>
            </a:avLst>
          </a:prstGeom>
          <a:solidFill>
            <a:srgbClr val="06AFA5"/>
          </a:solidFill>
          <a:ln>
            <a:solidFill>
              <a:srgbClr val="06AF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9000" y="5003800"/>
            <a:ext cx="406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8600" y="4851400"/>
            <a:ext cx="61722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32438"/>
                </a:solidFill>
                <a:latin typeface="Aptos"/>
              </a:rPr>
              <a:t>Results and a first step</a:t>
            </a:r>
          </a:p>
          <a:p>
            <a:pPr>
              <a:spcBef>
                <a:spcPts val="600"/>
              </a:spcBef>
            </a:pPr>
            <a:r>
              <a:rPr sz="1350" b="0">
                <a:solidFill>
                  <a:srgbClr val="536579"/>
                </a:solidFill>
                <a:latin typeface="Aptos"/>
              </a:rPr>
              <a:t>What I measured, and a pilot that fits your team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DIAGNOSE THE REAL RISK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would agent sprawl hurt your team first?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6656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3F6F4"/>
          </a:solidFill>
          <a:ln w="1905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86968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40" dirty="0"/>
          </a:p>
        </p:txBody>
      </p:sp>
      <p:sp>
        <p:nvSpPr>
          <p:cNvPr id="11" name="Text 9"/>
          <p:cNvSpPr/>
          <p:nvPr/>
        </p:nvSpPr>
        <p:spPr>
          <a:xfrm>
            <a:off x="1389888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05867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OWNERSHIP</a:t>
            </a:r>
            <a:endParaRPr lang="en-US" sz="1230" dirty="0"/>
          </a:p>
        </p:txBody>
      </p:sp>
      <p:sp>
        <p:nvSpPr>
          <p:cNvPr id="12" name="Text 10"/>
          <p:cNvSpPr/>
          <p:nvPr/>
        </p:nvSpPr>
        <p:spPr>
          <a:xfrm>
            <a:off x="896112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OWNS IT?</a:t>
            </a:r>
            <a:endParaRPr lang="en-US" sz="1820" dirty="0"/>
          </a:p>
        </p:txBody>
      </p:sp>
      <p:sp>
        <p:nvSpPr>
          <p:cNvPr id="13" name="Text 11"/>
          <p:cNvSpPr/>
          <p:nvPr/>
        </p:nvSpPr>
        <p:spPr>
          <a:xfrm>
            <a:off x="896112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inventory, no clear owner</a:t>
            </a:r>
            <a:endParaRPr lang="en-US" sz="1510" dirty="0"/>
          </a:p>
        </p:txBody>
      </p:sp>
      <p:sp>
        <p:nvSpPr>
          <p:cNvPr id="14" name="Shape 12"/>
          <p:cNvSpPr/>
          <p:nvPr/>
        </p:nvSpPr>
        <p:spPr>
          <a:xfrm>
            <a:off x="4372525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FDF1DE"/>
          </a:solidFill>
          <a:ln w="19050">
            <a:solidFill>
              <a:srgbClr val="F4B860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82837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19413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40" dirty="0"/>
          </a:p>
        </p:txBody>
      </p:sp>
      <p:sp>
        <p:nvSpPr>
          <p:cNvPr id="17" name="Text 15"/>
          <p:cNvSpPr/>
          <p:nvPr/>
        </p:nvSpPr>
        <p:spPr>
          <a:xfrm>
            <a:off x="5085757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B7791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ACCESS</a:t>
            </a:r>
            <a:endParaRPr lang="en-US" sz="1230" dirty="0"/>
          </a:p>
        </p:txBody>
      </p:sp>
      <p:sp>
        <p:nvSpPr>
          <p:cNvPr id="18" name="Text 16"/>
          <p:cNvSpPr/>
          <p:nvPr/>
        </p:nvSpPr>
        <p:spPr>
          <a:xfrm>
            <a:off x="4591981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CAN IT TOUCH?</a:t>
            </a:r>
            <a:endParaRPr lang="en-US" sz="1820" dirty="0"/>
          </a:p>
        </p:txBody>
      </p:sp>
      <p:sp>
        <p:nvSpPr>
          <p:cNvPr id="19" name="Text 17"/>
          <p:cNvSpPr/>
          <p:nvPr/>
        </p:nvSpPr>
        <p:spPr>
          <a:xfrm>
            <a:off x="4591981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Broad tokens, unclear access</a:t>
            </a:r>
            <a:endParaRPr lang="en-US" sz="1510" dirty="0"/>
          </a:p>
        </p:txBody>
      </p:sp>
      <p:sp>
        <p:nvSpPr>
          <p:cNvPr id="20" name="Shape 18"/>
          <p:cNvSpPr/>
          <p:nvPr/>
        </p:nvSpPr>
        <p:spPr>
          <a:xfrm>
            <a:off x="8068394" y="1938528"/>
            <a:ext cx="3416469" cy="2468880"/>
          </a:xfrm>
          <a:prstGeom prst="roundRect">
            <a:avLst>
              <a:gd name="adj" fmla="val 7407"/>
            </a:avLst>
          </a:prstGeom>
          <a:solidFill>
            <a:srgbClr val="E8EFFD"/>
          </a:solidFill>
          <a:ln w="19050">
            <a:solidFill>
              <a:srgbClr val="3B78E7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278706" y="221284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3B78E7"/>
          </a:solidFill>
          <a:ln w="12700">
            <a:solidFill>
              <a:srgbClr val="3B78E7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15282" y="2340864"/>
            <a:ext cx="310896" cy="1280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40" dirty="0"/>
          </a:p>
        </p:txBody>
      </p:sp>
      <p:sp>
        <p:nvSpPr>
          <p:cNvPr id="23" name="Text 21"/>
          <p:cNvSpPr/>
          <p:nvPr/>
        </p:nvSpPr>
        <p:spPr>
          <a:xfrm>
            <a:off x="8781626" y="2304288"/>
            <a:ext cx="2633472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b="1" spc="100" kern="0" dirty="0">
                <a:solidFill>
                  <a:srgbClr val="2F62C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230" dirty="0"/>
          </a:p>
        </p:txBody>
      </p:sp>
      <p:sp>
        <p:nvSpPr>
          <p:cNvPr id="24" name="Text 22"/>
          <p:cNvSpPr/>
          <p:nvPr/>
        </p:nvSpPr>
        <p:spPr>
          <a:xfrm>
            <a:off x="8287850" y="2788920"/>
            <a:ext cx="3010069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8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ACTUALLY HAPPENED?</a:t>
            </a:r>
            <a:endParaRPr lang="en-US" sz="1820" dirty="0"/>
          </a:p>
        </p:txBody>
      </p:sp>
      <p:sp>
        <p:nvSpPr>
          <p:cNvPr id="25" name="Text 23"/>
          <p:cNvSpPr/>
          <p:nvPr/>
        </p:nvSpPr>
        <p:spPr>
          <a:xfrm>
            <a:off x="8287850" y="3447288"/>
            <a:ext cx="3010069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5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Scattered runs and no decision trail</a:t>
            </a:r>
            <a:endParaRPr lang="en-US" sz="1510" dirty="0"/>
          </a:p>
        </p:txBody>
      </p:sp>
      <p:sp>
        <p:nvSpPr>
          <p:cNvPr id="26" name="Shape 24"/>
          <p:cNvSpPr/>
          <p:nvPr/>
        </p:nvSpPr>
        <p:spPr>
          <a:xfrm>
            <a:off x="676656" y="4828032"/>
            <a:ext cx="10808208" cy="886968"/>
          </a:xfrm>
          <a:prstGeom prst="roundRect">
            <a:avLst>
              <a:gd name="adj" fmla="val 18557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5010912"/>
            <a:ext cx="212140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3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DISCOVERY QUESTION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999232" y="4965192"/>
            <a:ext cx="8193024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would be hardest for your team to manage as usage grows?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VALUE BEFORE FEATURES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outcomes. Not another agent dashboard.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35000" y="1984248"/>
            <a:ext cx="3454400" cy="22606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4456" y="2212848"/>
            <a:ext cx="302260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854456" y="2843784"/>
            <a:ext cx="302260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854456" y="3493008"/>
            <a:ext cx="30226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Agents, owners,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and cost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68800" y="1984248"/>
            <a:ext cx="3454400" cy="22606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588256" y="2212848"/>
            <a:ext cx="302260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4" name="Text 12"/>
          <p:cNvSpPr/>
          <p:nvPr/>
        </p:nvSpPr>
        <p:spPr>
          <a:xfrm>
            <a:off x="4588256" y="2843784"/>
            <a:ext cx="302260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LIMITS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88256" y="3493008"/>
            <a:ext cx="30226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Permissions enforced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outside prompts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8102600" y="1984248"/>
            <a:ext cx="3454400" cy="226060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322056" y="2212848"/>
            <a:ext cx="3022600" cy="466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8322056" y="2843784"/>
            <a:ext cx="3022600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THAT CLOSES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322056" y="3493008"/>
            <a:ext cx="3022600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→ evidence →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→ review</a:t>
            </a:r>
            <a:endParaRPr lang="en-US" sz="1700" dirty="0"/>
          </a:p>
        </p:txBody>
      </p:sp>
      <p:sp>
        <p:nvSpPr>
          <p:cNvPr id="20" name="Rounded Rectangle 19"/>
          <p:cNvSpPr/>
          <p:nvPr/>
        </p:nvSpPr>
        <p:spPr>
          <a:xfrm>
            <a:off x="635000" y="4470400"/>
            <a:ext cx="10922000" cy="1625600"/>
          </a:xfrm>
          <a:prstGeom prst="roundRect">
            <a:avLst>
              <a:gd name="adj" fmla="val 8000"/>
            </a:avLst>
          </a:prstGeom>
          <a:solidFill>
            <a:srgbClr val="0C1423"/>
          </a:solidFill>
          <a:ln>
            <a:solidFill>
              <a:srgbClr val="0C14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648200"/>
            <a:ext cx="63500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C6F783"/>
                </a:solidFill>
                <a:latin typeface="Aptos"/>
              </a:rPr>
              <a:t>THE FOUNDATION: KAOP'S OPERATING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2286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BUILD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B8C4D6"/>
                </a:solidFill>
                <a:latin typeface="Aptos"/>
              </a:rPr>
              <a:t>Catalog agents, imports, or your 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5200" y="5029200"/>
            <a:ext cx="2286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RUN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B8C4D6"/>
                </a:solidFill>
                <a:latin typeface="Aptos"/>
              </a:rPr>
              <a:t>Workflows, triggers, approvals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5000" y="5080000"/>
            <a:ext cx="254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6AFA5"/>
                </a:solidFill>
                <a:latin typeface="Aptos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0" y="5029200"/>
            <a:ext cx="2286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GOVERN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B8C4D6"/>
                </a:solidFill>
                <a:latin typeface="Aptos"/>
              </a:rPr>
              <a:t>Identity, limits, 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5800" y="5080000"/>
            <a:ext cx="254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6AFA5"/>
                </a:solidFill>
                <a:latin typeface="Aptos"/>
              </a:rPr>
              <a:t>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5029200"/>
            <a:ext cx="2286000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ptos"/>
              </a:rPr>
              <a:t>OPTIMIZE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B8C4D6"/>
                </a:solidFill>
                <a:latin typeface="Aptos"/>
              </a:rPr>
              <a:t>Cost, quality, evaluations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56600" y="5080000"/>
            <a:ext cx="254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6AFA5"/>
                </a:solidFill>
                <a:latin typeface="Aptos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COORDINATED, NOT CONFUSED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triggers. Two workflows. One operating model.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856232"/>
            <a:ext cx="10863072" cy="16764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77824" y="2039112"/>
            <a:ext cx="283464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69264" y="2093976"/>
            <a:ext cx="265176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A  /  GRAFANA ALERT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950976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042416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042416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restart signal</a:t>
            </a:r>
            <a:endParaRPr lang="en-US" sz="1140" dirty="0"/>
          </a:p>
        </p:txBody>
      </p:sp>
      <p:sp>
        <p:nvSpPr>
          <p:cNvPr id="14" name="Shape 12"/>
          <p:cNvSpPr/>
          <p:nvPr/>
        </p:nvSpPr>
        <p:spPr>
          <a:xfrm>
            <a:off x="3172968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319272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3547872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39312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Investigate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639312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K8s + Grafana</a:t>
            </a:r>
            <a:endParaRPr lang="en-US" sz="1140" dirty="0"/>
          </a:p>
        </p:txBody>
      </p:sp>
      <p:sp>
        <p:nvSpPr>
          <p:cNvPr id="19" name="Shape 17"/>
          <p:cNvSpPr/>
          <p:nvPr/>
        </p:nvSpPr>
        <p:spPr>
          <a:xfrm>
            <a:off x="5769864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16168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144768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236208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236208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plan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8366760" y="2807208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513064" y="27203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741664" y="2505456"/>
            <a:ext cx="2194560" cy="621792"/>
          </a:xfrm>
          <a:prstGeom prst="roundRect">
            <a:avLst>
              <a:gd name="adj" fmla="val 1764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833104" y="2606040"/>
            <a:ext cx="2002536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Decide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8833104" y="2871216"/>
            <a:ext cx="201168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</a:t>
            </a:r>
            <a:endParaRPr lang="en-US" sz="1140" dirty="0"/>
          </a:p>
        </p:txBody>
      </p:sp>
      <p:sp>
        <p:nvSpPr>
          <p:cNvPr id="29" name="Shape 27"/>
          <p:cNvSpPr/>
          <p:nvPr/>
        </p:nvSpPr>
        <p:spPr>
          <a:xfrm>
            <a:off x="658368" y="3853688"/>
            <a:ext cx="10863072" cy="167640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77824" y="4027424"/>
            <a:ext cx="2980944" cy="292608"/>
          </a:xfrm>
          <a:prstGeom prst="roundRect">
            <a:avLst>
              <a:gd name="adj" fmla="val 31250"/>
            </a:avLst>
          </a:prstGeom>
          <a:solidFill>
            <a:srgbClr val="5B91D5"/>
          </a:solidFill>
          <a:ln w="12700">
            <a:solidFill>
              <a:srgbClr val="5B91D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969264" y="4082288"/>
            <a:ext cx="279806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  /  FRESH GITHUB PR</a:t>
            </a:r>
            <a:endParaRPr lang="en-US" sz="980" dirty="0"/>
          </a:p>
        </p:txBody>
      </p:sp>
      <p:sp>
        <p:nvSpPr>
          <p:cNvPr id="32" name="Shape 30"/>
          <p:cNvSpPr/>
          <p:nvPr/>
        </p:nvSpPr>
        <p:spPr>
          <a:xfrm>
            <a:off x="950976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1042416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42416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one-line fix</a:t>
            </a:r>
            <a:endParaRPr lang="en-US" sz="1120" dirty="0"/>
          </a:p>
        </p:txBody>
      </p:sp>
      <p:sp>
        <p:nvSpPr>
          <p:cNvPr id="35" name="Shape 33"/>
          <p:cNvSpPr/>
          <p:nvPr/>
        </p:nvSpPr>
        <p:spPr>
          <a:xfrm>
            <a:off x="3172968" y="47955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3319272" y="47086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3547872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639312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3639312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comments on PR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5769864" y="47955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5916168" y="47086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144768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236208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controls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236208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merge + deploy</a:t>
            </a:r>
            <a:endParaRPr lang="en-US" sz="1120" dirty="0"/>
          </a:p>
        </p:txBody>
      </p:sp>
      <p:sp>
        <p:nvSpPr>
          <p:cNvPr id="45" name="Shape 43"/>
          <p:cNvSpPr/>
          <p:nvPr/>
        </p:nvSpPr>
        <p:spPr>
          <a:xfrm>
            <a:off x="8366760" y="4795520"/>
            <a:ext cx="256032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8513064" y="470865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8741664" y="4493768"/>
            <a:ext cx="2194560" cy="630936"/>
          </a:xfrm>
          <a:prstGeom prst="roundRect">
            <a:avLst>
              <a:gd name="adj" fmla="val 17391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8833104" y="4612640"/>
            <a:ext cx="201168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8833104" y="4868672"/>
            <a:ext cx="2020824" cy="1463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repeat the fault</a:t>
            </a:r>
            <a:endParaRPr lang="en-US" sz="1120" dirty="0"/>
          </a:p>
        </p:txBody>
      </p:sp>
      <p:sp>
        <p:nvSpPr>
          <p:cNvPr id="50" name="Text 48"/>
          <p:cNvSpPr/>
          <p:nvPr/>
        </p:nvSpPr>
        <p:spPr>
          <a:xfrm>
            <a:off x="722376" y="5867400"/>
            <a:ext cx="106070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 review does not auto-start from the incident. The two workflows have separate triggers and privileges.</a:t>
            </a:r>
            <a:endParaRPr lang="en-US" sz="1420" dirty="0"/>
          </a:p>
        </p:txBody>
      </p:sp>
      <p:sp>
        <p:nvSpPr>
          <p:cNvPr id="51" name="Rounded Rectangle 50"/>
          <p:cNvSpPr/>
          <p:nvPr/>
        </p:nvSpPr>
        <p:spPr>
          <a:xfrm>
            <a:off x="952500" y="3200400"/>
            <a:ext cx="1137920" cy="203200"/>
          </a:xfrm>
          <a:prstGeom prst="roundRect">
            <a:avLst>
              <a:gd name="adj" fmla="val 50000"/>
            </a:avLst>
          </a:prstGeom>
          <a:solidFill>
            <a:srgbClr val="FDF1DE"/>
          </a:solidFill>
          <a:ln>
            <a:solidFill>
              <a:srgbClr val="FDF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2500" y="3232150"/>
            <a:ext cx="11379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B7791F"/>
                </a:solidFill>
                <a:latin typeface="Aptos"/>
              </a:rPr>
              <a:t>Grafana Cloud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43300" y="32004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43300" y="32321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036060" y="3200400"/>
            <a:ext cx="1059180" cy="203200"/>
          </a:xfrm>
          <a:prstGeom prst="roundRect">
            <a:avLst>
              <a:gd name="adj" fmla="val 50000"/>
            </a:avLst>
          </a:prstGeom>
          <a:solidFill>
            <a:srgbClr val="E8EFFD"/>
          </a:solidFill>
          <a:ln>
            <a:solidFill>
              <a:srgbClr val="E8EF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36060" y="3232150"/>
            <a:ext cx="105918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2F62C4"/>
                </a:solidFill>
                <a:latin typeface="Aptos"/>
              </a:rPr>
              <a:t>Your cluster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46800" y="32004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46800" y="32321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37600" y="3200400"/>
            <a:ext cx="350520" cy="203200"/>
          </a:xfrm>
          <a:prstGeom prst="roundRect">
            <a:avLst>
              <a:gd name="adj" fmla="val 50000"/>
            </a:avLst>
          </a:prstGeom>
          <a:solidFill>
            <a:srgbClr val="F3EAFB"/>
          </a:solidFill>
          <a:ln>
            <a:solidFill>
              <a:srgbClr val="F3E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737600" y="3232150"/>
            <a:ext cx="3505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7A3FB0"/>
                </a:solidFill>
                <a:latin typeface="Aptos"/>
              </a:rPr>
              <a:t>You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151620" y="32004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51620" y="32321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52500" y="5207000"/>
            <a:ext cx="350520" cy="203200"/>
          </a:xfrm>
          <a:prstGeom prst="roundRect">
            <a:avLst>
              <a:gd name="adj" fmla="val 50000"/>
            </a:avLst>
          </a:prstGeom>
          <a:solidFill>
            <a:srgbClr val="F3EAFB"/>
          </a:solidFill>
          <a:ln>
            <a:solidFill>
              <a:srgbClr val="F3E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2500" y="5238750"/>
            <a:ext cx="3505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7A3FB0"/>
                </a:solidFill>
                <a:latin typeface="Aptos"/>
              </a:rPr>
              <a:t>You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366520" y="5207000"/>
            <a:ext cx="586740" cy="20320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solidFill>
              <a:srgbClr val="EEF0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66520" y="5238750"/>
            <a:ext cx="58674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D4A5C"/>
                </a:solidFill>
                <a:latin typeface="Aptos"/>
              </a:rPr>
              <a:t>GitHub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543300" y="5207000"/>
            <a:ext cx="429259" cy="203200"/>
          </a:xfrm>
          <a:prstGeom prst="roundRect">
            <a:avLst>
              <a:gd name="adj" fmla="val 50000"/>
            </a:avLst>
          </a:prstGeom>
          <a:solidFill>
            <a:srgbClr val="E3F6F4"/>
          </a:solidFill>
          <a:ln>
            <a:solidFill>
              <a:srgbClr val="E3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43300" y="5238750"/>
            <a:ext cx="429259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05867E"/>
                </a:solidFill>
                <a:latin typeface="Aptos"/>
              </a:rPr>
              <a:t>KAOP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036060" y="5207000"/>
            <a:ext cx="586740" cy="20320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solidFill>
              <a:srgbClr val="EEF0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036060" y="5238750"/>
            <a:ext cx="58674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D4A5C"/>
                </a:solidFill>
                <a:latin typeface="Aptos"/>
              </a:rPr>
              <a:t>GitHub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146800" y="5207000"/>
            <a:ext cx="350520" cy="203200"/>
          </a:xfrm>
          <a:prstGeom prst="roundRect">
            <a:avLst>
              <a:gd name="adj" fmla="val 50000"/>
            </a:avLst>
          </a:prstGeom>
          <a:solidFill>
            <a:srgbClr val="F3EAFB"/>
          </a:solidFill>
          <a:ln>
            <a:solidFill>
              <a:srgbClr val="F3EA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46800" y="5238750"/>
            <a:ext cx="35052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7A3FB0"/>
                </a:solidFill>
                <a:latin typeface="Aptos"/>
              </a:rPr>
              <a:t>You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560820" y="5207000"/>
            <a:ext cx="586740" cy="20320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>
            <a:solidFill>
              <a:srgbClr val="EEF0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60820" y="5238750"/>
            <a:ext cx="58674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3D4A5C"/>
                </a:solidFill>
                <a:latin typeface="Aptos"/>
              </a:rPr>
              <a:t>GitHub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737600" y="5207000"/>
            <a:ext cx="1059180" cy="203200"/>
          </a:xfrm>
          <a:prstGeom prst="roundRect">
            <a:avLst>
              <a:gd name="adj" fmla="val 50000"/>
            </a:avLst>
          </a:prstGeom>
          <a:solidFill>
            <a:srgbClr val="E8EFFD"/>
          </a:solidFill>
          <a:ln>
            <a:solidFill>
              <a:srgbClr val="E8EF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737600" y="5238750"/>
            <a:ext cx="105918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2F62C4"/>
                </a:solidFill>
                <a:latin typeface="Aptos"/>
              </a:rPr>
              <a:t>Your cluster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VERIFIED IN THIS LAB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prompt is not a permission boundary.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3232" y="1938528"/>
            <a:ext cx="22402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</a:t>
            </a:r>
            <a:endParaRPr lang="en-US" sz="1140" dirty="0"/>
          </a:p>
        </p:txBody>
      </p:sp>
      <p:sp>
        <p:nvSpPr>
          <p:cNvPr id="9" name="Text 7"/>
          <p:cNvSpPr/>
          <p:nvPr/>
        </p:nvSpPr>
        <p:spPr>
          <a:xfrm>
            <a:off x="3136392" y="1938528"/>
            <a:ext cx="32004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 WORK</a:t>
            </a:r>
            <a:endParaRPr lang="en-US" sz="1140" dirty="0"/>
          </a:p>
        </p:txBody>
      </p:sp>
      <p:sp>
        <p:nvSpPr>
          <p:cNvPr id="10" name="Text 8"/>
          <p:cNvSpPr/>
          <p:nvPr/>
        </p:nvSpPr>
        <p:spPr>
          <a:xfrm>
            <a:off x="6556248" y="1938528"/>
            <a:ext cx="269748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DO</a:t>
            </a:r>
            <a:endParaRPr lang="en-US" sz="1140" dirty="0"/>
          </a:p>
        </p:txBody>
      </p:sp>
      <p:sp>
        <p:nvSpPr>
          <p:cNvPr id="11" name="Text 9"/>
          <p:cNvSpPr/>
          <p:nvPr/>
        </p:nvSpPr>
        <p:spPr>
          <a:xfrm>
            <a:off x="9390888" y="1938528"/>
            <a:ext cx="21031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4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BY</a:t>
            </a:r>
            <a:endParaRPr lang="en-US" sz="1140" dirty="0"/>
          </a:p>
        </p:txBody>
      </p:sp>
      <p:sp>
        <p:nvSpPr>
          <p:cNvPr id="12" name="Shape 10"/>
          <p:cNvSpPr/>
          <p:nvPr/>
        </p:nvSpPr>
        <p:spPr>
          <a:xfrm>
            <a:off x="704088" y="2340864"/>
            <a:ext cx="10808208" cy="0"/>
          </a:xfrm>
          <a:prstGeom prst="line">
            <a:avLst/>
          </a:prstGeom>
          <a:noFill/>
          <a:ln w="1778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13232" y="2404872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95528" y="2487168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420" dirty="0"/>
          </a:p>
        </p:txBody>
      </p:sp>
      <p:sp>
        <p:nvSpPr>
          <p:cNvPr id="15" name="Text 13"/>
          <p:cNvSpPr/>
          <p:nvPr/>
        </p:nvSpPr>
        <p:spPr>
          <a:xfrm>
            <a:off x="3191256" y="2487168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pods, events, logs</a:t>
            </a:r>
            <a:endParaRPr lang="en-US" sz="1330" dirty="0"/>
          </a:p>
        </p:txBody>
      </p:sp>
      <p:sp>
        <p:nvSpPr>
          <p:cNvPr id="16" name="Text 14"/>
          <p:cNvSpPr/>
          <p:nvPr/>
        </p:nvSpPr>
        <p:spPr>
          <a:xfrm>
            <a:off x="6611112" y="2487168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Secrets; exec; modify</a:t>
            </a:r>
            <a:endParaRPr lang="en-US" sz="1320" dirty="0"/>
          </a:p>
        </p:txBody>
      </p:sp>
      <p:sp>
        <p:nvSpPr>
          <p:cNvPr id="17" name="Text 15"/>
          <p:cNvSpPr/>
          <p:nvPr/>
        </p:nvSpPr>
        <p:spPr>
          <a:xfrm>
            <a:off x="9418320" y="2487168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RBAC</a:t>
            </a:r>
            <a:endParaRPr lang="en-US" sz="1320" dirty="0"/>
          </a:p>
        </p:txBody>
      </p:sp>
      <p:sp>
        <p:nvSpPr>
          <p:cNvPr id="18" name="Text 16"/>
          <p:cNvSpPr/>
          <p:nvPr/>
        </p:nvSpPr>
        <p:spPr>
          <a:xfrm>
            <a:off x="795528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420" dirty="0"/>
          </a:p>
        </p:txBody>
      </p:sp>
      <p:sp>
        <p:nvSpPr>
          <p:cNvPr id="19" name="Text 17"/>
          <p:cNvSpPr/>
          <p:nvPr/>
        </p:nvSpPr>
        <p:spPr>
          <a:xfrm>
            <a:off x="3191256" y="3209544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metrics + alerts</a:t>
            </a:r>
            <a:endParaRPr lang="en-US" sz="1330" dirty="0"/>
          </a:p>
        </p:txBody>
      </p:sp>
      <p:sp>
        <p:nvSpPr>
          <p:cNvPr id="20" name="Text 18"/>
          <p:cNvSpPr/>
          <p:nvPr/>
        </p:nvSpPr>
        <p:spPr>
          <a:xfrm>
            <a:off x="6611112" y="3209544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Write / unlisted tools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9418320" y="3209544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gateway allow list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713232" y="3849624"/>
            <a:ext cx="10762488" cy="649224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95528" y="3931920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3191256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Propose fix, undo, check</a:t>
            </a:r>
            <a:endParaRPr lang="en-US" sz="1330" dirty="0"/>
          </a:p>
        </p:txBody>
      </p:sp>
      <p:sp>
        <p:nvSpPr>
          <p:cNvPr id="25" name="Text 23"/>
          <p:cNvSpPr/>
          <p:nvPr/>
        </p:nvSpPr>
        <p:spPr>
          <a:xfrm>
            <a:off x="6611112" y="3931920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Touch a live system</a:t>
            </a:r>
            <a:endParaRPr lang="en-US" sz="1320" dirty="0"/>
          </a:p>
        </p:txBody>
      </p:sp>
      <p:sp>
        <p:nvSpPr>
          <p:cNvPr id="26" name="Text 24"/>
          <p:cNvSpPr/>
          <p:nvPr/>
        </p:nvSpPr>
        <p:spPr>
          <a:xfrm>
            <a:off x="9418320" y="3931920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live-system tools</a:t>
            </a:r>
            <a:endParaRPr lang="en-US" sz="1320" dirty="0"/>
          </a:p>
        </p:txBody>
      </p:sp>
      <p:sp>
        <p:nvSpPr>
          <p:cNvPr id="27" name="Text 25"/>
          <p:cNvSpPr/>
          <p:nvPr/>
        </p:nvSpPr>
        <p:spPr>
          <a:xfrm>
            <a:off x="795528" y="4654296"/>
            <a:ext cx="219456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2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reviewer</a:t>
            </a:r>
            <a:endParaRPr lang="en-US" sz="1420" dirty="0"/>
          </a:p>
        </p:txBody>
      </p:sp>
      <p:sp>
        <p:nvSpPr>
          <p:cNvPr id="28" name="Text 26"/>
          <p:cNvSpPr/>
          <p:nvPr/>
        </p:nvSpPr>
        <p:spPr>
          <a:xfrm>
            <a:off x="3191256" y="4654296"/>
            <a:ext cx="315468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Comment on PR</a:t>
            </a:r>
            <a:endParaRPr lang="en-US" sz="1330" dirty="0"/>
          </a:p>
        </p:txBody>
      </p:sp>
      <p:sp>
        <p:nvSpPr>
          <p:cNvPr id="29" name="Text 27"/>
          <p:cNvSpPr/>
          <p:nvPr/>
        </p:nvSpPr>
        <p:spPr>
          <a:xfrm>
            <a:off x="6611112" y="4654296"/>
            <a:ext cx="280720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B65B5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 or merge</a:t>
            </a:r>
            <a:endParaRPr lang="en-US" sz="1320" dirty="0"/>
          </a:p>
        </p:txBody>
      </p:sp>
      <p:sp>
        <p:nvSpPr>
          <p:cNvPr id="30" name="Text 28"/>
          <p:cNvSpPr/>
          <p:nvPr/>
        </p:nvSpPr>
        <p:spPr>
          <a:xfrm>
            <a:off x="9418320" y="4654296"/>
            <a:ext cx="2048256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2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person merges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768096" y="5650992"/>
            <a:ext cx="10652760" cy="429768"/>
          </a:xfrm>
          <a:prstGeom prst="roundRect">
            <a:avLst>
              <a:gd name="adj" fmla="val 25532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87552" y="5742432"/>
            <a:ext cx="10204704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TESTED:  Grafana tools outside the list refused  •  Kubernetes writes denied  •  Over-budget alert not investigated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DEMO CONTRACT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proof: six things you should see.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5800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822960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53896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 SIGNAL</a:t>
            </a:r>
            <a:endParaRPr lang="en-US" sz="1360" dirty="0"/>
          </a:p>
        </p:txBody>
      </p:sp>
      <p:sp>
        <p:nvSpPr>
          <p:cNvPr id="12" name="Text 10"/>
          <p:cNvSpPr/>
          <p:nvPr/>
        </p:nvSpPr>
        <p:spPr>
          <a:xfrm>
            <a:off x="1453896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restart alert</a:t>
            </a:r>
            <a:endParaRPr lang="en-US" sz="1310" dirty="0"/>
          </a:p>
        </p:txBody>
      </p:sp>
      <p:sp>
        <p:nvSpPr>
          <p:cNvPr id="13" name="Shape 11"/>
          <p:cNvSpPr/>
          <p:nvPr/>
        </p:nvSpPr>
        <p:spPr>
          <a:xfrm>
            <a:off x="4462272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599432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645152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230368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360" dirty="0"/>
          </a:p>
        </p:txBody>
      </p:sp>
      <p:sp>
        <p:nvSpPr>
          <p:cNvPr id="17" name="Text 15"/>
          <p:cNvSpPr/>
          <p:nvPr/>
        </p:nvSpPr>
        <p:spPr>
          <a:xfrm>
            <a:off x="5230368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RCA and tool calls</a:t>
            </a:r>
            <a:endParaRPr lang="en-US" sz="1310" dirty="0"/>
          </a:p>
        </p:txBody>
      </p:sp>
      <p:sp>
        <p:nvSpPr>
          <p:cNvPr id="18" name="Shape 16"/>
          <p:cNvSpPr/>
          <p:nvPr/>
        </p:nvSpPr>
        <p:spPr>
          <a:xfrm>
            <a:off x="8238744" y="182880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8375904" y="199339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421624" y="214884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06840" y="200253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BOUNDARY</a:t>
            </a:r>
            <a:endParaRPr lang="en-US" sz="1360" dirty="0"/>
          </a:p>
        </p:txBody>
      </p:sp>
      <p:sp>
        <p:nvSpPr>
          <p:cNvPr id="22" name="Text 20"/>
          <p:cNvSpPr/>
          <p:nvPr/>
        </p:nvSpPr>
        <p:spPr>
          <a:xfrm>
            <a:off x="9006840" y="237744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cannot write</a:t>
            </a:r>
            <a:endParaRPr lang="en-US" sz="1310" dirty="0"/>
          </a:p>
        </p:txBody>
      </p:sp>
      <p:sp>
        <p:nvSpPr>
          <p:cNvPr id="23" name="Shape 21"/>
          <p:cNvSpPr/>
          <p:nvPr/>
        </p:nvSpPr>
        <p:spPr>
          <a:xfrm>
            <a:off x="685800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822960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68680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453896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</a:t>
            </a:r>
            <a:endParaRPr lang="en-US" sz="1360" dirty="0"/>
          </a:p>
        </p:txBody>
      </p:sp>
      <p:sp>
        <p:nvSpPr>
          <p:cNvPr id="27" name="Text 25"/>
          <p:cNvSpPr/>
          <p:nvPr/>
        </p:nvSpPr>
        <p:spPr>
          <a:xfrm>
            <a:off x="1453896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restores Redis</a:t>
            </a:r>
            <a:endParaRPr lang="en-US" sz="1310" dirty="0"/>
          </a:p>
        </p:txBody>
      </p:sp>
      <p:sp>
        <p:nvSpPr>
          <p:cNvPr id="28" name="Shape 26"/>
          <p:cNvSpPr/>
          <p:nvPr/>
        </p:nvSpPr>
        <p:spPr>
          <a:xfrm>
            <a:off x="4462272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599432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45152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230368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</a:t>
            </a:r>
            <a:endParaRPr lang="en-US" sz="1360" dirty="0"/>
          </a:p>
        </p:txBody>
      </p:sp>
      <p:sp>
        <p:nvSpPr>
          <p:cNvPr id="32" name="Text 30"/>
          <p:cNvSpPr/>
          <p:nvPr/>
        </p:nvSpPr>
        <p:spPr>
          <a:xfrm>
            <a:off x="5230368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Fresh GitHub bot comment</a:t>
            </a:r>
            <a:endParaRPr lang="en-US" sz="1310" dirty="0"/>
          </a:p>
        </p:txBody>
      </p:sp>
      <p:sp>
        <p:nvSpPr>
          <p:cNvPr id="33" name="Shape 31"/>
          <p:cNvSpPr/>
          <p:nvPr/>
        </p:nvSpPr>
        <p:spPr>
          <a:xfrm>
            <a:off x="8247888" y="4626864"/>
            <a:ext cx="3300984" cy="1106424"/>
          </a:xfrm>
          <a:prstGeom prst="roundRect">
            <a:avLst>
              <a:gd name="adj" fmla="val 14050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8485632" y="4864608"/>
            <a:ext cx="2788920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</a:t>
            </a:r>
            <a:endParaRPr lang="en-US" sz="1680" dirty="0"/>
          </a:p>
        </p:txBody>
      </p:sp>
      <p:sp>
        <p:nvSpPr>
          <p:cNvPr id="35" name="Text 33"/>
          <p:cNvSpPr/>
          <p:nvPr/>
        </p:nvSpPr>
        <p:spPr>
          <a:xfrm>
            <a:off x="8485632" y="5294376"/>
            <a:ext cx="2761488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Trigger, not probe defect</a:t>
            </a:r>
            <a:endParaRPr lang="en-US" sz="1230" dirty="0"/>
          </a:p>
        </p:txBody>
      </p:sp>
      <p:sp>
        <p:nvSpPr>
          <p:cNvPr id="36" name="Shape 34"/>
          <p:cNvSpPr/>
          <p:nvPr/>
        </p:nvSpPr>
        <p:spPr>
          <a:xfrm>
            <a:off x="685800" y="4626864"/>
            <a:ext cx="7251192" cy="1106424"/>
          </a:xfrm>
          <a:prstGeom prst="roundRect">
            <a:avLst>
              <a:gd name="adj" fmla="val 14050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32688" y="4864608"/>
            <a:ext cx="6711696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ROOT CAUSE OF AVOIDABLE RESTARTS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932688" y="5248656"/>
            <a:ext cx="67208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8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Redis-sensitive /readyz was misused for liveness.</a:t>
            </a:r>
            <a:endParaRPr lang="en-US" sz="1580" dirty="0"/>
          </a:p>
        </p:txBody>
      </p:sp>
      <p:sp>
        <p:nvSpPr>
          <p:cNvPr id="39" name="Shape 26"/>
          <p:cNvSpPr/>
          <p:nvPr/>
        </p:nvSpPr>
        <p:spPr>
          <a:xfrm>
            <a:off x="8238744" y="3154680"/>
            <a:ext cx="3547872" cy="1106424"/>
          </a:xfrm>
          <a:prstGeom prst="roundRect">
            <a:avLst>
              <a:gd name="adj" fmla="val 115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0" name="Shape 27"/>
          <p:cNvSpPr/>
          <p:nvPr/>
        </p:nvSpPr>
        <p:spPr>
          <a:xfrm>
            <a:off x="8375904" y="3319272"/>
            <a:ext cx="466344" cy="466344"/>
          </a:xfrm>
          <a:prstGeom prst="roundRect">
            <a:avLst>
              <a:gd name="adj" fmla="val 21569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1" name="Text 28"/>
          <p:cNvSpPr/>
          <p:nvPr/>
        </p:nvSpPr>
        <p:spPr>
          <a:xfrm>
            <a:off x="8421624" y="3474720"/>
            <a:ext cx="374904" cy="137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Text 29"/>
          <p:cNvSpPr/>
          <p:nvPr/>
        </p:nvSpPr>
        <p:spPr>
          <a:xfrm>
            <a:off x="9006840" y="3328416"/>
            <a:ext cx="256032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360" dirty="0"/>
          </a:p>
        </p:txBody>
      </p:sp>
      <p:sp>
        <p:nvSpPr>
          <p:cNvPr id="43" name="Text 30"/>
          <p:cNvSpPr/>
          <p:nvPr/>
        </p:nvSpPr>
        <p:spPr>
          <a:xfrm>
            <a:off x="9006840" y="3703320"/>
            <a:ext cx="2569464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Owner, cost and audit trail</a:t>
            </a:r>
            <a:endParaRPr lang="en-US" sz="13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ACTUAL SCREENS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01 | Signal → evidence-backed diagnosis</a:t>
            </a:r>
            <a:endParaRPr lang="en-US" sz="298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49808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41248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1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4526280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17720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8302752" y="1920240"/>
            <a:ext cx="1243584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94192" y="1975104"/>
            <a:ext cx="106070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SCREEN 3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31520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41832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41832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down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API restart + liveness 503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41832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kills a healthy API because its liveness check needs Redis.</a:t>
            </a:r>
            <a:endParaRPr lang="en-US" sz="1290" dirty="0"/>
          </a:p>
        </p:txBody>
      </p:sp>
      <p:sp>
        <p:nvSpPr>
          <p:cNvPr id="18" name="Shape 16"/>
          <p:cNvSpPr/>
          <p:nvPr/>
        </p:nvSpPr>
        <p:spPr>
          <a:xfrm>
            <a:off x="4215384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343400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4498848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709160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CLOUD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4709160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fires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workload + timestamp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09160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 about 3 minutes in. Says what and when, not why.</a:t>
            </a:r>
            <a:endParaRPr lang="en-US" sz="1290" dirty="0"/>
          </a:p>
        </p:txBody>
      </p:sp>
      <p:sp>
        <p:nvSpPr>
          <p:cNvPr id="24" name="Shape 22"/>
          <p:cNvSpPr/>
          <p:nvPr/>
        </p:nvSpPr>
        <p:spPr>
          <a:xfrm>
            <a:off x="7982712" y="3520440"/>
            <a:ext cx="237744" cy="0"/>
          </a:xfrm>
          <a:prstGeom prst="line">
            <a:avLst/>
          </a:prstGeom>
          <a:noFill/>
          <a:ln w="30480">
            <a:solidFill>
              <a:srgbClr val="D8F8F3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10728" y="3433572"/>
            <a:ext cx="146304" cy="173736"/>
          </a:xfrm>
          <a:prstGeom prst="chevron">
            <a:avLst/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266176" y="2322576"/>
            <a:ext cx="3502152" cy="2542032"/>
          </a:xfrm>
          <a:prstGeom prst="roundRect">
            <a:avLst>
              <a:gd name="adj" fmla="val 6475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76488" y="2551176"/>
            <a:ext cx="3054096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INCIDENT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8476488" y="3008376"/>
            <a:ext cx="3072384" cy="7223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 + Grafana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orchestrated finding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476488" y="4023360"/>
            <a:ext cx="3081528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290" dirty="0">
                <a:solidFill>
                  <a:srgbClr val="AFC5D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specialists. The orchestrator scores each possible cause.</a:t>
            </a:r>
            <a:endParaRPr lang="en-US" sz="1290" dirty="0"/>
          </a:p>
        </p:txBody>
      </p:sp>
      <p:sp>
        <p:nvSpPr>
          <p:cNvPr id="30" name="Shape 28"/>
          <p:cNvSpPr/>
          <p:nvPr/>
        </p:nvSpPr>
        <p:spPr>
          <a:xfrm>
            <a:off x="731520" y="5138928"/>
            <a:ext cx="10972800" cy="694944"/>
          </a:xfrm>
          <a:prstGeom prst="roundRect">
            <a:avLst>
              <a:gd name="adj" fmla="val 18421"/>
            </a:avLst>
          </a:prstGeom>
          <a:solidFill>
            <a:srgbClr val="22364B"/>
          </a:solidFill>
          <a:ln w="12700">
            <a:solidFill>
              <a:srgbClr val="22364B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1051560" y="5321808"/>
            <a:ext cx="4215384" cy="26517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REDIS OUTAGE  =  TRIGGER</a:t>
            </a:r>
            <a:endParaRPr lang="en-US" sz="1530" dirty="0"/>
          </a:p>
        </p:txBody>
      </p:sp>
      <p:sp>
        <p:nvSpPr>
          <p:cNvPr id="32" name="Text 30"/>
          <p:cNvSpPr/>
          <p:nvPr/>
        </p:nvSpPr>
        <p:spPr>
          <a:xfrm>
            <a:off x="5038344" y="5303520"/>
            <a:ext cx="6172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3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DEPENDENCY-COUPLED LIVENESS  =  RESTART ROOT CAUSE</a:t>
            </a:r>
            <a:endParaRPr lang="en-US" sz="14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D8F8F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/ NO HIDDEN AUTOMATION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02 | Human decision → reviewed change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95A5B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8096" y="1901952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932688" y="2029968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87552" y="2171700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1545336" y="2039112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proposes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91000" y="2057400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Restore Redis now + durable probe fix</a:t>
            </a:r>
            <a:endParaRPr lang="en-US" sz="1270" dirty="0"/>
          </a:p>
        </p:txBody>
      </p:sp>
      <p:sp>
        <p:nvSpPr>
          <p:cNvPr id="13" name="Shape 11"/>
          <p:cNvSpPr/>
          <p:nvPr/>
        </p:nvSpPr>
        <p:spPr>
          <a:xfrm>
            <a:off x="768096" y="2734056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32688" y="2862072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F4B860"/>
          </a:solidFill>
          <a:ln w="12700">
            <a:solidFill>
              <a:srgbClr val="F4B860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87552" y="3003804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1545336" y="2871216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APPLIES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91000" y="2889504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kubectl restores Redis in the lab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768096" y="3566160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32688" y="3694176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7552" y="3835908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20" dirty="0"/>
          </a:p>
        </p:txBody>
      </p:sp>
      <p:sp>
        <p:nvSpPr>
          <p:cNvPr id="21" name="Text 19"/>
          <p:cNvSpPr/>
          <p:nvPr/>
        </p:nvSpPr>
        <p:spPr>
          <a:xfrm>
            <a:off x="1545336" y="3703320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 OPENS PR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191000" y="3721608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 liveness /readyz → /healthz</a:t>
            </a:r>
            <a:endParaRPr lang="en-US" sz="1270" dirty="0"/>
          </a:p>
        </p:txBody>
      </p:sp>
      <p:sp>
        <p:nvSpPr>
          <p:cNvPr id="23" name="Shape 21"/>
          <p:cNvSpPr/>
          <p:nvPr/>
        </p:nvSpPr>
        <p:spPr>
          <a:xfrm>
            <a:off x="768096" y="4398264"/>
            <a:ext cx="6675120" cy="667512"/>
          </a:xfrm>
          <a:prstGeom prst="roundRect">
            <a:avLst>
              <a:gd name="adj" fmla="val 15068"/>
            </a:avLst>
          </a:prstGeom>
          <a:solidFill>
            <a:srgbClr val="101E2D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32688" y="4526280"/>
            <a:ext cx="429768" cy="393192"/>
          </a:xfrm>
          <a:prstGeom prst="roundRect">
            <a:avLst>
              <a:gd name="adj" fmla="val 2093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87552" y="4668012"/>
            <a:ext cx="310896" cy="1097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C142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20" dirty="0"/>
          </a:p>
        </p:txBody>
      </p:sp>
      <p:sp>
        <p:nvSpPr>
          <p:cNvPr id="26" name="Text 24"/>
          <p:cNvSpPr/>
          <p:nvPr/>
        </p:nvSpPr>
        <p:spPr>
          <a:xfrm>
            <a:off x="1545336" y="4535424"/>
            <a:ext cx="246888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REVIEWER COMMENTS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191000" y="4553712"/>
            <a:ext cx="31115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70" dirty="0">
                <a:solidFill>
                  <a:srgbClr val="BF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KAOP GitHub workflow</a:t>
            </a:r>
            <a:endParaRPr lang="en-US" sz="1270" dirty="0"/>
          </a:p>
        </p:txBody>
      </p:sp>
      <p:sp>
        <p:nvSpPr>
          <p:cNvPr id="28" name="Shape 26"/>
          <p:cNvSpPr/>
          <p:nvPr/>
        </p:nvSpPr>
        <p:spPr>
          <a:xfrm>
            <a:off x="7763256" y="1901952"/>
            <a:ext cx="3575304" cy="3209544"/>
          </a:xfrm>
          <a:prstGeom prst="roundRect">
            <a:avLst>
              <a:gd name="adj" fmla="val 5128"/>
            </a:avLst>
          </a:prstGeom>
          <a:solidFill>
            <a:srgbClr val="1D2F42"/>
          </a:solidFill>
          <a:ln w="1016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8046720" y="2176272"/>
            <a:ext cx="3099816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AGENT DID THESE</a:t>
            </a:r>
            <a:endParaRPr lang="en-US" sz="1740" dirty="0"/>
          </a:p>
        </p:txBody>
      </p:sp>
      <p:sp>
        <p:nvSpPr>
          <p:cNvPr id="30" name="Text 28"/>
          <p:cNvSpPr/>
          <p:nvPr/>
        </p:nvSpPr>
        <p:spPr>
          <a:xfrm>
            <a:off x="8028432" y="2798064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66760" y="2807208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Changed production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028432" y="3364992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366760" y="3374136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or merged the PR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8028432" y="3931920"/>
            <a:ext cx="28346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0848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×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366760" y="3941064"/>
            <a:ext cx="2569464" cy="3749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Took credit for the fix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758952" y="5513832"/>
            <a:ext cx="10579608" cy="411480"/>
          </a:xfrm>
          <a:prstGeom prst="roundRect">
            <a:avLst>
              <a:gd name="adj" fmla="val 2444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923544" y="5623560"/>
            <a:ext cx="10296144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4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 tested on the same outage: 5 liveness kills in 5 minutes before, 0 after.</a:t>
            </a:r>
            <a:endParaRPr lang="en-US" sz="14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QUALITY + COST MEASURED HERE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completed run is not a correct run.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94944" y="1874520"/>
            <a:ext cx="5486400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157984"/>
            <a:ext cx="502920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3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ANSWER QUALITY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23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C667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953512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3483864" y="2706624"/>
            <a:ext cx="237744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of 10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914400" y="3456432"/>
            <a:ext cx="50292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found the actual cause</a:t>
            </a:r>
            <a:endParaRPr lang="en-US" sz="1710" dirty="0"/>
          </a:p>
        </p:txBody>
      </p:sp>
      <p:sp>
        <p:nvSpPr>
          <p:cNvPr id="14" name="Text 12"/>
          <p:cNvSpPr/>
          <p:nvPr/>
        </p:nvSpPr>
        <p:spPr>
          <a:xfrm>
            <a:off x="914400" y="3959352"/>
            <a:ext cx="493776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/ with one documented probe standard.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investigation input; small lab samples.</a:t>
            </a:r>
            <a:endParaRPr lang="en-US" sz="1460" dirty="0"/>
          </a:p>
        </p:txBody>
      </p:sp>
      <p:sp>
        <p:nvSpPr>
          <p:cNvPr id="15" name="Shape 13"/>
          <p:cNvSpPr/>
          <p:nvPr/>
        </p:nvSpPr>
        <p:spPr>
          <a:xfrm>
            <a:off x="6391656" y="1874520"/>
            <a:ext cx="5093208" cy="3419856"/>
          </a:xfrm>
          <a:prstGeom prst="roundRect">
            <a:avLst>
              <a:gd name="adj" fmla="val 5615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601968" y="2157984"/>
            <a:ext cx="466344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OF THE GRAFANA INVESTIGATOR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20256" y="2706624"/>
            <a:ext cx="1792224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$0.68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8430768" y="2834640"/>
            <a:ext cx="448056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8924544" y="2706624"/>
            <a:ext cx="2103120" cy="5852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$0.53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611112" y="3456432"/>
            <a:ext cx="466344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1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Reported average per run</a:t>
            </a:r>
            <a:endParaRPr lang="en-US" sz="1710" dirty="0"/>
          </a:p>
        </p:txBody>
      </p:sp>
      <p:sp>
        <p:nvSpPr>
          <p:cNvPr id="21" name="Text 19"/>
          <p:cNvSpPr/>
          <p:nvPr/>
        </p:nvSpPr>
        <p:spPr>
          <a:xfrm>
            <a:off x="6611112" y="3959352"/>
            <a:ext cx="4572000" cy="868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read tools versus a broader toolset.</a:t>
            </a:r>
            <a:endParaRPr lang="en-US" sz="1460" dirty="0"/>
          </a:p>
          <a:p>
            <a:pPr algn="l" indent="0" marL="0">
              <a:buNone/>
            </a:pPr>
            <a:r>
              <a:rPr lang="en-US" sz="146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Five runs per setup; identical cases vary.</a:t>
            </a:r>
            <a:endParaRPr lang="en-US" sz="1460" dirty="0"/>
          </a:p>
        </p:txBody>
      </p:sp>
      <p:sp>
        <p:nvSpPr>
          <p:cNvPr id="22" name="Shape 20"/>
          <p:cNvSpPr/>
          <p:nvPr/>
        </p:nvSpPr>
        <p:spPr>
          <a:xfrm>
            <a:off x="694944" y="5495544"/>
            <a:ext cx="10789920" cy="438912"/>
          </a:xfrm>
          <a:prstGeom prst="roundRect">
            <a:avLst>
              <a:gd name="adj" fmla="val 22917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14400" y="5614416"/>
            <a:ext cx="1037844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9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A BENCHMARK: Hosted agent changed version during tests; evaluation must be repeated in the customer environment.</a:t>
            </a:r>
            <a:endParaRPr lang="en-US" sz="119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PRODUCT ENGINEERING, NOT JUST A DEMO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autonomy through measured adoption.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13232" y="2057400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06AFA5"/>
          </a:solidFill>
          <a:ln w="1016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59536" y="2194560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</a:t>
            </a:r>
            <a:endParaRPr lang="en-US" sz="1660" dirty="0"/>
          </a:p>
        </p:txBody>
      </p:sp>
      <p:sp>
        <p:nvSpPr>
          <p:cNvPr id="11" name="Text 9"/>
          <p:cNvSpPr/>
          <p:nvPr/>
        </p:nvSpPr>
        <p:spPr>
          <a:xfrm>
            <a:off x="859536" y="2980944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Read-only RCA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3300984" y="2697480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364992" y="2610612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547872" y="1938528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94176" y="2075688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3694176" y="2414016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RECOMMEND</a:t>
            </a:r>
            <a:endParaRPr lang="en-US" sz="1660" dirty="0"/>
          </a:p>
        </p:txBody>
      </p:sp>
      <p:sp>
        <p:nvSpPr>
          <p:cNvPr id="17" name="Text 15"/>
          <p:cNvSpPr/>
          <p:nvPr/>
        </p:nvSpPr>
        <p:spPr>
          <a:xfrm>
            <a:off x="3694176" y="2862072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Proposals + evidence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6135624" y="2578608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199632" y="2491740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382512" y="1819656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528816" y="1956816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528816" y="2295144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EXECUTE</a:t>
            </a:r>
            <a:endParaRPr lang="en-US" sz="1660" dirty="0"/>
          </a:p>
        </p:txBody>
      </p:sp>
      <p:sp>
        <p:nvSpPr>
          <p:cNvPr id="23" name="Text 21"/>
          <p:cNvSpPr/>
          <p:nvPr/>
        </p:nvSpPr>
        <p:spPr>
          <a:xfrm>
            <a:off x="6528816" y="2743200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gates writes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8970264" y="2459736"/>
            <a:ext cx="173736" cy="0"/>
          </a:xfrm>
          <a:prstGeom prst="line">
            <a:avLst/>
          </a:prstGeom>
          <a:noFill/>
          <a:ln w="3048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034272" y="2372868"/>
            <a:ext cx="146304" cy="173736"/>
          </a:xfrm>
          <a:prstGeom prst="chevron">
            <a:avLst/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217152" y="1700784"/>
            <a:ext cx="2551176" cy="118872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363456" y="1837944"/>
            <a:ext cx="256032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9363456" y="2176272"/>
            <a:ext cx="2304288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66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PRE-APPROVE</a:t>
            </a:r>
            <a:endParaRPr lang="en-US" sz="1660" dirty="0"/>
          </a:p>
        </p:txBody>
      </p:sp>
      <p:sp>
        <p:nvSpPr>
          <p:cNvPr id="29" name="Text 27"/>
          <p:cNvSpPr/>
          <p:nvPr/>
        </p:nvSpPr>
        <p:spPr>
          <a:xfrm>
            <a:off x="9363456" y="2624328"/>
            <a:ext cx="2258568" cy="182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2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low-risk repeats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749808" y="3831336"/>
            <a:ext cx="10671048" cy="3291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Score the workflow before increasing its authority.</a:t>
            </a:r>
            <a:endParaRPr lang="en-US" sz="2150" dirty="0"/>
          </a:p>
        </p:txBody>
      </p:sp>
      <p:sp>
        <p:nvSpPr>
          <p:cNvPr id="31" name="Shape 29"/>
          <p:cNvSpPr/>
          <p:nvPr/>
        </p:nvSpPr>
        <p:spPr>
          <a:xfrm>
            <a:off x="731520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77824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1252728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 RCA + evidence</a:t>
            </a:r>
            <a:endParaRPr lang="en-US" sz="1330" dirty="0"/>
          </a:p>
        </p:txBody>
      </p:sp>
      <p:sp>
        <p:nvSpPr>
          <p:cNvPr id="34" name="Shape 32"/>
          <p:cNvSpPr/>
          <p:nvPr/>
        </p:nvSpPr>
        <p:spPr>
          <a:xfrm>
            <a:off x="4443984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590288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965192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to useful decision</a:t>
            </a:r>
            <a:endParaRPr lang="en-US" sz="1330" dirty="0"/>
          </a:p>
        </p:txBody>
      </p:sp>
      <p:sp>
        <p:nvSpPr>
          <p:cNvPr id="37" name="Shape 35"/>
          <p:cNvSpPr/>
          <p:nvPr/>
        </p:nvSpPr>
        <p:spPr>
          <a:xfrm>
            <a:off x="8156448" y="444398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302752" y="454914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8677656" y="453999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Policy compliance</a:t>
            </a:r>
            <a:endParaRPr lang="en-US" sz="1330" dirty="0"/>
          </a:p>
        </p:txBody>
      </p:sp>
      <p:sp>
        <p:nvSpPr>
          <p:cNvPr id="40" name="Shape 38"/>
          <p:cNvSpPr/>
          <p:nvPr/>
        </p:nvSpPr>
        <p:spPr>
          <a:xfrm>
            <a:off x="731520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877824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1252728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per useful run</a:t>
            </a:r>
            <a:endParaRPr lang="en-US" sz="1330" dirty="0"/>
          </a:p>
        </p:txBody>
      </p:sp>
      <p:sp>
        <p:nvSpPr>
          <p:cNvPr id="43" name="Shape 41"/>
          <p:cNvSpPr/>
          <p:nvPr/>
        </p:nvSpPr>
        <p:spPr>
          <a:xfrm>
            <a:off x="4443984" y="5084064"/>
            <a:ext cx="3401568" cy="448056"/>
          </a:xfrm>
          <a:prstGeom prst="roundRect">
            <a:avLst>
              <a:gd name="adj" fmla="val 2449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590288" y="5189220"/>
            <a:ext cx="292608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965192" y="5180076"/>
            <a:ext cx="2706624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 adoption</a:t>
            </a:r>
            <a:endParaRPr lang="en-US" sz="13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10896"/>
            <a:ext cx="9144000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spc="24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CUSTOMER NEXT STEP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0972800" y="292608"/>
            <a:ext cx="576072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40080" y="777240"/>
            <a:ext cx="10927080" cy="9326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pilot. One owner. One decision to expand.</a:t>
            </a:r>
            <a:endParaRPr lang="en-US" sz="3150" dirty="0"/>
          </a:p>
        </p:txBody>
      </p:sp>
      <p:sp>
        <p:nvSpPr>
          <p:cNvPr id="5" name="Shape 3"/>
          <p:cNvSpPr/>
          <p:nvPr/>
        </p:nvSpPr>
        <p:spPr>
          <a:xfrm>
            <a:off x="640080" y="6327648"/>
            <a:ext cx="10927080" cy="0"/>
          </a:xfrm>
          <a:prstGeom prst="line">
            <a:avLst/>
          </a:prstGeom>
          <a:noFill/>
          <a:ln w="1143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6419088"/>
            <a:ext cx="5486400" cy="1554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00" spc="120" kern="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KAOP  /  CUSTOMER DISCUSSION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2376" y="1865376"/>
            <a:ext cx="5669280" cy="3547872"/>
          </a:xfrm>
          <a:prstGeom prst="roundRect">
            <a:avLst>
              <a:gd name="adj" fmla="val 5670"/>
            </a:avLst>
          </a:prstGeom>
          <a:solidFill>
            <a:srgbClr val="FFFFFF"/>
          </a:solidFill>
          <a:ln w="1016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78408" y="2176272"/>
            <a:ext cx="5020056" cy="256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510" b="1" spc="5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WORKFLOW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978408" y="2743200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271016" y="2679192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Named technical owner + interested users</a:t>
            </a:r>
            <a:endParaRPr lang="en-US" sz="1470" dirty="0"/>
          </a:p>
        </p:txBody>
      </p:sp>
      <p:sp>
        <p:nvSpPr>
          <p:cNvPr id="12" name="Shape 10"/>
          <p:cNvSpPr/>
          <p:nvPr/>
        </p:nvSpPr>
        <p:spPr>
          <a:xfrm>
            <a:off x="978408" y="3310128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271016" y="3246120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alert or PR workflow, not a fleet migration</a:t>
            </a:r>
            <a:endParaRPr lang="en-US" sz="1470" dirty="0"/>
          </a:p>
        </p:txBody>
      </p:sp>
      <p:sp>
        <p:nvSpPr>
          <p:cNvPr id="14" name="Shape 12"/>
          <p:cNvSpPr/>
          <p:nvPr/>
        </p:nvSpPr>
        <p:spPr>
          <a:xfrm>
            <a:off x="978408" y="3877056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271016" y="3813048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Scoped access, human gates, baseline metrics</a:t>
            </a:r>
            <a:endParaRPr lang="en-US" sz="1470" dirty="0"/>
          </a:p>
        </p:txBody>
      </p:sp>
      <p:sp>
        <p:nvSpPr>
          <p:cNvPr id="16" name="Shape 14"/>
          <p:cNvSpPr/>
          <p:nvPr/>
        </p:nvSpPr>
        <p:spPr>
          <a:xfrm>
            <a:off x="978408" y="4443984"/>
            <a:ext cx="137160" cy="137160"/>
          </a:xfrm>
          <a:prstGeom prst="ellipse">
            <a:avLst/>
          </a:prstGeom>
          <a:solidFill>
            <a:srgbClr val="06AFA5"/>
          </a:solidFill>
          <a:ln w="15240">
            <a:solidFill>
              <a:srgbClr val="06AFA5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271016" y="4379976"/>
            <a:ext cx="4709160" cy="4297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7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actual outputs and adoption after pilot</a:t>
            </a:r>
            <a:endParaRPr lang="en-US" sz="1470" dirty="0"/>
          </a:p>
        </p:txBody>
      </p:sp>
      <p:sp>
        <p:nvSpPr>
          <p:cNvPr id="18" name="Shape 16"/>
          <p:cNvSpPr/>
          <p:nvPr/>
        </p:nvSpPr>
        <p:spPr>
          <a:xfrm>
            <a:off x="6620256" y="1865376"/>
            <a:ext cx="4873752" cy="3547872"/>
          </a:xfrm>
          <a:prstGeom prst="roundRect">
            <a:avLst>
              <a:gd name="adj" fmla="val 5928"/>
            </a:avLst>
          </a:prstGeom>
          <a:solidFill>
            <a:srgbClr val="0C1423"/>
          </a:solidFill>
          <a:ln w="12700">
            <a:solidFill>
              <a:srgbClr val="0C142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0296" y="2249424"/>
            <a:ext cx="4215384" cy="2103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MY QUESTION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40296" y="2816352"/>
            <a:ext cx="4169664" cy="9875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Which workflow would you want to prove first?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6940296" y="4251960"/>
            <a:ext cx="41330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B5C8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would be the right person to help us scope it?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" y="566928"/>
            <a:ext cx="1645920" cy="292608"/>
          </a:xfrm>
          <a:prstGeom prst="roundRect">
            <a:avLst>
              <a:gd name="adj" fmla="val 31250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795528" y="621792"/>
            <a:ext cx="14630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980" b="1" spc="4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THOUGHT</a:t>
            </a:r>
            <a:endParaRPr lang="en-US" sz="980" dirty="0"/>
          </a:p>
        </p:txBody>
      </p:sp>
      <p:sp>
        <p:nvSpPr>
          <p:cNvPr id="4" name="Text 2"/>
          <p:cNvSpPr/>
          <p:nvPr/>
        </p:nvSpPr>
        <p:spPr>
          <a:xfrm>
            <a:off x="704088" y="1307592"/>
            <a:ext cx="9966960" cy="16093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AGENTS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ACCOUNTABLE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04088" y="3008376"/>
            <a:ext cx="10515600" cy="15361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MAKING THEM</a:t>
            </a:r>
            <a:endParaRPr lang="en-US" sz="4100" dirty="0"/>
          </a:p>
          <a:p>
            <a:pPr algn="l" indent="0" marL="0">
              <a:buNone/>
            </a:pPr>
            <a:r>
              <a:rPr lang="en-US" sz="4100" b="1" dirty="0">
                <a:solidFill>
                  <a:srgbClr val="C6F78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AUTONOMOUS.</a:t>
            </a:r>
            <a:endParaRPr lang="en-US" sz="4100" dirty="0"/>
          </a:p>
        </p:txBody>
      </p:sp>
      <p:sp>
        <p:nvSpPr>
          <p:cNvPr id="6" name="Shape 4"/>
          <p:cNvSpPr/>
          <p:nvPr/>
        </p:nvSpPr>
        <p:spPr>
          <a:xfrm>
            <a:off x="704088" y="5029200"/>
            <a:ext cx="10725912" cy="0"/>
          </a:xfrm>
          <a:prstGeom prst="line">
            <a:avLst/>
          </a:prstGeom>
          <a:noFill/>
          <a:ln w="19050">
            <a:solidFill>
              <a:srgbClr val="33475C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13232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VIEW</a:t>
            </a:r>
            <a:endParaRPr lang="en-US" sz="1130" dirty="0"/>
          </a:p>
        </p:txBody>
      </p:sp>
      <p:sp>
        <p:nvSpPr>
          <p:cNvPr id="9" name="Shape 7"/>
          <p:cNvSpPr/>
          <p:nvPr/>
        </p:nvSpPr>
        <p:spPr>
          <a:xfrm>
            <a:off x="4078224" y="5349240"/>
            <a:ext cx="3044952" cy="347472"/>
          </a:xfrm>
          <a:prstGeom prst="roundRect">
            <a:avLst>
              <a:gd name="adj" fmla="val 39474"/>
            </a:avLst>
          </a:prstGeom>
          <a:solidFill>
            <a:srgbClr val="101E2D"/>
          </a:solidFill>
          <a:ln w="12700">
            <a:solidFill>
              <a:srgbClr val="101E2D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87952" y="5422392"/>
            <a:ext cx="2825496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LIMITS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7443216" y="5349240"/>
            <a:ext cx="3657600" cy="347472"/>
          </a:xfrm>
          <a:prstGeom prst="roundRect">
            <a:avLst>
              <a:gd name="adj" fmla="val 39474"/>
            </a:avLst>
          </a:prstGeom>
          <a:solidFill>
            <a:srgbClr val="06AFA5"/>
          </a:solidFill>
          <a:ln w="12700">
            <a:solidFill>
              <a:srgbClr val="06AFA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552944" y="5422392"/>
            <a:ext cx="3438144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→ DECISION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731520" y="6144768"/>
            <a:ext cx="877824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C0D0D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would that first pilot need to prove for you?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/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 results: what was actually measured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Shape 4"/>
          <p:cNvSpPr/>
          <p:nvPr/>
        </p:nvSpPr>
        <p:spPr>
          <a:xfrm>
            <a:off x="731520" y="174650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23544" y="187452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Fault vs fix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953512" y="187452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Bad probe: 5 liveness kills in 5 min; corrected probe: zero.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31520" y="2368296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923544" y="2496312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 timing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2953512" y="2496312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Alert at +3:26 and +3:09 in two October 25 rehearsals.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31520" y="2990088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23544" y="3118104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timing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2953512" y="3118104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 suggestions ready around +11:30 and +13:36.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31520" y="3611880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23544" y="3739896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 reviewer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2953512" y="3739896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comment in 35 s and 33 s on rehearsal PRs.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923544" y="4361688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2953512" y="4361688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10/10 with standards doc; 1/5 without, in stated comparison.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31520" y="4855464"/>
            <a:ext cx="10698480" cy="521208"/>
          </a:xfrm>
          <a:prstGeom prst="roundRect">
            <a:avLst>
              <a:gd name="adj" fmla="val 15789"/>
            </a:avLst>
          </a:prstGeom>
          <a:solidFill>
            <a:srgbClr val="EAF0F5"/>
          </a:solidFill>
          <a:ln w="12700">
            <a:solidFill>
              <a:srgbClr val="EAF0F5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23544" y="4983480"/>
            <a:ext cx="1965960" cy="228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2953512" y="4983480"/>
            <a:ext cx="8147304" cy="219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5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About $0.68 → $0.53 average for 5 vs 5 Grafana agent runs.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8952" y="5806440"/>
            <a:ext cx="10515600" cy="29260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Caveats: Single-node kind lab, small samples, shared dependency cause, and a hosted-agent upgrade during experiments.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93192"/>
            <a:ext cx="91440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6AF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 / SCOPE BOUNDARIES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22960"/>
            <a:ext cx="10771632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294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had authority in this specific lab</a:t>
            </a:r>
            <a:endParaRPr lang="en-US" sz="2940" dirty="0"/>
          </a:p>
        </p:txBody>
      </p:sp>
      <p:sp>
        <p:nvSpPr>
          <p:cNvPr id="4" name="Shape 2"/>
          <p:cNvSpPr/>
          <p:nvPr/>
        </p:nvSpPr>
        <p:spPr>
          <a:xfrm>
            <a:off x="685800" y="6327648"/>
            <a:ext cx="10744200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85800" y="6428232"/>
            <a:ext cx="4572000" cy="164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970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  •  REFERENCE</a:t>
            </a:r>
            <a:endParaRPr lang="en-US" sz="970" dirty="0"/>
          </a:p>
        </p:txBody>
      </p:sp>
      <p:sp>
        <p:nvSpPr>
          <p:cNvPr id="6" name="Text 4"/>
          <p:cNvSpPr/>
          <p:nvPr/>
        </p:nvSpPr>
        <p:spPr>
          <a:xfrm>
            <a:off x="804672" y="1691640"/>
            <a:ext cx="283464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/ ACTION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47872" y="1691640"/>
            <a:ext cx="4114800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SCOPE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110728" y="1691640"/>
            <a:ext cx="3081528" cy="2011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3657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EXCLUDED ACTIONS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4672" y="2011680"/>
            <a:ext cx="10451592" cy="0"/>
          </a:xfrm>
          <a:prstGeom prst="line">
            <a:avLst/>
          </a:prstGeom>
          <a:noFill/>
          <a:ln w="12700">
            <a:solidFill>
              <a:srgbClr val="DCE5ED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207568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86968" y="217627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RCA</a:t>
            </a:r>
            <a:endParaRPr lang="en-US" sz="1370" dirty="0"/>
          </a:p>
        </p:txBody>
      </p:sp>
      <p:sp>
        <p:nvSpPr>
          <p:cNvPr id="12" name="Text 10"/>
          <p:cNvSpPr/>
          <p:nvPr/>
        </p:nvSpPr>
        <p:spPr>
          <a:xfrm>
            <a:off x="3529584" y="217627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Kubernetes read-only via ServiceAccount RBAC</a:t>
            </a:r>
            <a:endParaRPr lang="en-US" sz="1310" dirty="0"/>
          </a:p>
        </p:txBody>
      </p:sp>
      <p:sp>
        <p:nvSpPr>
          <p:cNvPr id="13" name="Text 11"/>
          <p:cNvSpPr/>
          <p:nvPr/>
        </p:nvSpPr>
        <p:spPr>
          <a:xfrm>
            <a:off x="8129016" y="217627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Secrets, exec, delete, patch, scale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86968" y="281635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Grafana investigator</a:t>
            </a:r>
            <a:endParaRPr lang="en-US" sz="1370" dirty="0"/>
          </a:p>
        </p:txBody>
      </p:sp>
      <p:sp>
        <p:nvSpPr>
          <p:cNvPr id="15" name="Text 13"/>
          <p:cNvSpPr/>
          <p:nvPr/>
        </p:nvSpPr>
        <p:spPr>
          <a:xfrm>
            <a:off x="3529584" y="281635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 selected read tools through KAOP gateway</a:t>
            </a:r>
            <a:endParaRPr lang="en-US" sz="1310" dirty="0"/>
          </a:p>
        </p:txBody>
      </p:sp>
      <p:sp>
        <p:nvSpPr>
          <p:cNvPr id="16" name="Text 14"/>
          <p:cNvSpPr/>
          <p:nvPr/>
        </p:nvSpPr>
        <p:spPr>
          <a:xfrm>
            <a:off x="8129016" y="281635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 families outside allow list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" y="335584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86968" y="345643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Workflow budget</a:t>
            </a:r>
            <a:endParaRPr lang="en-US" sz="1370" dirty="0"/>
          </a:p>
        </p:txBody>
      </p:sp>
      <p:sp>
        <p:nvSpPr>
          <p:cNvPr id="19" name="Text 17"/>
          <p:cNvSpPr/>
          <p:nvPr/>
        </p:nvSpPr>
        <p:spPr>
          <a:xfrm>
            <a:off x="3529584" y="345643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$40 a day; new runs blocked at the cap</a:t>
            </a:r>
            <a:endParaRPr lang="en-US" sz="1310" dirty="0"/>
          </a:p>
        </p:txBody>
      </p:sp>
      <p:sp>
        <p:nvSpPr>
          <p:cNvPr id="20" name="Text 18"/>
          <p:cNvSpPr/>
          <p:nvPr/>
        </p:nvSpPr>
        <p:spPr>
          <a:xfrm>
            <a:off x="8129016" y="345643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past the cap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86968" y="409651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Remediation</a:t>
            </a:r>
            <a:endParaRPr lang="en-US" sz="1370" dirty="0"/>
          </a:p>
        </p:txBody>
      </p:sp>
      <p:sp>
        <p:nvSpPr>
          <p:cNvPr id="22" name="Text 20"/>
          <p:cNvSpPr/>
          <p:nvPr/>
        </p:nvSpPr>
        <p:spPr>
          <a:xfrm>
            <a:off x="3529584" y="409651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and recommend, with verification</a:t>
            </a:r>
            <a:endParaRPr lang="en-US" sz="1310" dirty="0"/>
          </a:p>
        </p:txBody>
      </p:sp>
      <p:sp>
        <p:nvSpPr>
          <p:cNvPr id="23" name="Text 21"/>
          <p:cNvSpPr/>
          <p:nvPr/>
        </p:nvSpPr>
        <p:spPr>
          <a:xfrm>
            <a:off x="8129016" y="409651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tools on any live system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77240" y="4636008"/>
            <a:ext cx="10506456" cy="612648"/>
          </a:xfrm>
          <a:prstGeom prst="roundRect">
            <a:avLst>
              <a:gd name="adj" fmla="val 134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86968" y="4736592"/>
            <a:ext cx="2432304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7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GitHub reviewer</a:t>
            </a:r>
            <a:endParaRPr lang="en-US" sz="1370" dirty="0"/>
          </a:p>
        </p:txBody>
      </p:sp>
      <p:sp>
        <p:nvSpPr>
          <p:cNvPr id="26" name="Text 24"/>
          <p:cNvSpPr/>
          <p:nvPr/>
        </p:nvSpPr>
        <p:spPr>
          <a:xfrm>
            <a:off x="3529584" y="4736592"/>
            <a:ext cx="4261104" cy="3566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10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Issue-style review comment on a real PR</a:t>
            </a:r>
            <a:endParaRPr lang="en-US" sz="1310" dirty="0"/>
          </a:p>
        </p:txBody>
      </p:sp>
      <p:sp>
        <p:nvSpPr>
          <p:cNvPr id="27" name="Text 25"/>
          <p:cNvSpPr/>
          <p:nvPr/>
        </p:nvSpPr>
        <p:spPr>
          <a:xfrm>
            <a:off x="8129016" y="4736592"/>
            <a:ext cx="2953512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B7636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approve or merge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4672" y="5669280"/>
            <a:ext cx="10460736" cy="420624"/>
          </a:xfrm>
          <a:prstGeom prst="roundRect">
            <a:avLst>
              <a:gd name="adj" fmla="val 26087"/>
            </a:avLst>
          </a:prstGeom>
          <a:solidFill>
            <a:srgbClr val="D8F8F3"/>
          </a:solidFill>
          <a:ln w="12700">
            <a:solidFill>
              <a:srgbClr val="D8F8F3">
                <a:alpha val="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960120" y="5788152"/>
            <a:ext cx="10149840" cy="173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30" b="1" dirty="0">
                <a:solidFill>
                  <a:srgbClr val="13243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applies recovery; the workflow records that distinction.</a:t>
            </a:r>
            <a:endParaRPr lang="en-US" sz="13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Independent presentation draft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KAOP | Accountable Agent Operations</dc:title>
  <dc:subject>Independent Komodor KAOP customer presentation</dc:subject>
  <dc:creator>OpenAI</dc:creator>
  <cp:lastModifiedBy>OpenAI</cp:lastModifiedBy>
  <cp:revision>1</cp:revision>
  <dcterms:created xsi:type="dcterms:W3CDTF">2026-10-26T20:19:41Z</dcterms:created>
  <dcterms:modified xsi:type="dcterms:W3CDTF">2026-10-26T20:19:41Z</dcterms:modified>
</cp:coreProperties>
</file>