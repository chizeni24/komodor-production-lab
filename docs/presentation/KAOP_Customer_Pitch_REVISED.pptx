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(75 seconds). Ask: "As your teams launch AI agents, where can you see every agent, the tools it can touch, and the decisions it makes?" Pause. Thesis: the hard part is not building one good agent, it is operating many safely. Today I will prove KAOP by following ONE real failure into two independent governed workflows: incident investigation and PR review. Promise proof, not product-tour theater. Source: https://komodor.com/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Audience is platform engineering managing decentralized adoption. These three categories are customer problems to validate in discovery, not claims that their organization necessarily has them. Ask which pain is highest: inventory, identity and permissioning, or end-to-end orchestration. Distinguish adding agents from responsibly running an agent fleet.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Distinguish product capabilities from the lab. Komodor officially frames KAOP as BUILD, RUN, GOVERN, OPTIMIZE with shared context/memory, knowledge graph, integrations and ready-to-run agents. It can govern imported agents built with other tools. Tie each capability back to what the platform team gains. Avoid repeating unaudited vendor ROI numbers as demo results. Sources: https://komodor.com/platform/ https://komodor.com/blog/komodor-launches-agentic-operations-platform-combining-ready-to-run-automation-with-a-comprehensive-backbone-for-custom-agents/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This slide deliberately separates platform capabilities from our proposed demo policy. KAOP public website describes scoped RBAC, policy gates, approval gates and audit trails. When access arrives, verify the actual enforcement mechanics: Kubernetes service account and RBAC, allowed tool list, account policies, human approval for writes, and run/audit records. Do not assert the demo has enforceable limits until shown in workspace. Ask the audience: which actions would they permit automatically, and which must be held for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EXPLANATION (2 minutes): one causal engineering story, TWO distinct triggers. A real Grafana Cloud firing alert should automatically launch the KAOP incident workflow, which must return a root cause, confidence, evidence and fix. Separately, a NEW real GitHub PR should automatically launch the reviewer, which must leave an actual PR comment. Do NOT imply the investigator creates the PR unless this orchestration is explicitly configured and proven. Both must be shown operating under real read/write scopes and a KAOP audit trail. Official assignment pages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(10–12 minutes). NO SCREENSHOT ON THE SLIDE. Pre-open five tabs: terminal; Grafana alert history; KAOP incident workflow/runs; GitHub new PR; KAOP GitHub review run. 1) Preflight shows healthy API+Redis and enforced agent read-only scope. 2) Trigger one deterministic misconfigured liveness fault and Redis interruption; do not start memory test. 3) Switch to Grafana; prove a new alert transitioned to Alerting. 4) Show the KAOP workflow RUN was created from that exact alert and explain its actual root cause, confidence, concrete evidence and proposed remediation. 5) Open fresh PR for liveness /readyz→/healthz fix AFTER GitHub reviewer integration is listening; show actual bot review comment on the PR; no manual seed. 6) Show denied write scope or policy/approval and audit trail ONLY if verified. 7) Reset and verify Ready. Two workflows are independent by default. Screenshot of prior authentic alert history is BACKUP ONLY and must be labeled as recorded. Laptop overload contingency: prebuilt reset command and stop script. Verified lab: two restarts and Grafana Alerting during scenario #1. KAOP integration currently pending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(2 minutes). This is a measured pilot proposal, not an invented ROI claim. Define success upfront: % of alerts with referenced evidence and useful RCA, elapsed time alert→investigation, proportion of new PRs actually reviewed, actionable comments, exact policy gate results, and agent spend. Ask the customer: which team owns the agent policy? What action cannot be autonomous on day one? Sell production trust and operating scale, not a prettier chatbot. Source https://komodor.com/platform/.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680960" y="0"/>
            <a:ext cx="4507992" cy="6858000"/>
          </a:xfrm>
          <a:prstGeom prst="roundRect">
            <a:avLst>
              <a:gd name="adj" fmla="val 3651"/>
            </a:avLst>
          </a:prstGeom>
          <a:solidFill>
            <a:srgbClr val="101D36"/>
          </a:solidFill>
          <a:ln w="12700">
            <a:solidFill>
              <a:srgbClr val="101D36"/>
            </a:solidFill>
            <a:prstDash val="solid"/>
          </a:ln>
        </p:spPr>
      </p:sp>
      <p:sp>
        <p:nvSpPr>
          <p:cNvPr id="3" name="Shape 1"/>
          <p:cNvSpPr/>
          <p:nvPr/>
        </p:nvSpPr>
        <p:spPr>
          <a:xfrm>
            <a:off x="8229600" y="1417320"/>
            <a:ext cx="1618488" cy="713232"/>
          </a:xfrm>
          <a:prstGeom prst="roundRect">
            <a:avLst>
              <a:gd name="adj" fmla="val 23077"/>
            </a:avLst>
          </a:prstGeom>
          <a:solidFill>
            <a:srgbClr val="153F75"/>
          </a:solidFill>
          <a:ln w="12700">
            <a:solidFill>
              <a:srgbClr val="254263"/>
            </a:solidFill>
            <a:prstDash val="solid"/>
          </a:ln>
        </p:spPr>
      </p:sp>
      <p:sp>
        <p:nvSpPr>
          <p:cNvPr id="4" name="Text 2"/>
          <p:cNvSpPr/>
          <p:nvPr/>
        </p:nvSpPr>
        <p:spPr>
          <a:xfrm>
            <a:off x="8366760" y="1600200"/>
            <a:ext cx="1371600" cy="237744"/>
          </a:xfrm>
          <a:prstGeom prst="rect">
            <a:avLst/>
          </a:prstGeom>
          <a:noFill/>
          <a:ln/>
        </p:spPr>
        <p:txBody>
          <a:bodyPr wrap="square" lIns="0" tIns="0" rIns="0" bIns="0" rtlCol="0" anchor="ctr">
            <a:normAutofit/>
          </a:bodyPr>
          <a:lstStyle/>
          <a:p>
            <a:pPr indent="0" marL="0">
              <a:buNone/>
            </a:pPr>
            <a:r>
              <a:rPr lang="en-US" sz="1100" b="1" spc="125" kern="0" dirty="0">
                <a:solidFill>
                  <a:srgbClr val="79CAFF"/>
                </a:solidFill>
                <a:latin typeface="Aptos" pitchFamily="34" charset="0"/>
                <a:ea typeface="Aptos" pitchFamily="34" charset="-122"/>
                <a:cs typeface="Aptos" pitchFamily="34" charset="-120"/>
              </a:rPr>
              <a:t>POLICY</a:t>
            </a:r>
            <a:endParaRPr lang="en-US" sz="1100" dirty="0"/>
          </a:p>
        </p:txBody>
      </p:sp>
      <p:sp>
        <p:nvSpPr>
          <p:cNvPr id="5" name="Shape 3"/>
          <p:cNvSpPr/>
          <p:nvPr/>
        </p:nvSpPr>
        <p:spPr>
          <a:xfrm>
            <a:off x="10195560" y="1746504"/>
            <a:ext cx="1618488" cy="713232"/>
          </a:xfrm>
          <a:prstGeom prst="roundRect">
            <a:avLst>
              <a:gd name="adj" fmla="val 23077"/>
            </a:avLst>
          </a:prstGeom>
          <a:solidFill>
            <a:srgbClr val="192F52"/>
          </a:solidFill>
          <a:ln w="12700">
            <a:solidFill>
              <a:srgbClr val="254263"/>
            </a:solidFill>
            <a:prstDash val="solid"/>
          </a:ln>
        </p:spPr>
      </p:sp>
      <p:sp>
        <p:nvSpPr>
          <p:cNvPr id="6" name="Text 4"/>
          <p:cNvSpPr/>
          <p:nvPr/>
        </p:nvSpPr>
        <p:spPr>
          <a:xfrm>
            <a:off x="10332720" y="1929384"/>
            <a:ext cx="1371600" cy="237744"/>
          </a:xfrm>
          <a:prstGeom prst="rect">
            <a:avLst/>
          </a:prstGeom>
          <a:noFill/>
          <a:ln/>
        </p:spPr>
        <p:txBody>
          <a:bodyPr wrap="square" lIns="0" tIns="0" rIns="0" bIns="0" rtlCol="0" anchor="ctr">
            <a:normAutofit/>
          </a:bodyPr>
          <a:lstStyle/>
          <a:p>
            <a:pPr indent="0" marL="0">
              <a:buNone/>
            </a:pPr>
            <a:r>
              <a:rPr lang="en-US" sz="1100" b="1" spc="125" kern="0" dirty="0">
                <a:solidFill>
                  <a:srgbClr val="B6CBE6"/>
                </a:solidFill>
                <a:latin typeface="Aptos" pitchFamily="34" charset="0"/>
                <a:ea typeface="Aptos" pitchFamily="34" charset="-122"/>
                <a:cs typeface="Aptos" pitchFamily="34" charset="-120"/>
              </a:rPr>
              <a:t>AGENTS</a:t>
            </a:r>
            <a:endParaRPr lang="en-US" sz="1100" dirty="0"/>
          </a:p>
        </p:txBody>
      </p:sp>
      <p:sp>
        <p:nvSpPr>
          <p:cNvPr id="7" name="Shape 5"/>
          <p:cNvSpPr/>
          <p:nvPr/>
        </p:nvSpPr>
        <p:spPr>
          <a:xfrm>
            <a:off x="8229600" y="3017520"/>
            <a:ext cx="1618488" cy="713232"/>
          </a:xfrm>
          <a:prstGeom prst="roundRect">
            <a:avLst>
              <a:gd name="adj" fmla="val 23077"/>
            </a:avLst>
          </a:prstGeom>
          <a:solidFill>
            <a:srgbClr val="192F52"/>
          </a:solidFill>
          <a:ln w="12700">
            <a:solidFill>
              <a:srgbClr val="254263"/>
            </a:solidFill>
            <a:prstDash val="solid"/>
          </a:ln>
        </p:spPr>
      </p:sp>
      <p:sp>
        <p:nvSpPr>
          <p:cNvPr id="8" name="Text 6"/>
          <p:cNvSpPr/>
          <p:nvPr/>
        </p:nvSpPr>
        <p:spPr>
          <a:xfrm>
            <a:off x="8366760" y="3200400"/>
            <a:ext cx="1371600" cy="237744"/>
          </a:xfrm>
          <a:prstGeom prst="rect">
            <a:avLst/>
          </a:prstGeom>
          <a:noFill/>
          <a:ln/>
        </p:spPr>
        <p:txBody>
          <a:bodyPr wrap="square" lIns="0" tIns="0" rIns="0" bIns="0" rtlCol="0" anchor="ctr">
            <a:normAutofit/>
          </a:bodyPr>
          <a:lstStyle/>
          <a:p>
            <a:pPr indent="0" marL="0">
              <a:buNone/>
            </a:pPr>
            <a:r>
              <a:rPr lang="en-US" sz="1100" b="1" spc="125" kern="0" dirty="0">
                <a:solidFill>
                  <a:srgbClr val="B6CBE6"/>
                </a:solidFill>
                <a:latin typeface="Aptos" pitchFamily="34" charset="0"/>
                <a:ea typeface="Aptos" pitchFamily="34" charset="-122"/>
                <a:cs typeface="Aptos" pitchFamily="34" charset="-120"/>
              </a:rPr>
              <a:t>TOOLS</a:t>
            </a:r>
            <a:endParaRPr lang="en-US" sz="1100" dirty="0"/>
          </a:p>
        </p:txBody>
      </p:sp>
      <p:sp>
        <p:nvSpPr>
          <p:cNvPr id="9" name="Shape 7"/>
          <p:cNvSpPr/>
          <p:nvPr/>
        </p:nvSpPr>
        <p:spPr>
          <a:xfrm>
            <a:off x="10195560" y="3346704"/>
            <a:ext cx="1618488" cy="713232"/>
          </a:xfrm>
          <a:prstGeom prst="roundRect">
            <a:avLst>
              <a:gd name="adj" fmla="val 23077"/>
            </a:avLst>
          </a:prstGeom>
          <a:solidFill>
            <a:srgbClr val="192F52"/>
          </a:solidFill>
          <a:ln w="12700">
            <a:solidFill>
              <a:srgbClr val="254263"/>
            </a:solidFill>
            <a:prstDash val="solid"/>
          </a:ln>
        </p:spPr>
      </p:sp>
      <p:sp>
        <p:nvSpPr>
          <p:cNvPr id="10" name="Text 8"/>
          <p:cNvSpPr/>
          <p:nvPr/>
        </p:nvSpPr>
        <p:spPr>
          <a:xfrm>
            <a:off x="10332720" y="3529584"/>
            <a:ext cx="1371600" cy="237744"/>
          </a:xfrm>
          <a:prstGeom prst="rect">
            <a:avLst/>
          </a:prstGeom>
          <a:noFill/>
          <a:ln/>
        </p:spPr>
        <p:txBody>
          <a:bodyPr wrap="square" lIns="0" tIns="0" rIns="0" bIns="0" rtlCol="0" anchor="ctr">
            <a:normAutofit/>
          </a:bodyPr>
          <a:lstStyle/>
          <a:p>
            <a:pPr indent="0" marL="0">
              <a:buNone/>
            </a:pPr>
            <a:r>
              <a:rPr lang="en-US" sz="1100" b="1" spc="125" kern="0" dirty="0">
                <a:solidFill>
                  <a:srgbClr val="B6CBE6"/>
                </a:solidFill>
                <a:latin typeface="Aptos" pitchFamily="34" charset="0"/>
                <a:ea typeface="Aptos" pitchFamily="34" charset="-122"/>
                <a:cs typeface="Aptos" pitchFamily="34" charset="-120"/>
              </a:rPr>
              <a:t>RUNS</a:t>
            </a:r>
            <a:endParaRPr lang="en-US" sz="1100" dirty="0"/>
          </a:p>
        </p:txBody>
      </p:sp>
      <p:sp>
        <p:nvSpPr>
          <p:cNvPr id="11" name="Shape 9"/>
          <p:cNvSpPr/>
          <p:nvPr/>
        </p:nvSpPr>
        <p:spPr>
          <a:xfrm>
            <a:off x="8229600" y="4617720"/>
            <a:ext cx="1618488" cy="713232"/>
          </a:xfrm>
          <a:prstGeom prst="roundRect">
            <a:avLst>
              <a:gd name="adj" fmla="val 23077"/>
            </a:avLst>
          </a:prstGeom>
          <a:solidFill>
            <a:srgbClr val="192F52"/>
          </a:solidFill>
          <a:ln w="12700">
            <a:solidFill>
              <a:srgbClr val="254263"/>
            </a:solidFill>
            <a:prstDash val="solid"/>
          </a:ln>
        </p:spPr>
      </p:sp>
      <p:sp>
        <p:nvSpPr>
          <p:cNvPr id="12" name="Text 10"/>
          <p:cNvSpPr/>
          <p:nvPr/>
        </p:nvSpPr>
        <p:spPr>
          <a:xfrm>
            <a:off x="8366760" y="4800600"/>
            <a:ext cx="1371600" cy="237744"/>
          </a:xfrm>
          <a:prstGeom prst="rect">
            <a:avLst/>
          </a:prstGeom>
          <a:noFill/>
          <a:ln/>
        </p:spPr>
        <p:txBody>
          <a:bodyPr wrap="square" lIns="0" tIns="0" rIns="0" bIns="0" rtlCol="0" anchor="ctr">
            <a:normAutofit/>
          </a:bodyPr>
          <a:lstStyle/>
          <a:p>
            <a:pPr indent="0" marL="0">
              <a:buNone/>
            </a:pPr>
            <a:r>
              <a:rPr lang="en-US" sz="1100" b="1" spc="125" kern="0" dirty="0">
                <a:solidFill>
                  <a:srgbClr val="B6CBE6"/>
                </a:solidFill>
                <a:latin typeface="Aptos" pitchFamily="34" charset="0"/>
                <a:ea typeface="Aptos" pitchFamily="34" charset="-122"/>
                <a:cs typeface="Aptos" pitchFamily="34" charset="-120"/>
              </a:rPr>
              <a:t>CONTEXT</a:t>
            </a:r>
            <a:endParaRPr lang="en-US" sz="1100" dirty="0"/>
          </a:p>
        </p:txBody>
      </p:sp>
      <p:sp>
        <p:nvSpPr>
          <p:cNvPr id="13" name="Shape 11"/>
          <p:cNvSpPr/>
          <p:nvPr/>
        </p:nvSpPr>
        <p:spPr>
          <a:xfrm>
            <a:off x="9015984" y="2139696"/>
            <a:ext cx="1984248" cy="1024128"/>
          </a:xfrm>
          <a:prstGeom prst="line">
            <a:avLst/>
          </a:prstGeom>
          <a:noFill/>
          <a:ln w="25400">
            <a:solidFill>
              <a:srgbClr val="4876BB"/>
            </a:solidFill>
            <a:prstDash val="solid"/>
          </a:ln>
        </p:spPr>
      </p:sp>
      <p:sp>
        <p:nvSpPr>
          <p:cNvPr id="14" name="Shape 12"/>
          <p:cNvSpPr/>
          <p:nvPr/>
        </p:nvSpPr>
        <p:spPr>
          <a:xfrm>
            <a:off x="9326880" y="3739896"/>
            <a:ext cx="1636776" cy="1289304"/>
          </a:xfrm>
          <a:prstGeom prst="line">
            <a:avLst/>
          </a:prstGeom>
          <a:noFill/>
          <a:ln w="25400">
            <a:solidFill>
              <a:srgbClr val="4876BB"/>
            </a:solidFill>
            <a:prstDash val="solid"/>
          </a:ln>
        </p:spPr>
      </p:sp>
      <p:sp>
        <p:nvSpPr>
          <p:cNvPr id="15" name="Shape 13"/>
          <p:cNvSpPr/>
          <p:nvPr/>
        </p:nvSpPr>
        <p:spPr>
          <a:xfrm>
            <a:off x="9052560" y="5367528"/>
            <a:ext cx="1938528" cy="-2212848"/>
          </a:xfrm>
          <a:prstGeom prst="line">
            <a:avLst/>
          </a:prstGeom>
          <a:noFill/>
          <a:ln w="19050">
            <a:solidFill>
              <a:srgbClr val="4876BB"/>
            </a:solidFill>
            <a:prstDash val="solid"/>
          </a:ln>
        </p:spPr>
      </p:sp>
      <p:sp>
        <p:nvSpPr>
          <p:cNvPr id="16" name="Shape 14"/>
          <p:cNvSpPr/>
          <p:nvPr/>
        </p:nvSpPr>
        <p:spPr>
          <a:xfrm>
            <a:off x="548640" y="1005840"/>
            <a:ext cx="3063240" cy="329184"/>
          </a:xfrm>
          <a:prstGeom prst="roundRect">
            <a:avLst>
              <a:gd name="adj" fmla="val 38889"/>
            </a:avLst>
          </a:prstGeom>
          <a:solidFill>
            <a:srgbClr val="13294A"/>
          </a:solidFill>
          <a:ln w="12700">
            <a:solidFill>
              <a:srgbClr val="13294A"/>
            </a:solidFill>
            <a:prstDash val="solid"/>
          </a:ln>
        </p:spPr>
      </p:sp>
      <p:sp>
        <p:nvSpPr>
          <p:cNvPr id="17" name="Text 15"/>
          <p:cNvSpPr/>
          <p:nvPr/>
        </p:nvSpPr>
        <p:spPr>
          <a:xfrm>
            <a:off x="658368" y="1065276"/>
            <a:ext cx="2843784" cy="210312"/>
          </a:xfrm>
          <a:prstGeom prst="rect">
            <a:avLst/>
          </a:prstGeom>
          <a:noFill/>
          <a:ln/>
        </p:spPr>
        <p:txBody>
          <a:bodyPr wrap="square" lIns="0" tIns="0" rIns="0" bIns="0" rtlCol="0" anchor="ctr">
            <a:normAutofit/>
          </a:bodyPr>
          <a:lstStyle/>
          <a:p>
            <a:pPr algn="ctr" indent="0" marL="0">
              <a:buNone/>
            </a:pPr>
            <a:r>
              <a:rPr lang="en-US" sz="1020" b="1" spc="70" kern="0" dirty="0">
                <a:solidFill>
                  <a:srgbClr val="A2CCFF"/>
                </a:solidFill>
                <a:latin typeface="Aptos" pitchFamily="34" charset="0"/>
                <a:ea typeface="Aptos" pitchFamily="34" charset="-122"/>
                <a:cs typeface="Aptos" pitchFamily="34" charset="-120"/>
              </a:rPr>
              <a:t>KAOP  •  AGENTIC OPERATIONS</a:t>
            </a:r>
            <a:endParaRPr lang="en-US" sz="1020" dirty="0"/>
          </a:p>
        </p:txBody>
      </p:sp>
      <p:sp>
        <p:nvSpPr>
          <p:cNvPr id="18" name="Text 16"/>
          <p:cNvSpPr/>
          <p:nvPr/>
        </p:nvSpPr>
        <p:spPr>
          <a:xfrm>
            <a:off x="566928" y="1847088"/>
            <a:ext cx="7818120" cy="749808"/>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AI agents move fast.</a:t>
            </a:r>
            <a:endParaRPr lang="en-US" sz="4200" dirty="0"/>
          </a:p>
        </p:txBody>
      </p:sp>
      <p:sp>
        <p:nvSpPr>
          <p:cNvPr id="19" name="Text 17"/>
          <p:cNvSpPr/>
          <p:nvPr/>
        </p:nvSpPr>
        <p:spPr>
          <a:xfrm>
            <a:off x="566928" y="2670048"/>
            <a:ext cx="7040880" cy="804672"/>
          </a:xfrm>
          <a:prstGeom prst="rect">
            <a:avLst/>
          </a:prstGeom>
          <a:noFill/>
          <a:ln/>
        </p:spPr>
        <p:txBody>
          <a:bodyPr wrap="square" lIns="0" tIns="0" rIns="0" bIns="0" rtlCol="0" anchor="ctr">
            <a:normAutofit/>
          </a:bodyPr>
          <a:lstStyle/>
          <a:p>
            <a:pPr indent="0" marL="0">
              <a:buNone/>
            </a:pPr>
            <a:r>
              <a:rPr lang="en-US" sz="3800" b="1" dirty="0">
                <a:solidFill>
                  <a:srgbClr val="80B8FF"/>
                </a:solidFill>
                <a:latin typeface="Aptos Display" pitchFamily="34" charset="0"/>
                <a:ea typeface="Aptos Display" pitchFamily="34" charset="-122"/>
                <a:cs typeface="Aptos Display" pitchFamily="34" charset="-120"/>
              </a:rPr>
              <a:t>Can you govern them?</a:t>
            </a:r>
            <a:endParaRPr lang="en-US" sz="3800" dirty="0"/>
          </a:p>
        </p:txBody>
      </p:sp>
      <p:sp>
        <p:nvSpPr>
          <p:cNvPr id="20" name="Text 18"/>
          <p:cNvSpPr/>
          <p:nvPr/>
        </p:nvSpPr>
        <p:spPr>
          <a:xfrm>
            <a:off x="576072" y="3977640"/>
            <a:ext cx="6675120" cy="914400"/>
          </a:xfrm>
          <a:prstGeom prst="rect">
            <a:avLst/>
          </a:prstGeom>
          <a:noFill/>
          <a:ln/>
        </p:spPr>
        <p:txBody>
          <a:bodyPr wrap="square" lIns="0" tIns="0" rIns="0" bIns="0" rtlCol="0" anchor="t">
            <a:normAutofit/>
          </a:bodyPr>
          <a:lstStyle/>
          <a:p>
            <a:pPr indent="0" marL="0">
              <a:buNone/>
            </a:pPr>
            <a:r>
              <a:rPr lang="en-US" sz="2000" dirty="0">
                <a:solidFill>
                  <a:srgbClr val="B9CAE0"/>
                </a:solidFill>
                <a:latin typeface="Aptos" pitchFamily="34" charset="0"/>
                <a:ea typeface="Aptos" pitchFamily="34" charset="-122"/>
                <a:cs typeface="Aptos" pitchFamily="34" charset="-120"/>
              </a:rPr>
              <a:t>Bring incident response and code review into</a:t>
            </a:r>
            <a:endParaRPr lang="en-US" sz="2000" dirty="0"/>
          </a:p>
          <a:p>
            <a:pPr indent="0" marL="0">
              <a:buNone/>
            </a:pPr>
            <a:r>
              <a:rPr lang="en-US" sz="2000" dirty="0">
                <a:solidFill>
                  <a:srgbClr val="B9CAE0"/>
                </a:solidFill>
                <a:latin typeface="Aptos" pitchFamily="34" charset="0"/>
                <a:ea typeface="Aptos" pitchFamily="34" charset="-122"/>
                <a:cs typeface="Aptos" pitchFamily="34" charset="-120"/>
              </a:rPr>
              <a:t>one accountable agent operating model.</a:t>
            </a:r>
            <a:endParaRPr lang="en-US" sz="2000" dirty="0"/>
          </a:p>
        </p:txBody>
      </p:sp>
      <p:sp>
        <p:nvSpPr>
          <p:cNvPr id="21" name="Text 19"/>
          <p:cNvSpPr/>
          <p:nvPr/>
        </p:nvSpPr>
        <p:spPr>
          <a:xfrm>
            <a:off x="576072" y="5779008"/>
            <a:ext cx="6583680" cy="365760"/>
          </a:xfrm>
          <a:prstGeom prst="rect">
            <a:avLst/>
          </a:prstGeom>
          <a:noFill/>
          <a:ln/>
        </p:spPr>
        <p:txBody>
          <a:bodyPr wrap="square" lIns="0" tIns="0" rIns="0" bIns="0" rtlCol="0" anchor="ctr">
            <a:normAutofit/>
          </a:bodyPr>
          <a:lstStyle/>
          <a:p>
            <a:pPr indent="0" marL="0">
              <a:buNone/>
            </a:pPr>
            <a:r>
              <a:rPr lang="en-US" sz="1200" dirty="0">
                <a:solidFill>
                  <a:srgbClr val="B6C7E0"/>
                </a:solidFill>
                <a:latin typeface="Aptos" pitchFamily="34" charset="0"/>
                <a:ea typeface="Aptos" pitchFamily="34" charset="-122"/>
                <a:cs typeface="Aptos" pitchFamily="34" charset="-120"/>
              </a:rPr>
              <a:t>A customer conversation for Platform Engineering leaders</a:t>
            </a:r>
            <a:endParaRPr lang="en-US" sz="1200" dirty="0"/>
          </a:p>
        </p:txBody>
      </p:sp>
      <p:sp>
        <p:nvSpPr>
          <p:cNvPr id="22" name="Shape 20"/>
          <p:cNvSpPr/>
          <p:nvPr/>
        </p:nvSpPr>
        <p:spPr>
          <a:xfrm>
            <a:off x="548640" y="6455664"/>
            <a:ext cx="11082528" cy="0"/>
          </a:xfrm>
          <a:prstGeom prst="line">
            <a:avLst/>
          </a:prstGeom>
          <a:noFill/>
          <a:ln w="10160">
            <a:solidFill>
              <a:srgbClr val="28415F"/>
            </a:solidFill>
            <a:prstDash val="solid"/>
          </a:ln>
        </p:spPr>
      </p:sp>
      <p:sp>
        <p:nvSpPr>
          <p:cNvPr id="23" name="Text 21"/>
          <p:cNvSpPr/>
          <p:nvPr/>
        </p:nvSpPr>
        <p:spPr>
          <a:xfrm>
            <a:off x="548640" y="6510528"/>
            <a:ext cx="7315200" cy="182880"/>
          </a:xfrm>
          <a:prstGeom prst="rect">
            <a:avLst/>
          </a:prstGeom>
          <a:noFill/>
          <a:ln/>
        </p:spPr>
        <p:txBody>
          <a:bodyPr wrap="square" lIns="0" tIns="0" rIns="0" bIns="0" rtlCol="0" anchor="ctr">
            <a:normAutofit/>
          </a:bodyPr>
          <a:lstStyle/>
          <a:p>
            <a:pPr indent="0" marL="0">
              <a:buNone/>
            </a:pPr>
            <a:r>
              <a:rPr lang="en-US" sz="900" spc="105" kern="0" dirty="0">
                <a:solidFill>
                  <a:srgbClr val="7F9AB5"/>
                </a:solidFill>
                <a:latin typeface="Aptos" pitchFamily="34" charset="0"/>
                <a:ea typeface="Aptos" pitchFamily="34" charset="-122"/>
                <a:cs typeface="Aptos" pitchFamily="34" charset="-120"/>
              </a:rPr>
              <a:t>PLATFORM ENGINEERING  •  CUSTOMER DISCUSSION</a:t>
            </a:r>
            <a:endParaRPr lang="en-US" sz="900" dirty="0"/>
          </a:p>
        </p:txBody>
      </p:sp>
      <p:sp>
        <p:nvSpPr>
          <p:cNvPr id="24" name="Text 22"/>
          <p:cNvSpPr/>
          <p:nvPr/>
        </p:nvSpPr>
        <p:spPr>
          <a:xfrm>
            <a:off x="11064240" y="6510528"/>
            <a:ext cx="594360" cy="173736"/>
          </a:xfrm>
          <a:prstGeom prst="rect">
            <a:avLst/>
          </a:prstGeom>
          <a:noFill/>
          <a:ln/>
        </p:spPr>
        <p:txBody>
          <a:bodyPr wrap="square" lIns="0" tIns="0" rIns="0" bIns="0" rtlCol="0" anchor="ctr">
            <a:normAutofit/>
          </a:bodyPr>
          <a:lstStyle/>
          <a:p>
            <a:pPr algn="r" indent="0" marL="0">
              <a:buNone/>
            </a:pPr>
            <a:r>
              <a:rPr lang="en-US" sz="900" dirty="0">
                <a:solidFill>
                  <a:srgbClr val="7F9AB5"/>
                </a:solidFill>
                <a:latin typeface="Aptos" pitchFamily="34" charset="0"/>
                <a:ea typeface="Aptos" pitchFamily="34" charset="-122"/>
                <a:cs typeface="Aptos" pitchFamily="34" charset="-120"/>
              </a:rPr>
              <a:t>1 / 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30352" y="292608"/>
            <a:ext cx="3474720" cy="246888"/>
          </a:xfrm>
          <a:prstGeom prst="rect">
            <a:avLst/>
          </a:prstGeom>
          <a:noFill/>
          <a:ln/>
        </p:spPr>
        <p:txBody>
          <a:bodyPr wrap="square" lIns="0" tIns="0" rIns="0" bIns="0" rtlCol="0" anchor="ctr">
            <a:normAutofit/>
          </a:bodyPr>
          <a:lstStyle/>
          <a:p>
            <a:pPr indent="0" marL="0">
              <a:buNone/>
            </a:pPr>
            <a:r>
              <a:rPr lang="en-US" sz="1250" b="1" spc="200" kern="0" dirty="0">
                <a:solidFill>
                  <a:srgbClr val="2563EB"/>
                </a:solidFill>
                <a:latin typeface="Aptos" pitchFamily="34" charset="0"/>
                <a:ea typeface="Aptos" pitchFamily="34" charset="-122"/>
                <a:cs typeface="Aptos" pitchFamily="34" charset="-120"/>
              </a:rPr>
              <a:t>KAOP  /  KOMODOR</a:t>
            </a:r>
            <a:endParaRPr lang="en-US" sz="1250" dirty="0"/>
          </a:p>
        </p:txBody>
      </p:sp>
      <p:sp>
        <p:nvSpPr>
          <p:cNvPr id="3" name="Text 1"/>
          <p:cNvSpPr/>
          <p:nvPr/>
        </p:nvSpPr>
        <p:spPr>
          <a:xfrm>
            <a:off x="10835640" y="292608"/>
            <a:ext cx="822960" cy="228600"/>
          </a:xfrm>
          <a:prstGeom prst="rect">
            <a:avLst/>
          </a:prstGeom>
          <a:noFill/>
          <a:ln/>
        </p:spPr>
        <p:txBody>
          <a:bodyPr wrap="square" lIns="0" tIns="0" rIns="0" bIns="0" rtlCol="0" anchor="ctr">
            <a:normAutofit/>
          </a:bodyPr>
          <a:lstStyle/>
          <a:p>
            <a:pPr algn="r" indent="0" marL="0">
              <a:buNone/>
            </a:pPr>
            <a:r>
              <a:rPr lang="en-US" sz="1000" spc="100" kern="0" dirty="0">
                <a:solidFill>
                  <a:srgbClr val="64748B"/>
                </a:solidFill>
                <a:latin typeface="Aptos" pitchFamily="34" charset="0"/>
                <a:ea typeface="Aptos" pitchFamily="34" charset="-122"/>
                <a:cs typeface="Aptos" pitchFamily="34" charset="-120"/>
              </a:rPr>
              <a:t>02 / 07</a:t>
            </a:r>
            <a:endParaRPr lang="en-US" sz="1000" dirty="0"/>
          </a:p>
        </p:txBody>
      </p:sp>
      <p:sp>
        <p:nvSpPr>
          <p:cNvPr id="4" name="Text 2"/>
          <p:cNvSpPr/>
          <p:nvPr/>
        </p:nvSpPr>
        <p:spPr>
          <a:xfrm>
            <a:off x="530352" y="914400"/>
            <a:ext cx="11064240" cy="1097280"/>
          </a:xfrm>
          <a:prstGeom prst="rect">
            <a:avLst/>
          </a:prstGeom>
          <a:noFill/>
          <a:ln/>
        </p:spPr>
        <p:txBody>
          <a:bodyPr wrap="square" lIns="0" tIns="0" rIns="0" bIns="0" rtlCol="0" anchor="t">
            <a:normAutofit/>
          </a:bodyPr>
          <a:lstStyle/>
          <a:p>
            <a:pPr indent="0" marL="0">
              <a:buNone/>
            </a:pPr>
            <a:r>
              <a:rPr lang="en-US" sz="3100" b="1" dirty="0">
                <a:solidFill>
                  <a:srgbClr val="111827"/>
                </a:solidFill>
                <a:latin typeface="Aptos Display" pitchFamily="34" charset="0"/>
                <a:ea typeface="Aptos Display" pitchFamily="34" charset="-122"/>
                <a:cs typeface="Aptos Display" pitchFamily="34" charset="-120"/>
              </a:rPr>
              <a:t>Your next incident will cross agent boundaries.</a:t>
            </a:r>
            <a:endParaRPr lang="en-US" sz="3100" dirty="0"/>
          </a:p>
        </p:txBody>
      </p:sp>
      <p:sp>
        <p:nvSpPr>
          <p:cNvPr id="5" name="Text 3"/>
          <p:cNvSpPr/>
          <p:nvPr/>
        </p:nvSpPr>
        <p:spPr>
          <a:xfrm>
            <a:off x="548640" y="1828800"/>
            <a:ext cx="10972800" cy="530352"/>
          </a:xfrm>
          <a:prstGeom prst="rect">
            <a:avLst/>
          </a:prstGeom>
          <a:noFill/>
          <a:ln/>
        </p:spPr>
        <p:txBody>
          <a:bodyPr wrap="square" lIns="0" tIns="0" rIns="0" bIns="0" rtlCol="0" anchor="t">
            <a:normAutofit/>
          </a:bodyPr>
          <a:lstStyle/>
          <a:p>
            <a:pPr indent="0" marL="0">
              <a:buNone/>
            </a:pPr>
            <a:r>
              <a:rPr lang="en-US" sz="1450" dirty="0">
                <a:solidFill>
                  <a:srgbClr val="64748B"/>
                </a:solidFill>
                <a:latin typeface="Aptos" pitchFamily="34" charset="0"/>
                <a:ea typeface="Aptos" pitchFamily="34" charset="-122"/>
                <a:cs typeface="Aptos" pitchFamily="34" charset="-120"/>
              </a:rPr>
              <a:t>Independent agents may work well. Shared accountability gets harder.</a:t>
            </a:r>
            <a:endParaRPr lang="en-US" sz="1450" dirty="0"/>
          </a:p>
        </p:txBody>
      </p:sp>
      <p:sp>
        <p:nvSpPr>
          <p:cNvPr id="6" name="Shape 4"/>
          <p:cNvSpPr/>
          <p:nvPr/>
        </p:nvSpPr>
        <p:spPr>
          <a:xfrm>
            <a:off x="548640" y="2532888"/>
            <a:ext cx="3566160" cy="2423160"/>
          </a:xfrm>
          <a:prstGeom prst="roundRect">
            <a:avLst>
              <a:gd name="adj" fmla="val 5660"/>
            </a:avLst>
          </a:prstGeom>
          <a:solidFill>
            <a:srgbClr val="FFFFFF"/>
          </a:solidFill>
          <a:ln w="12700">
            <a:solidFill>
              <a:srgbClr val="E5EAF2"/>
            </a:solidFill>
            <a:prstDash val="solid"/>
          </a:ln>
        </p:spPr>
      </p:sp>
      <p:sp>
        <p:nvSpPr>
          <p:cNvPr id="7" name="Shape 5"/>
          <p:cNvSpPr/>
          <p:nvPr/>
        </p:nvSpPr>
        <p:spPr>
          <a:xfrm>
            <a:off x="758952" y="2779776"/>
            <a:ext cx="566928" cy="329184"/>
          </a:xfrm>
          <a:prstGeom prst="roundRect">
            <a:avLst>
              <a:gd name="adj" fmla="val 38889"/>
            </a:avLst>
          </a:prstGeom>
          <a:solidFill>
            <a:srgbClr val="DBEAFE"/>
          </a:solidFill>
          <a:ln w="12700">
            <a:solidFill>
              <a:srgbClr val="DBEAFE"/>
            </a:solidFill>
            <a:prstDash val="solid"/>
          </a:ln>
        </p:spPr>
      </p:sp>
      <p:sp>
        <p:nvSpPr>
          <p:cNvPr id="8" name="Text 6"/>
          <p:cNvSpPr/>
          <p:nvPr/>
        </p:nvSpPr>
        <p:spPr>
          <a:xfrm>
            <a:off x="868680" y="2839212"/>
            <a:ext cx="347472" cy="210312"/>
          </a:xfrm>
          <a:prstGeom prst="rect">
            <a:avLst/>
          </a:prstGeom>
          <a:noFill/>
          <a:ln/>
        </p:spPr>
        <p:txBody>
          <a:bodyPr wrap="square" lIns="0" tIns="0" rIns="0" bIns="0" rtlCol="0" anchor="ctr">
            <a:normAutofit/>
          </a:bodyPr>
          <a:lstStyle/>
          <a:p>
            <a:pPr algn="ctr" indent="0" marL="0">
              <a:buNone/>
            </a:pPr>
            <a:r>
              <a:rPr lang="en-US" sz="1020" b="1" spc="70" kern="0" dirty="0">
                <a:solidFill>
                  <a:srgbClr val="2563EB"/>
                </a:solidFill>
                <a:latin typeface="Aptos" pitchFamily="34" charset="0"/>
                <a:ea typeface="Aptos" pitchFamily="34" charset="-122"/>
                <a:cs typeface="Aptos" pitchFamily="34" charset="-120"/>
              </a:rPr>
              <a:t>01</a:t>
            </a:r>
            <a:endParaRPr lang="en-US" sz="1020" dirty="0"/>
          </a:p>
        </p:txBody>
      </p:sp>
      <p:sp>
        <p:nvSpPr>
          <p:cNvPr id="9" name="Text 7"/>
          <p:cNvSpPr/>
          <p:nvPr/>
        </p:nvSpPr>
        <p:spPr>
          <a:xfrm>
            <a:off x="758952" y="3355848"/>
            <a:ext cx="3090672" cy="411480"/>
          </a:xfrm>
          <a:prstGeom prst="rect">
            <a:avLst/>
          </a:prstGeom>
          <a:noFill/>
          <a:ln/>
        </p:spPr>
        <p:txBody>
          <a:bodyPr wrap="square" lIns="0" tIns="0" rIns="0" bIns="0" rtlCol="0" anchor="ctr">
            <a:normAutofit/>
          </a:bodyPr>
          <a:lstStyle/>
          <a:p>
            <a:pPr indent="0" marL="0">
              <a:buNone/>
            </a:pPr>
            <a:r>
              <a:rPr lang="en-US" sz="1700" b="1" dirty="0">
                <a:solidFill>
                  <a:srgbClr val="0B1020"/>
                </a:solidFill>
                <a:latin typeface="Aptos" pitchFamily="34" charset="0"/>
                <a:ea typeface="Aptos" pitchFamily="34" charset="-122"/>
                <a:cs typeface="Aptos" pitchFamily="34" charset="-120"/>
              </a:rPr>
              <a:t>NO SHARED INVENTORY</a:t>
            </a:r>
            <a:endParaRPr lang="en-US" sz="1700" dirty="0"/>
          </a:p>
        </p:txBody>
      </p:sp>
      <p:sp>
        <p:nvSpPr>
          <p:cNvPr id="10" name="Text 8"/>
          <p:cNvSpPr/>
          <p:nvPr/>
        </p:nvSpPr>
        <p:spPr>
          <a:xfrm>
            <a:off x="758952" y="3886200"/>
            <a:ext cx="3090672" cy="777240"/>
          </a:xfrm>
          <a:prstGeom prst="rect">
            <a:avLst/>
          </a:prstGeom>
          <a:noFill/>
          <a:ln/>
        </p:spPr>
        <p:txBody>
          <a:bodyPr wrap="square" lIns="0" tIns="0" rIns="0" bIns="0" rtlCol="0" anchor="t">
            <a:normAutofit/>
          </a:bodyPr>
          <a:lstStyle/>
          <a:p>
            <a:pPr indent="0" marL="0">
              <a:buNone/>
            </a:pPr>
            <a:r>
              <a:rPr lang="en-US" sz="1400" dirty="0">
                <a:solidFill>
                  <a:srgbClr val="64748B"/>
                </a:solidFill>
                <a:latin typeface="Aptos" pitchFamily="34" charset="0"/>
                <a:ea typeface="Aptos" pitchFamily="34" charset="-122"/>
                <a:cs typeface="Aptos" pitchFamily="34" charset="-120"/>
              </a:rPr>
              <a:t>Which agents are active, who owns them, and what are they doing?</a:t>
            </a:r>
            <a:endParaRPr lang="en-US" sz="1400" dirty="0"/>
          </a:p>
        </p:txBody>
      </p:sp>
      <p:sp>
        <p:nvSpPr>
          <p:cNvPr id="11" name="Shape 9"/>
          <p:cNvSpPr/>
          <p:nvPr/>
        </p:nvSpPr>
        <p:spPr>
          <a:xfrm>
            <a:off x="4370832" y="2532888"/>
            <a:ext cx="3566160" cy="2423160"/>
          </a:xfrm>
          <a:prstGeom prst="roundRect">
            <a:avLst>
              <a:gd name="adj" fmla="val 5660"/>
            </a:avLst>
          </a:prstGeom>
          <a:solidFill>
            <a:srgbClr val="FFFFFF"/>
          </a:solidFill>
          <a:ln w="12700">
            <a:solidFill>
              <a:srgbClr val="E5EAF2"/>
            </a:solidFill>
            <a:prstDash val="solid"/>
          </a:ln>
        </p:spPr>
      </p:sp>
      <p:sp>
        <p:nvSpPr>
          <p:cNvPr id="12" name="Shape 10"/>
          <p:cNvSpPr/>
          <p:nvPr/>
        </p:nvSpPr>
        <p:spPr>
          <a:xfrm>
            <a:off x="4581144" y="2779776"/>
            <a:ext cx="566928" cy="329184"/>
          </a:xfrm>
          <a:prstGeom prst="roundRect">
            <a:avLst>
              <a:gd name="adj" fmla="val 38889"/>
            </a:avLst>
          </a:prstGeom>
          <a:solidFill>
            <a:srgbClr val="DBEAFE"/>
          </a:solidFill>
          <a:ln w="12700">
            <a:solidFill>
              <a:srgbClr val="DBEAFE"/>
            </a:solidFill>
            <a:prstDash val="solid"/>
          </a:ln>
        </p:spPr>
      </p:sp>
      <p:sp>
        <p:nvSpPr>
          <p:cNvPr id="13" name="Text 11"/>
          <p:cNvSpPr/>
          <p:nvPr/>
        </p:nvSpPr>
        <p:spPr>
          <a:xfrm>
            <a:off x="4690872" y="2839212"/>
            <a:ext cx="347472" cy="210312"/>
          </a:xfrm>
          <a:prstGeom prst="rect">
            <a:avLst/>
          </a:prstGeom>
          <a:noFill/>
          <a:ln/>
        </p:spPr>
        <p:txBody>
          <a:bodyPr wrap="square" lIns="0" tIns="0" rIns="0" bIns="0" rtlCol="0" anchor="ctr">
            <a:normAutofit/>
          </a:bodyPr>
          <a:lstStyle/>
          <a:p>
            <a:pPr algn="ctr" indent="0" marL="0">
              <a:buNone/>
            </a:pPr>
            <a:r>
              <a:rPr lang="en-US" sz="1020" b="1" spc="70" kern="0" dirty="0">
                <a:solidFill>
                  <a:srgbClr val="2563EB"/>
                </a:solidFill>
                <a:latin typeface="Aptos" pitchFamily="34" charset="0"/>
                <a:ea typeface="Aptos" pitchFamily="34" charset="-122"/>
                <a:cs typeface="Aptos" pitchFamily="34" charset="-120"/>
              </a:rPr>
              <a:t>02</a:t>
            </a:r>
            <a:endParaRPr lang="en-US" sz="1020" dirty="0"/>
          </a:p>
        </p:txBody>
      </p:sp>
      <p:sp>
        <p:nvSpPr>
          <p:cNvPr id="14" name="Text 12"/>
          <p:cNvSpPr/>
          <p:nvPr/>
        </p:nvSpPr>
        <p:spPr>
          <a:xfrm>
            <a:off x="4581144" y="3355848"/>
            <a:ext cx="3090672" cy="411480"/>
          </a:xfrm>
          <a:prstGeom prst="rect">
            <a:avLst/>
          </a:prstGeom>
          <a:noFill/>
          <a:ln/>
        </p:spPr>
        <p:txBody>
          <a:bodyPr wrap="square" lIns="0" tIns="0" rIns="0" bIns="0" rtlCol="0" anchor="ctr">
            <a:normAutofit/>
          </a:bodyPr>
          <a:lstStyle/>
          <a:p>
            <a:pPr indent="0" marL="0">
              <a:buNone/>
            </a:pPr>
            <a:r>
              <a:rPr lang="en-US" sz="1700" b="1" dirty="0">
                <a:solidFill>
                  <a:srgbClr val="0B1020"/>
                </a:solidFill>
                <a:latin typeface="Aptos" pitchFamily="34" charset="0"/>
                <a:ea typeface="Aptos" pitchFamily="34" charset="-122"/>
                <a:cs typeface="Aptos" pitchFamily="34" charset="-120"/>
              </a:rPr>
              <a:t>INCONSISTENT ACCESS</a:t>
            </a:r>
            <a:endParaRPr lang="en-US" sz="1700" dirty="0"/>
          </a:p>
        </p:txBody>
      </p:sp>
      <p:sp>
        <p:nvSpPr>
          <p:cNvPr id="15" name="Text 13"/>
          <p:cNvSpPr/>
          <p:nvPr/>
        </p:nvSpPr>
        <p:spPr>
          <a:xfrm>
            <a:off x="4581144" y="3886200"/>
            <a:ext cx="3090672" cy="777240"/>
          </a:xfrm>
          <a:prstGeom prst="rect">
            <a:avLst/>
          </a:prstGeom>
          <a:noFill/>
          <a:ln/>
        </p:spPr>
        <p:txBody>
          <a:bodyPr wrap="square" lIns="0" tIns="0" rIns="0" bIns="0" rtlCol="0" anchor="t">
            <a:normAutofit/>
          </a:bodyPr>
          <a:lstStyle/>
          <a:p>
            <a:pPr indent="0" marL="0">
              <a:buNone/>
            </a:pPr>
            <a:r>
              <a:rPr lang="en-US" sz="1400" dirty="0">
                <a:solidFill>
                  <a:srgbClr val="64748B"/>
                </a:solidFill>
                <a:latin typeface="Aptos" pitchFamily="34" charset="0"/>
                <a:ea typeface="Aptos" pitchFamily="34" charset="-122"/>
                <a:cs typeface="Aptos" pitchFamily="34" charset="-120"/>
              </a:rPr>
              <a:t>Different tools, credentials and permissions create an uneven risk surface.</a:t>
            </a:r>
            <a:endParaRPr lang="en-US" sz="1400" dirty="0"/>
          </a:p>
        </p:txBody>
      </p:sp>
      <p:sp>
        <p:nvSpPr>
          <p:cNvPr id="16" name="Shape 14"/>
          <p:cNvSpPr/>
          <p:nvPr/>
        </p:nvSpPr>
        <p:spPr>
          <a:xfrm>
            <a:off x="8193024" y="2532888"/>
            <a:ext cx="3566160" cy="2423160"/>
          </a:xfrm>
          <a:prstGeom prst="roundRect">
            <a:avLst>
              <a:gd name="adj" fmla="val 5660"/>
            </a:avLst>
          </a:prstGeom>
          <a:solidFill>
            <a:srgbClr val="FFFFFF"/>
          </a:solidFill>
          <a:ln w="12700">
            <a:solidFill>
              <a:srgbClr val="E5EAF2"/>
            </a:solidFill>
            <a:prstDash val="solid"/>
          </a:ln>
        </p:spPr>
      </p:sp>
      <p:sp>
        <p:nvSpPr>
          <p:cNvPr id="17" name="Shape 15"/>
          <p:cNvSpPr/>
          <p:nvPr/>
        </p:nvSpPr>
        <p:spPr>
          <a:xfrm>
            <a:off x="8403336" y="2779776"/>
            <a:ext cx="566928" cy="329184"/>
          </a:xfrm>
          <a:prstGeom prst="roundRect">
            <a:avLst>
              <a:gd name="adj" fmla="val 38889"/>
            </a:avLst>
          </a:prstGeom>
          <a:solidFill>
            <a:srgbClr val="DBEAFE"/>
          </a:solidFill>
          <a:ln w="12700">
            <a:solidFill>
              <a:srgbClr val="DBEAFE"/>
            </a:solidFill>
            <a:prstDash val="solid"/>
          </a:ln>
        </p:spPr>
      </p:sp>
      <p:sp>
        <p:nvSpPr>
          <p:cNvPr id="18" name="Text 16"/>
          <p:cNvSpPr/>
          <p:nvPr/>
        </p:nvSpPr>
        <p:spPr>
          <a:xfrm>
            <a:off x="8513064" y="2839212"/>
            <a:ext cx="347472" cy="210312"/>
          </a:xfrm>
          <a:prstGeom prst="rect">
            <a:avLst/>
          </a:prstGeom>
          <a:noFill/>
          <a:ln/>
        </p:spPr>
        <p:txBody>
          <a:bodyPr wrap="square" lIns="0" tIns="0" rIns="0" bIns="0" rtlCol="0" anchor="ctr">
            <a:normAutofit/>
          </a:bodyPr>
          <a:lstStyle/>
          <a:p>
            <a:pPr algn="ctr" indent="0" marL="0">
              <a:buNone/>
            </a:pPr>
            <a:r>
              <a:rPr lang="en-US" sz="1020" b="1" spc="70" kern="0" dirty="0">
                <a:solidFill>
                  <a:srgbClr val="2563EB"/>
                </a:solidFill>
                <a:latin typeface="Aptos" pitchFamily="34" charset="0"/>
                <a:ea typeface="Aptos" pitchFamily="34" charset="-122"/>
                <a:cs typeface="Aptos" pitchFamily="34" charset="-120"/>
              </a:rPr>
              <a:t>03</a:t>
            </a:r>
            <a:endParaRPr lang="en-US" sz="1020" dirty="0"/>
          </a:p>
        </p:txBody>
      </p:sp>
      <p:sp>
        <p:nvSpPr>
          <p:cNvPr id="19" name="Text 17"/>
          <p:cNvSpPr/>
          <p:nvPr/>
        </p:nvSpPr>
        <p:spPr>
          <a:xfrm>
            <a:off x="8403336" y="3355848"/>
            <a:ext cx="3090672" cy="411480"/>
          </a:xfrm>
          <a:prstGeom prst="rect">
            <a:avLst/>
          </a:prstGeom>
          <a:noFill/>
          <a:ln/>
        </p:spPr>
        <p:txBody>
          <a:bodyPr wrap="square" lIns="0" tIns="0" rIns="0" bIns="0" rtlCol="0" anchor="ctr">
            <a:normAutofit/>
          </a:bodyPr>
          <a:lstStyle/>
          <a:p>
            <a:pPr indent="0" marL="0">
              <a:buNone/>
            </a:pPr>
            <a:r>
              <a:rPr lang="en-US" sz="1700" b="1" dirty="0">
                <a:solidFill>
                  <a:srgbClr val="0B1020"/>
                </a:solidFill>
                <a:latin typeface="Aptos" pitchFamily="34" charset="0"/>
                <a:ea typeface="Aptos" pitchFamily="34" charset="-122"/>
                <a:cs typeface="Aptos" pitchFamily="34" charset="-120"/>
              </a:rPr>
              <a:t>NO END-TO-END TRAIL</a:t>
            </a:r>
            <a:endParaRPr lang="en-US" sz="1700" dirty="0"/>
          </a:p>
        </p:txBody>
      </p:sp>
      <p:sp>
        <p:nvSpPr>
          <p:cNvPr id="20" name="Text 18"/>
          <p:cNvSpPr/>
          <p:nvPr/>
        </p:nvSpPr>
        <p:spPr>
          <a:xfrm>
            <a:off x="8403336" y="3886200"/>
            <a:ext cx="3090672" cy="777240"/>
          </a:xfrm>
          <a:prstGeom prst="rect">
            <a:avLst/>
          </a:prstGeom>
          <a:noFill/>
          <a:ln/>
        </p:spPr>
        <p:txBody>
          <a:bodyPr wrap="square" lIns="0" tIns="0" rIns="0" bIns="0" rtlCol="0" anchor="t">
            <a:normAutofit/>
          </a:bodyPr>
          <a:lstStyle/>
          <a:p>
            <a:pPr indent="0" marL="0">
              <a:buNone/>
            </a:pPr>
            <a:r>
              <a:rPr lang="en-US" sz="1400" dirty="0">
                <a:solidFill>
                  <a:srgbClr val="64748B"/>
                </a:solidFill>
                <a:latin typeface="Aptos" pitchFamily="34" charset="0"/>
                <a:ea typeface="Aptos" pitchFamily="34" charset="-122"/>
                <a:cs typeface="Aptos" pitchFamily="34" charset="-120"/>
              </a:rPr>
              <a:t>The alert, agent findings and code review become separate stories no one can audit.</a:t>
            </a:r>
            <a:endParaRPr lang="en-US" sz="1400" dirty="0"/>
          </a:p>
        </p:txBody>
      </p:sp>
      <p:sp>
        <p:nvSpPr>
          <p:cNvPr id="21" name="Shape 19"/>
          <p:cNvSpPr/>
          <p:nvPr/>
        </p:nvSpPr>
        <p:spPr>
          <a:xfrm>
            <a:off x="548640" y="5193792"/>
            <a:ext cx="11055096" cy="768096"/>
          </a:xfrm>
          <a:prstGeom prst="roundRect">
            <a:avLst>
              <a:gd name="adj" fmla="val 13095"/>
            </a:avLst>
          </a:prstGeom>
          <a:solidFill>
            <a:srgbClr val="E8EFFC"/>
          </a:solidFill>
          <a:ln w="12700">
            <a:solidFill>
              <a:srgbClr val="E8EFFC"/>
            </a:solidFill>
            <a:prstDash val="solid"/>
          </a:ln>
        </p:spPr>
      </p:sp>
      <p:sp>
        <p:nvSpPr>
          <p:cNvPr id="22" name="Text 20"/>
          <p:cNvSpPr/>
          <p:nvPr/>
        </p:nvSpPr>
        <p:spPr>
          <a:xfrm>
            <a:off x="758952" y="5394960"/>
            <a:ext cx="3017520" cy="274320"/>
          </a:xfrm>
          <a:prstGeom prst="rect">
            <a:avLst/>
          </a:prstGeom>
          <a:noFill/>
          <a:ln/>
        </p:spPr>
        <p:txBody>
          <a:bodyPr wrap="square" lIns="0" tIns="0" rIns="0" bIns="0" rtlCol="0" anchor="ctr">
            <a:normAutofit/>
          </a:bodyPr>
          <a:lstStyle/>
          <a:p>
            <a:pPr indent="0" marL="0">
              <a:buNone/>
            </a:pPr>
            <a:r>
              <a:rPr lang="en-US" sz="1400" b="1" dirty="0">
                <a:solidFill>
                  <a:srgbClr val="2563EB"/>
                </a:solidFill>
                <a:latin typeface="Aptos" pitchFamily="34" charset="0"/>
                <a:ea typeface="Aptos" pitchFamily="34" charset="-122"/>
                <a:cs typeface="Aptos" pitchFamily="34" charset="-120"/>
              </a:rPr>
              <a:t>The platform engineering question:</a:t>
            </a:r>
            <a:endParaRPr lang="en-US" sz="1400" dirty="0"/>
          </a:p>
        </p:txBody>
      </p:sp>
      <p:sp>
        <p:nvSpPr>
          <p:cNvPr id="23" name="Text 21"/>
          <p:cNvSpPr/>
          <p:nvPr/>
        </p:nvSpPr>
        <p:spPr>
          <a:xfrm>
            <a:off x="3758184" y="5376672"/>
            <a:ext cx="7461504" cy="310896"/>
          </a:xfrm>
          <a:prstGeom prst="rect">
            <a:avLst/>
          </a:prstGeom>
          <a:noFill/>
          <a:ln/>
        </p:spPr>
        <p:txBody>
          <a:bodyPr wrap="square" lIns="0" tIns="0" rIns="0" bIns="0" rtlCol="0" anchor="ctr">
            <a:normAutofit/>
          </a:bodyPr>
          <a:lstStyle/>
          <a:p>
            <a:pPr indent="0" marL="0">
              <a:buNone/>
            </a:pPr>
            <a:r>
              <a:rPr lang="en-US" sz="1800" b="1" dirty="0">
                <a:solidFill>
                  <a:srgbClr val="0B1020"/>
                </a:solidFill>
                <a:latin typeface="Aptos" pitchFamily="34" charset="0"/>
                <a:ea typeface="Aptos" pitchFamily="34" charset="-122"/>
                <a:cs typeface="Aptos" pitchFamily="34" charset="-120"/>
              </a:rPr>
              <a:t>Who authorized it? What happened? Can we prove it?</a:t>
            </a:r>
            <a:endParaRPr lang="en-US" sz="1800" dirty="0"/>
          </a:p>
        </p:txBody>
      </p:sp>
      <p:sp>
        <p:nvSpPr>
          <p:cNvPr id="24" name="Shape 22"/>
          <p:cNvSpPr/>
          <p:nvPr/>
        </p:nvSpPr>
        <p:spPr>
          <a:xfrm>
            <a:off x="548640" y="6455664"/>
            <a:ext cx="11082528" cy="0"/>
          </a:xfrm>
          <a:prstGeom prst="line">
            <a:avLst/>
          </a:prstGeom>
          <a:noFill/>
          <a:ln w="10160">
            <a:solidFill>
              <a:srgbClr val="E4E9F2"/>
            </a:solidFill>
            <a:prstDash val="solid"/>
          </a:ln>
        </p:spPr>
      </p:sp>
      <p:sp>
        <p:nvSpPr>
          <p:cNvPr id="25" name="Text 23"/>
          <p:cNvSpPr/>
          <p:nvPr/>
        </p:nvSpPr>
        <p:spPr>
          <a:xfrm>
            <a:off x="548640" y="6510528"/>
            <a:ext cx="7315200" cy="182880"/>
          </a:xfrm>
          <a:prstGeom prst="rect">
            <a:avLst/>
          </a:prstGeom>
          <a:noFill/>
          <a:ln/>
        </p:spPr>
        <p:txBody>
          <a:bodyPr wrap="square" lIns="0" tIns="0" rIns="0" bIns="0" rtlCol="0" anchor="ctr">
            <a:normAutofit/>
          </a:bodyPr>
          <a:lstStyle/>
          <a:p>
            <a:pPr indent="0" marL="0">
              <a:buNone/>
            </a:pPr>
            <a:r>
              <a:rPr lang="en-US" sz="900" spc="105" kern="0" dirty="0">
                <a:solidFill>
                  <a:srgbClr val="95A3B6"/>
                </a:solidFill>
                <a:latin typeface="Aptos" pitchFamily="34" charset="0"/>
                <a:ea typeface="Aptos" pitchFamily="34" charset="-122"/>
                <a:cs typeface="Aptos" pitchFamily="34" charset="-120"/>
              </a:rPr>
              <a:t>PLATFORM ENGINEERING  •  CUSTOMER DISCUSSION</a:t>
            </a:r>
            <a:endParaRPr lang="en-US" sz="900" dirty="0"/>
          </a:p>
        </p:txBody>
      </p:sp>
      <p:sp>
        <p:nvSpPr>
          <p:cNvPr id="26" name="Text 24"/>
          <p:cNvSpPr/>
          <p:nvPr/>
        </p:nvSpPr>
        <p:spPr>
          <a:xfrm>
            <a:off x="11064240" y="6510528"/>
            <a:ext cx="594360" cy="173736"/>
          </a:xfrm>
          <a:prstGeom prst="rect">
            <a:avLst/>
          </a:prstGeom>
          <a:noFill/>
          <a:ln/>
        </p:spPr>
        <p:txBody>
          <a:bodyPr wrap="square" lIns="0" tIns="0" rIns="0" bIns="0" rtlCol="0" anchor="ctr">
            <a:normAutofit/>
          </a:bodyPr>
          <a:lstStyle/>
          <a:p>
            <a:pPr algn="r" indent="0" marL="0">
              <a:buNone/>
            </a:pPr>
            <a:r>
              <a:rPr lang="en-US" sz="900" dirty="0">
                <a:solidFill>
                  <a:srgbClr val="95A3B6"/>
                </a:solidFill>
                <a:latin typeface="Aptos" pitchFamily="34" charset="0"/>
                <a:ea typeface="Aptos" pitchFamily="34" charset="-122"/>
                <a:cs typeface="Aptos" pitchFamily="34" charset="-120"/>
              </a:rPr>
              <a:t>2 / 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30352" y="292608"/>
            <a:ext cx="3474720" cy="246888"/>
          </a:xfrm>
          <a:prstGeom prst="rect">
            <a:avLst/>
          </a:prstGeom>
          <a:noFill/>
          <a:ln/>
        </p:spPr>
        <p:txBody>
          <a:bodyPr wrap="square" lIns="0" tIns="0" rIns="0" bIns="0" rtlCol="0" anchor="ctr">
            <a:normAutofit/>
          </a:bodyPr>
          <a:lstStyle/>
          <a:p>
            <a:pPr indent="0" marL="0">
              <a:buNone/>
            </a:pPr>
            <a:r>
              <a:rPr lang="en-US" sz="1250" b="1" spc="200" kern="0" dirty="0">
                <a:solidFill>
                  <a:srgbClr val="2563EB"/>
                </a:solidFill>
                <a:latin typeface="Aptos" pitchFamily="34" charset="0"/>
                <a:ea typeface="Aptos" pitchFamily="34" charset="-122"/>
                <a:cs typeface="Aptos" pitchFamily="34" charset="-120"/>
              </a:rPr>
              <a:t>KAOP  /  KOMODOR</a:t>
            </a:r>
            <a:endParaRPr lang="en-US" sz="1250" dirty="0"/>
          </a:p>
        </p:txBody>
      </p:sp>
      <p:sp>
        <p:nvSpPr>
          <p:cNvPr id="3" name="Text 1"/>
          <p:cNvSpPr/>
          <p:nvPr/>
        </p:nvSpPr>
        <p:spPr>
          <a:xfrm>
            <a:off x="10835640" y="292608"/>
            <a:ext cx="822960" cy="228600"/>
          </a:xfrm>
          <a:prstGeom prst="rect">
            <a:avLst/>
          </a:prstGeom>
          <a:noFill/>
          <a:ln/>
        </p:spPr>
        <p:txBody>
          <a:bodyPr wrap="square" lIns="0" tIns="0" rIns="0" bIns="0" rtlCol="0" anchor="ctr">
            <a:normAutofit/>
          </a:bodyPr>
          <a:lstStyle/>
          <a:p>
            <a:pPr algn="r" indent="0" marL="0">
              <a:buNone/>
            </a:pPr>
            <a:r>
              <a:rPr lang="en-US" sz="1000" spc="100" kern="0" dirty="0">
                <a:solidFill>
                  <a:srgbClr val="64748B"/>
                </a:solidFill>
                <a:latin typeface="Aptos" pitchFamily="34" charset="0"/>
                <a:ea typeface="Aptos" pitchFamily="34" charset="-122"/>
                <a:cs typeface="Aptos" pitchFamily="34" charset="-120"/>
              </a:rPr>
              <a:t>03 / 07</a:t>
            </a:r>
            <a:endParaRPr lang="en-US" sz="1000" dirty="0"/>
          </a:p>
        </p:txBody>
      </p:sp>
      <p:sp>
        <p:nvSpPr>
          <p:cNvPr id="4" name="Text 2"/>
          <p:cNvSpPr/>
          <p:nvPr/>
        </p:nvSpPr>
        <p:spPr>
          <a:xfrm>
            <a:off x="530352" y="914400"/>
            <a:ext cx="11064240" cy="1097280"/>
          </a:xfrm>
          <a:prstGeom prst="rect">
            <a:avLst/>
          </a:prstGeom>
          <a:noFill/>
          <a:ln/>
        </p:spPr>
        <p:txBody>
          <a:bodyPr wrap="square" lIns="0" tIns="0" rIns="0" bIns="0" rtlCol="0" anchor="t">
            <a:normAutofit/>
          </a:bodyPr>
          <a:lstStyle/>
          <a:p>
            <a:pPr indent="0" marL="0">
              <a:buNone/>
            </a:pPr>
            <a:r>
              <a:rPr lang="en-US" sz="3100" b="1" dirty="0">
                <a:solidFill>
                  <a:srgbClr val="111827"/>
                </a:solidFill>
                <a:latin typeface="Aptos Display" pitchFamily="34" charset="0"/>
                <a:ea typeface="Aptos Display" pitchFamily="34" charset="-122"/>
                <a:cs typeface="Aptos Display" pitchFamily="34" charset="-120"/>
              </a:rPr>
              <a:t>One operating model for your agents.</a:t>
            </a:r>
            <a:endParaRPr lang="en-US" sz="3100" dirty="0"/>
          </a:p>
        </p:txBody>
      </p:sp>
      <p:sp>
        <p:nvSpPr>
          <p:cNvPr id="5" name="Text 3"/>
          <p:cNvSpPr/>
          <p:nvPr/>
        </p:nvSpPr>
        <p:spPr>
          <a:xfrm>
            <a:off x="548640" y="1828800"/>
            <a:ext cx="10972800" cy="530352"/>
          </a:xfrm>
          <a:prstGeom prst="rect">
            <a:avLst/>
          </a:prstGeom>
          <a:noFill/>
          <a:ln/>
        </p:spPr>
        <p:txBody>
          <a:bodyPr wrap="square" lIns="0" tIns="0" rIns="0" bIns="0" rtlCol="0" anchor="t">
            <a:normAutofit/>
          </a:bodyPr>
          <a:lstStyle/>
          <a:p>
            <a:pPr indent="0" marL="0">
              <a:buNone/>
            </a:pPr>
            <a:r>
              <a:rPr lang="en-US" sz="1450" dirty="0">
                <a:solidFill>
                  <a:srgbClr val="64748B"/>
                </a:solidFill>
                <a:latin typeface="Aptos" pitchFamily="34" charset="0"/>
                <a:ea typeface="Aptos" pitchFamily="34" charset="-122"/>
                <a:cs typeface="Aptos" pitchFamily="34" charset="-120"/>
              </a:rPr>
              <a:t>Build, run, govern and optimize workflows on shared production context.</a:t>
            </a:r>
            <a:endParaRPr lang="en-US" sz="1450" dirty="0"/>
          </a:p>
        </p:txBody>
      </p:sp>
      <p:sp>
        <p:nvSpPr>
          <p:cNvPr id="6" name="Shape 4"/>
          <p:cNvSpPr/>
          <p:nvPr/>
        </p:nvSpPr>
        <p:spPr>
          <a:xfrm>
            <a:off x="548640" y="2414016"/>
            <a:ext cx="2660904" cy="2286000"/>
          </a:xfrm>
          <a:prstGeom prst="roundRect">
            <a:avLst>
              <a:gd name="adj" fmla="val 5600"/>
            </a:avLst>
          </a:prstGeom>
          <a:solidFill>
            <a:srgbClr val="FFFFFF"/>
          </a:solidFill>
          <a:ln w="12700">
            <a:solidFill>
              <a:srgbClr val="E5EAF2"/>
            </a:solidFill>
            <a:prstDash val="solid"/>
          </a:ln>
        </p:spPr>
      </p:sp>
      <p:sp>
        <p:nvSpPr>
          <p:cNvPr id="7" name="Shape 5"/>
          <p:cNvSpPr/>
          <p:nvPr/>
        </p:nvSpPr>
        <p:spPr>
          <a:xfrm>
            <a:off x="768096" y="2715768"/>
            <a:ext cx="118872" cy="685800"/>
          </a:xfrm>
          <a:prstGeom prst="roundRect">
            <a:avLst>
              <a:gd name="adj" fmla="val 138462"/>
            </a:avLst>
          </a:prstGeom>
          <a:solidFill>
            <a:srgbClr val="2563EB"/>
          </a:solidFill>
          <a:ln w="12700">
            <a:solidFill>
              <a:srgbClr val="2563EB"/>
            </a:solidFill>
            <a:prstDash val="solid"/>
          </a:ln>
        </p:spPr>
      </p:sp>
      <p:sp>
        <p:nvSpPr>
          <p:cNvPr id="8" name="Text 6"/>
          <p:cNvSpPr/>
          <p:nvPr/>
        </p:nvSpPr>
        <p:spPr>
          <a:xfrm>
            <a:off x="1042416" y="2724912"/>
            <a:ext cx="1920240" cy="384048"/>
          </a:xfrm>
          <a:prstGeom prst="rect">
            <a:avLst/>
          </a:prstGeom>
          <a:noFill/>
          <a:ln/>
        </p:spPr>
        <p:txBody>
          <a:bodyPr wrap="square" lIns="0" tIns="0" rIns="0" bIns="0" rtlCol="0" anchor="ctr">
            <a:normAutofit/>
          </a:bodyPr>
          <a:lstStyle/>
          <a:p>
            <a:pPr indent="0" marL="0">
              <a:buNone/>
            </a:pPr>
            <a:r>
              <a:rPr lang="en-US" sz="1900" b="1" spc="90" kern="0" dirty="0">
                <a:solidFill>
                  <a:srgbClr val="0B1020"/>
                </a:solidFill>
                <a:latin typeface="Aptos" pitchFamily="34" charset="0"/>
                <a:ea typeface="Aptos" pitchFamily="34" charset="-122"/>
                <a:cs typeface="Aptos" pitchFamily="34" charset="-120"/>
              </a:rPr>
              <a:t>BUILD</a:t>
            </a:r>
            <a:endParaRPr lang="en-US" sz="1900" dirty="0"/>
          </a:p>
        </p:txBody>
      </p:sp>
      <p:sp>
        <p:nvSpPr>
          <p:cNvPr id="9" name="Text 7"/>
          <p:cNvSpPr/>
          <p:nvPr/>
        </p:nvSpPr>
        <p:spPr>
          <a:xfrm>
            <a:off x="786384" y="3364992"/>
            <a:ext cx="2157984" cy="950976"/>
          </a:xfrm>
          <a:prstGeom prst="rect">
            <a:avLst/>
          </a:prstGeom>
          <a:noFill/>
          <a:ln/>
        </p:spPr>
        <p:txBody>
          <a:bodyPr wrap="square" lIns="0" tIns="0" rIns="0" bIns="0" rtlCol="0" anchor="t">
            <a:normAutofit/>
          </a:bodyPr>
          <a:lstStyle/>
          <a:p>
            <a:pPr indent="0" marL="0">
              <a:buNone/>
            </a:pPr>
            <a:r>
              <a:rPr lang="en-US" sz="1460" dirty="0">
                <a:solidFill>
                  <a:srgbClr val="64748B"/>
                </a:solidFill>
                <a:latin typeface="Aptos" pitchFamily="34" charset="0"/>
                <a:ea typeface="Aptos" pitchFamily="34" charset="-122"/>
                <a:cs typeface="Aptos" pitchFamily="34" charset="-120"/>
              </a:rPr>
              <a:t>Bring existing agents, skills or runbooks.</a:t>
            </a:r>
            <a:endParaRPr lang="en-US" sz="1460" dirty="0"/>
          </a:p>
        </p:txBody>
      </p:sp>
      <p:sp>
        <p:nvSpPr>
          <p:cNvPr id="10" name="Shape 8"/>
          <p:cNvSpPr/>
          <p:nvPr/>
        </p:nvSpPr>
        <p:spPr>
          <a:xfrm>
            <a:off x="3419856" y="2414016"/>
            <a:ext cx="2660904" cy="2286000"/>
          </a:xfrm>
          <a:prstGeom prst="roundRect">
            <a:avLst>
              <a:gd name="adj" fmla="val 5600"/>
            </a:avLst>
          </a:prstGeom>
          <a:solidFill>
            <a:srgbClr val="FFFFFF"/>
          </a:solidFill>
          <a:ln w="12700">
            <a:solidFill>
              <a:srgbClr val="E5EAF2"/>
            </a:solidFill>
            <a:prstDash val="solid"/>
          </a:ln>
        </p:spPr>
      </p:sp>
      <p:sp>
        <p:nvSpPr>
          <p:cNvPr id="11" name="Shape 9"/>
          <p:cNvSpPr/>
          <p:nvPr/>
        </p:nvSpPr>
        <p:spPr>
          <a:xfrm>
            <a:off x="3639312" y="2715768"/>
            <a:ext cx="118872" cy="685800"/>
          </a:xfrm>
          <a:prstGeom prst="roundRect">
            <a:avLst>
              <a:gd name="adj" fmla="val 138462"/>
            </a:avLst>
          </a:prstGeom>
          <a:solidFill>
            <a:srgbClr val="0F766E"/>
          </a:solidFill>
          <a:ln w="12700">
            <a:solidFill>
              <a:srgbClr val="0F766E"/>
            </a:solidFill>
            <a:prstDash val="solid"/>
          </a:ln>
        </p:spPr>
      </p:sp>
      <p:sp>
        <p:nvSpPr>
          <p:cNvPr id="12" name="Text 10"/>
          <p:cNvSpPr/>
          <p:nvPr/>
        </p:nvSpPr>
        <p:spPr>
          <a:xfrm>
            <a:off x="3913632" y="2724912"/>
            <a:ext cx="1920240" cy="384048"/>
          </a:xfrm>
          <a:prstGeom prst="rect">
            <a:avLst/>
          </a:prstGeom>
          <a:noFill/>
          <a:ln/>
        </p:spPr>
        <p:txBody>
          <a:bodyPr wrap="square" lIns="0" tIns="0" rIns="0" bIns="0" rtlCol="0" anchor="ctr">
            <a:normAutofit/>
          </a:bodyPr>
          <a:lstStyle/>
          <a:p>
            <a:pPr indent="0" marL="0">
              <a:buNone/>
            </a:pPr>
            <a:r>
              <a:rPr lang="en-US" sz="1900" b="1" spc="90" kern="0" dirty="0">
                <a:solidFill>
                  <a:srgbClr val="0B1020"/>
                </a:solidFill>
                <a:latin typeface="Aptos" pitchFamily="34" charset="0"/>
                <a:ea typeface="Aptos" pitchFamily="34" charset="-122"/>
                <a:cs typeface="Aptos" pitchFamily="34" charset="-120"/>
              </a:rPr>
              <a:t>RUN</a:t>
            </a:r>
            <a:endParaRPr lang="en-US" sz="1900" dirty="0"/>
          </a:p>
        </p:txBody>
      </p:sp>
      <p:sp>
        <p:nvSpPr>
          <p:cNvPr id="13" name="Text 11"/>
          <p:cNvSpPr/>
          <p:nvPr/>
        </p:nvSpPr>
        <p:spPr>
          <a:xfrm>
            <a:off x="3657600" y="3364992"/>
            <a:ext cx="2157984" cy="950976"/>
          </a:xfrm>
          <a:prstGeom prst="rect">
            <a:avLst/>
          </a:prstGeom>
          <a:noFill/>
          <a:ln/>
        </p:spPr>
        <p:txBody>
          <a:bodyPr wrap="square" lIns="0" tIns="0" rIns="0" bIns="0" rtlCol="0" anchor="t">
            <a:normAutofit/>
          </a:bodyPr>
          <a:lstStyle/>
          <a:p>
            <a:pPr indent="0" marL="0">
              <a:buNone/>
            </a:pPr>
            <a:r>
              <a:rPr lang="en-US" sz="1460" dirty="0">
                <a:solidFill>
                  <a:srgbClr val="64748B"/>
                </a:solidFill>
                <a:latin typeface="Aptos" pitchFamily="34" charset="0"/>
                <a:ea typeface="Aptos" pitchFamily="34" charset="-122"/>
                <a:cs typeface="Aptos" pitchFamily="34" charset="-120"/>
              </a:rPr>
              <a:t>Coordinate triggers, tools and specialist agents.</a:t>
            </a:r>
            <a:endParaRPr lang="en-US" sz="1460" dirty="0"/>
          </a:p>
        </p:txBody>
      </p:sp>
      <p:sp>
        <p:nvSpPr>
          <p:cNvPr id="14" name="Shape 12"/>
          <p:cNvSpPr/>
          <p:nvPr/>
        </p:nvSpPr>
        <p:spPr>
          <a:xfrm>
            <a:off x="6291072" y="2414016"/>
            <a:ext cx="2660904" cy="2286000"/>
          </a:xfrm>
          <a:prstGeom prst="roundRect">
            <a:avLst>
              <a:gd name="adj" fmla="val 5600"/>
            </a:avLst>
          </a:prstGeom>
          <a:solidFill>
            <a:srgbClr val="FFFFFF"/>
          </a:solidFill>
          <a:ln w="12700">
            <a:solidFill>
              <a:srgbClr val="E5EAF2"/>
            </a:solidFill>
            <a:prstDash val="solid"/>
          </a:ln>
        </p:spPr>
      </p:sp>
      <p:sp>
        <p:nvSpPr>
          <p:cNvPr id="15" name="Shape 13"/>
          <p:cNvSpPr/>
          <p:nvPr/>
        </p:nvSpPr>
        <p:spPr>
          <a:xfrm>
            <a:off x="6510528" y="2715768"/>
            <a:ext cx="118872" cy="685800"/>
          </a:xfrm>
          <a:prstGeom prst="roundRect">
            <a:avLst>
              <a:gd name="adj" fmla="val 138462"/>
            </a:avLst>
          </a:prstGeom>
          <a:solidFill>
            <a:srgbClr val="7C3AED"/>
          </a:solidFill>
          <a:ln w="12700">
            <a:solidFill>
              <a:srgbClr val="7C3AED"/>
            </a:solidFill>
            <a:prstDash val="solid"/>
          </a:ln>
        </p:spPr>
      </p:sp>
      <p:sp>
        <p:nvSpPr>
          <p:cNvPr id="16" name="Text 14"/>
          <p:cNvSpPr/>
          <p:nvPr/>
        </p:nvSpPr>
        <p:spPr>
          <a:xfrm>
            <a:off x="6784848" y="2724912"/>
            <a:ext cx="1920240" cy="384048"/>
          </a:xfrm>
          <a:prstGeom prst="rect">
            <a:avLst/>
          </a:prstGeom>
          <a:noFill/>
          <a:ln/>
        </p:spPr>
        <p:txBody>
          <a:bodyPr wrap="square" lIns="0" tIns="0" rIns="0" bIns="0" rtlCol="0" anchor="ctr">
            <a:normAutofit/>
          </a:bodyPr>
          <a:lstStyle/>
          <a:p>
            <a:pPr indent="0" marL="0">
              <a:buNone/>
            </a:pPr>
            <a:r>
              <a:rPr lang="en-US" sz="1900" b="1" spc="90" kern="0" dirty="0">
                <a:solidFill>
                  <a:srgbClr val="0B1020"/>
                </a:solidFill>
                <a:latin typeface="Aptos" pitchFamily="34" charset="0"/>
                <a:ea typeface="Aptos" pitchFamily="34" charset="-122"/>
                <a:cs typeface="Aptos" pitchFamily="34" charset="-120"/>
              </a:rPr>
              <a:t>GOVERN</a:t>
            </a:r>
            <a:endParaRPr lang="en-US" sz="1900" dirty="0"/>
          </a:p>
        </p:txBody>
      </p:sp>
      <p:sp>
        <p:nvSpPr>
          <p:cNvPr id="17" name="Text 15"/>
          <p:cNvSpPr/>
          <p:nvPr/>
        </p:nvSpPr>
        <p:spPr>
          <a:xfrm>
            <a:off x="6528816" y="3364992"/>
            <a:ext cx="2157984" cy="950976"/>
          </a:xfrm>
          <a:prstGeom prst="rect">
            <a:avLst/>
          </a:prstGeom>
          <a:noFill/>
          <a:ln/>
        </p:spPr>
        <p:txBody>
          <a:bodyPr wrap="square" lIns="0" tIns="0" rIns="0" bIns="0" rtlCol="0" anchor="t">
            <a:normAutofit/>
          </a:bodyPr>
          <a:lstStyle/>
          <a:p>
            <a:pPr indent="0" marL="0">
              <a:buNone/>
            </a:pPr>
            <a:r>
              <a:rPr lang="en-US" sz="1460" dirty="0">
                <a:solidFill>
                  <a:srgbClr val="64748B"/>
                </a:solidFill>
                <a:latin typeface="Aptos" pitchFamily="34" charset="0"/>
                <a:ea typeface="Aptos" pitchFamily="34" charset="-122"/>
                <a:cs typeface="Aptos" pitchFamily="34" charset="-120"/>
              </a:rPr>
              <a:t>Scope actions, enforce gates and record decisions.</a:t>
            </a:r>
            <a:endParaRPr lang="en-US" sz="1460" dirty="0"/>
          </a:p>
        </p:txBody>
      </p:sp>
      <p:sp>
        <p:nvSpPr>
          <p:cNvPr id="18" name="Shape 16"/>
          <p:cNvSpPr/>
          <p:nvPr/>
        </p:nvSpPr>
        <p:spPr>
          <a:xfrm>
            <a:off x="9162288" y="2414016"/>
            <a:ext cx="2660904" cy="2286000"/>
          </a:xfrm>
          <a:prstGeom prst="roundRect">
            <a:avLst>
              <a:gd name="adj" fmla="val 5600"/>
            </a:avLst>
          </a:prstGeom>
          <a:solidFill>
            <a:srgbClr val="FFFFFF"/>
          </a:solidFill>
          <a:ln w="12700">
            <a:solidFill>
              <a:srgbClr val="E5EAF2"/>
            </a:solidFill>
            <a:prstDash val="solid"/>
          </a:ln>
        </p:spPr>
      </p:sp>
      <p:sp>
        <p:nvSpPr>
          <p:cNvPr id="19" name="Shape 17"/>
          <p:cNvSpPr/>
          <p:nvPr/>
        </p:nvSpPr>
        <p:spPr>
          <a:xfrm>
            <a:off x="9381744" y="2715768"/>
            <a:ext cx="118872" cy="685800"/>
          </a:xfrm>
          <a:prstGeom prst="roundRect">
            <a:avLst>
              <a:gd name="adj" fmla="val 138462"/>
            </a:avLst>
          </a:prstGeom>
          <a:solidFill>
            <a:srgbClr val="D97706"/>
          </a:solidFill>
          <a:ln w="12700">
            <a:solidFill>
              <a:srgbClr val="D97706"/>
            </a:solidFill>
            <a:prstDash val="solid"/>
          </a:ln>
        </p:spPr>
      </p:sp>
      <p:sp>
        <p:nvSpPr>
          <p:cNvPr id="20" name="Text 18"/>
          <p:cNvSpPr/>
          <p:nvPr/>
        </p:nvSpPr>
        <p:spPr>
          <a:xfrm>
            <a:off x="9656064" y="2724912"/>
            <a:ext cx="1920240" cy="384048"/>
          </a:xfrm>
          <a:prstGeom prst="rect">
            <a:avLst/>
          </a:prstGeom>
          <a:noFill/>
          <a:ln/>
        </p:spPr>
        <p:txBody>
          <a:bodyPr wrap="square" lIns="0" tIns="0" rIns="0" bIns="0" rtlCol="0" anchor="ctr">
            <a:normAutofit/>
          </a:bodyPr>
          <a:lstStyle/>
          <a:p>
            <a:pPr indent="0" marL="0">
              <a:buNone/>
            </a:pPr>
            <a:r>
              <a:rPr lang="en-US" sz="1900" b="1" spc="90" kern="0" dirty="0">
                <a:solidFill>
                  <a:srgbClr val="0B1020"/>
                </a:solidFill>
                <a:latin typeface="Aptos" pitchFamily="34" charset="0"/>
                <a:ea typeface="Aptos" pitchFamily="34" charset="-122"/>
                <a:cs typeface="Aptos" pitchFamily="34" charset="-120"/>
              </a:rPr>
              <a:t>OPTIMIZE</a:t>
            </a:r>
            <a:endParaRPr lang="en-US" sz="1900" dirty="0"/>
          </a:p>
        </p:txBody>
      </p:sp>
      <p:sp>
        <p:nvSpPr>
          <p:cNvPr id="21" name="Text 19"/>
          <p:cNvSpPr/>
          <p:nvPr/>
        </p:nvSpPr>
        <p:spPr>
          <a:xfrm>
            <a:off x="9400032" y="3364992"/>
            <a:ext cx="2157984" cy="950976"/>
          </a:xfrm>
          <a:prstGeom prst="rect">
            <a:avLst/>
          </a:prstGeom>
          <a:noFill/>
          <a:ln/>
        </p:spPr>
        <p:txBody>
          <a:bodyPr wrap="square" lIns="0" tIns="0" rIns="0" bIns="0" rtlCol="0" anchor="t">
            <a:normAutofit/>
          </a:bodyPr>
          <a:lstStyle/>
          <a:p>
            <a:pPr indent="0" marL="0">
              <a:buNone/>
            </a:pPr>
            <a:r>
              <a:rPr lang="en-US" sz="1460" dirty="0">
                <a:solidFill>
                  <a:srgbClr val="64748B"/>
                </a:solidFill>
                <a:latin typeface="Aptos" pitchFamily="34" charset="0"/>
                <a:ea typeface="Aptos" pitchFamily="34" charset="-122"/>
                <a:cs typeface="Aptos" pitchFamily="34" charset="-120"/>
              </a:rPr>
              <a:t>Evaluate quality, reliability and cost over time.</a:t>
            </a:r>
            <a:endParaRPr lang="en-US" sz="1460" dirty="0"/>
          </a:p>
        </p:txBody>
      </p:sp>
      <p:sp>
        <p:nvSpPr>
          <p:cNvPr id="22" name="Shape 20"/>
          <p:cNvSpPr/>
          <p:nvPr/>
        </p:nvSpPr>
        <p:spPr>
          <a:xfrm>
            <a:off x="548640" y="4974336"/>
            <a:ext cx="11045952" cy="859536"/>
          </a:xfrm>
          <a:prstGeom prst="roundRect">
            <a:avLst>
              <a:gd name="adj" fmla="val 14894"/>
            </a:avLst>
          </a:prstGeom>
          <a:solidFill>
            <a:srgbClr val="15213B"/>
          </a:solidFill>
          <a:ln w="12700">
            <a:solidFill>
              <a:srgbClr val="15213B"/>
            </a:solidFill>
            <a:prstDash val="solid"/>
          </a:ln>
        </p:spPr>
      </p:sp>
      <p:sp>
        <p:nvSpPr>
          <p:cNvPr id="23" name="Text 21"/>
          <p:cNvSpPr/>
          <p:nvPr/>
        </p:nvSpPr>
        <p:spPr>
          <a:xfrm>
            <a:off x="822960" y="5175504"/>
            <a:ext cx="2880360" cy="365760"/>
          </a:xfrm>
          <a:prstGeom prst="rect">
            <a:avLst/>
          </a:prstGeom>
          <a:noFill/>
          <a:ln/>
        </p:spPr>
        <p:txBody>
          <a:bodyPr wrap="square" lIns="0" tIns="0" rIns="0" bIns="0" rtlCol="0" anchor="ctr">
            <a:normAutofit/>
          </a:bodyPr>
          <a:lstStyle/>
          <a:p>
            <a:pPr indent="0" marL="0">
              <a:buNone/>
            </a:pPr>
            <a:r>
              <a:rPr lang="en-US" sz="1400" b="1" spc="80" kern="0" dirty="0">
                <a:solidFill>
                  <a:srgbClr val="93C5FD"/>
                </a:solidFill>
                <a:latin typeface="Aptos" pitchFamily="34" charset="0"/>
                <a:ea typeface="Aptos" pitchFamily="34" charset="-122"/>
                <a:cs typeface="Aptos" pitchFamily="34" charset="-120"/>
              </a:rPr>
              <a:t>ONE SHARED FOUNDATION</a:t>
            </a:r>
            <a:endParaRPr lang="en-US" sz="1400" dirty="0"/>
          </a:p>
        </p:txBody>
      </p:sp>
      <p:sp>
        <p:nvSpPr>
          <p:cNvPr id="24" name="Text 22"/>
          <p:cNvSpPr/>
          <p:nvPr/>
        </p:nvSpPr>
        <p:spPr>
          <a:xfrm>
            <a:off x="3675888" y="5221224"/>
            <a:ext cx="7498080" cy="292608"/>
          </a:xfrm>
          <a:prstGeom prst="rect">
            <a:avLst/>
          </a:prstGeom>
          <a:noFill/>
          <a:ln/>
        </p:spPr>
        <p:txBody>
          <a:bodyPr wrap="square" lIns="0" tIns="0" rIns="0" bIns="0" rtlCol="0" anchor="ctr">
            <a:normAutofit/>
          </a:bodyPr>
          <a:lstStyle/>
          <a:p>
            <a:pPr indent="0" marL="0">
              <a:buNone/>
            </a:pPr>
            <a:r>
              <a:rPr lang="en-US" sz="1600" dirty="0">
                <a:solidFill>
                  <a:srgbClr val="FFFFFF"/>
                </a:solidFill>
                <a:latin typeface="Aptos" pitchFamily="34" charset="0"/>
                <a:ea typeface="Aptos" pitchFamily="34" charset="-122"/>
                <a:cs typeface="Aptos" pitchFamily="34" charset="-120"/>
              </a:rPr>
              <a:t>Context  •  Memory  •  Integrations  •  Policy  •  Run History</a:t>
            </a:r>
            <a:endParaRPr lang="en-US" sz="1600" dirty="0"/>
          </a:p>
        </p:txBody>
      </p:sp>
      <p:sp>
        <p:nvSpPr>
          <p:cNvPr id="25" name="Shape 23"/>
          <p:cNvSpPr/>
          <p:nvPr/>
        </p:nvSpPr>
        <p:spPr>
          <a:xfrm>
            <a:off x="548640" y="6455664"/>
            <a:ext cx="11082528" cy="0"/>
          </a:xfrm>
          <a:prstGeom prst="line">
            <a:avLst/>
          </a:prstGeom>
          <a:noFill/>
          <a:ln w="10160">
            <a:solidFill>
              <a:srgbClr val="E4E9F2"/>
            </a:solidFill>
            <a:prstDash val="solid"/>
          </a:ln>
        </p:spPr>
      </p:sp>
      <p:sp>
        <p:nvSpPr>
          <p:cNvPr id="26" name="Text 24"/>
          <p:cNvSpPr/>
          <p:nvPr/>
        </p:nvSpPr>
        <p:spPr>
          <a:xfrm>
            <a:off x="548640" y="6510528"/>
            <a:ext cx="7315200" cy="182880"/>
          </a:xfrm>
          <a:prstGeom prst="rect">
            <a:avLst/>
          </a:prstGeom>
          <a:noFill/>
          <a:ln/>
        </p:spPr>
        <p:txBody>
          <a:bodyPr wrap="square" lIns="0" tIns="0" rIns="0" bIns="0" rtlCol="0" anchor="ctr">
            <a:normAutofit/>
          </a:bodyPr>
          <a:lstStyle/>
          <a:p>
            <a:pPr indent="0" marL="0">
              <a:buNone/>
            </a:pPr>
            <a:r>
              <a:rPr lang="en-US" sz="900" spc="105" kern="0" dirty="0">
                <a:solidFill>
                  <a:srgbClr val="95A3B6"/>
                </a:solidFill>
                <a:latin typeface="Aptos" pitchFamily="34" charset="0"/>
                <a:ea typeface="Aptos" pitchFamily="34" charset="-122"/>
                <a:cs typeface="Aptos" pitchFamily="34" charset="-120"/>
              </a:rPr>
              <a:t>PLATFORM ENGINEERING  •  CUSTOMER DISCUSSION</a:t>
            </a:r>
            <a:endParaRPr lang="en-US" sz="900" dirty="0"/>
          </a:p>
        </p:txBody>
      </p:sp>
      <p:sp>
        <p:nvSpPr>
          <p:cNvPr id="27" name="Text 25"/>
          <p:cNvSpPr/>
          <p:nvPr/>
        </p:nvSpPr>
        <p:spPr>
          <a:xfrm>
            <a:off x="11064240" y="6510528"/>
            <a:ext cx="594360" cy="173736"/>
          </a:xfrm>
          <a:prstGeom prst="rect">
            <a:avLst/>
          </a:prstGeom>
          <a:noFill/>
          <a:ln/>
        </p:spPr>
        <p:txBody>
          <a:bodyPr wrap="square" lIns="0" tIns="0" rIns="0" bIns="0" rtlCol="0" anchor="ctr">
            <a:normAutofit/>
          </a:bodyPr>
          <a:lstStyle/>
          <a:p>
            <a:pPr algn="r" indent="0" marL="0">
              <a:buNone/>
            </a:pPr>
            <a:r>
              <a:rPr lang="en-US" sz="900" dirty="0">
                <a:solidFill>
                  <a:srgbClr val="95A3B6"/>
                </a:solidFill>
                <a:latin typeface="Aptos" pitchFamily="34" charset="0"/>
                <a:ea typeface="Aptos" pitchFamily="34" charset="-122"/>
                <a:cs typeface="Aptos" pitchFamily="34" charset="-120"/>
              </a:rPr>
              <a:t>3 / 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30352" y="292608"/>
            <a:ext cx="3474720" cy="246888"/>
          </a:xfrm>
          <a:prstGeom prst="rect">
            <a:avLst/>
          </a:prstGeom>
          <a:noFill/>
          <a:ln/>
        </p:spPr>
        <p:txBody>
          <a:bodyPr wrap="square" lIns="0" tIns="0" rIns="0" bIns="0" rtlCol="0" anchor="ctr">
            <a:normAutofit/>
          </a:bodyPr>
          <a:lstStyle/>
          <a:p>
            <a:pPr indent="0" marL="0">
              <a:buNone/>
            </a:pPr>
            <a:r>
              <a:rPr lang="en-US" sz="1250" b="1" spc="200" kern="0" dirty="0">
                <a:solidFill>
                  <a:srgbClr val="8FBDFF"/>
                </a:solidFill>
                <a:latin typeface="Aptos" pitchFamily="34" charset="0"/>
                <a:ea typeface="Aptos" pitchFamily="34" charset="-122"/>
                <a:cs typeface="Aptos" pitchFamily="34" charset="-120"/>
              </a:rPr>
              <a:t>KAOP  /  KOMODOR</a:t>
            </a:r>
            <a:endParaRPr lang="en-US" sz="1250" dirty="0"/>
          </a:p>
        </p:txBody>
      </p:sp>
      <p:sp>
        <p:nvSpPr>
          <p:cNvPr id="3" name="Text 1"/>
          <p:cNvSpPr/>
          <p:nvPr/>
        </p:nvSpPr>
        <p:spPr>
          <a:xfrm>
            <a:off x="10835640" y="292608"/>
            <a:ext cx="822960" cy="228600"/>
          </a:xfrm>
          <a:prstGeom prst="rect">
            <a:avLst/>
          </a:prstGeom>
          <a:noFill/>
          <a:ln/>
        </p:spPr>
        <p:txBody>
          <a:bodyPr wrap="square" lIns="0" tIns="0" rIns="0" bIns="0" rtlCol="0" anchor="ctr">
            <a:normAutofit/>
          </a:bodyPr>
          <a:lstStyle/>
          <a:p>
            <a:pPr algn="r" indent="0" marL="0">
              <a:buNone/>
            </a:pPr>
            <a:r>
              <a:rPr lang="en-US" sz="1000" spc="100" kern="0" dirty="0">
                <a:solidFill>
                  <a:srgbClr val="B3C2D7"/>
                </a:solidFill>
                <a:latin typeface="Aptos" pitchFamily="34" charset="0"/>
                <a:ea typeface="Aptos" pitchFamily="34" charset="-122"/>
                <a:cs typeface="Aptos" pitchFamily="34" charset="-120"/>
              </a:rPr>
              <a:t>04 / 07</a:t>
            </a:r>
            <a:endParaRPr lang="en-US" sz="1000" dirty="0"/>
          </a:p>
        </p:txBody>
      </p:sp>
      <p:sp>
        <p:nvSpPr>
          <p:cNvPr id="4" name="Text 2"/>
          <p:cNvSpPr/>
          <p:nvPr/>
        </p:nvSpPr>
        <p:spPr>
          <a:xfrm>
            <a:off x="530352" y="914400"/>
            <a:ext cx="11064240" cy="1097280"/>
          </a:xfrm>
          <a:prstGeom prst="rect">
            <a:avLst/>
          </a:prstGeom>
          <a:noFill/>
          <a:ln/>
        </p:spPr>
        <p:txBody>
          <a:bodyPr wrap="square" lIns="0" tIns="0" rIns="0" bIns="0" rtlCol="0" anchor="t">
            <a:normAutofit/>
          </a:bodyPr>
          <a:lstStyle/>
          <a:p>
            <a:pPr indent="0" marL="0">
              <a:buNone/>
            </a:pPr>
            <a:r>
              <a:rPr lang="en-US" sz="3100" b="1" dirty="0">
                <a:solidFill>
                  <a:srgbClr val="FFFFFF"/>
                </a:solidFill>
                <a:latin typeface="Aptos Display" pitchFamily="34" charset="0"/>
                <a:ea typeface="Aptos Display" pitchFamily="34" charset="-122"/>
                <a:cs typeface="Aptos Display" pitchFamily="34" charset="-120"/>
              </a:rPr>
              <a:t>Trust is enforced at the action boundary.</a:t>
            </a:r>
            <a:endParaRPr lang="en-US" sz="3100" dirty="0"/>
          </a:p>
        </p:txBody>
      </p:sp>
      <p:sp>
        <p:nvSpPr>
          <p:cNvPr id="5" name="Text 3"/>
          <p:cNvSpPr/>
          <p:nvPr/>
        </p:nvSpPr>
        <p:spPr>
          <a:xfrm>
            <a:off x="548640" y="1828800"/>
            <a:ext cx="10972800" cy="530352"/>
          </a:xfrm>
          <a:prstGeom prst="rect">
            <a:avLst/>
          </a:prstGeom>
          <a:noFill/>
          <a:ln/>
        </p:spPr>
        <p:txBody>
          <a:bodyPr wrap="square" lIns="0" tIns="0" rIns="0" bIns="0" rtlCol="0" anchor="t">
            <a:normAutofit/>
          </a:bodyPr>
          <a:lstStyle/>
          <a:p>
            <a:pPr indent="0" marL="0">
              <a:buNone/>
            </a:pPr>
            <a:r>
              <a:rPr lang="en-US" sz="1450" dirty="0">
                <a:solidFill>
                  <a:srgbClr val="B3C2D7"/>
                </a:solidFill>
                <a:latin typeface="Aptos" pitchFamily="34" charset="0"/>
                <a:ea typeface="Aptos" pitchFamily="34" charset="-122"/>
                <a:cs typeface="Aptos" pitchFamily="34" charset="-120"/>
              </a:rPr>
              <a:t>A clever prompt is not a permission model.</a:t>
            </a:r>
            <a:endParaRPr lang="en-US" sz="1450" dirty="0"/>
          </a:p>
        </p:txBody>
      </p:sp>
      <p:sp>
        <p:nvSpPr>
          <p:cNvPr id="6" name="Shape 4"/>
          <p:cNvSpPr/>
          <p:nvPr/>
        </p:nvSpPr>
        <p:spPr>
          <a:xfrm>
            <a:off x="566928" y="2395728"/>
            <a:ext cx="6629400" cy="658368"/>
          </a:xfrm>
          <a:prstGeom prst="roundRect">
            <a:avLst>
              <a:gd name="adj" fmla="val 16667"/>
            </a:avLst>
          </a:prstGeom>
          <a:solidFill>
            <a:srgbClr val="1B3151"/>
          </a:solidFill>
          <a:ln w="12700">
            <a:solidFill>
              <a:srgbClr val="2B4569"/>
            </a:solidFill>
            <a:prstDash val="solid"/>
          </a:ln>
        </p:spPr>
      </p:sp>
      <p:sp>
        <p:nvSpPr>
          <p:cNvPr id="7" name="Shape 5"/>
          <p:cNvSpPr/>
          <p:nvPr/>
        </p:nvSpPr>
        <p:spPr>
          <a:xfrm>
            <a:off x="731520" y="2560320"/>
            <a:ext cx="594360" cy="329184"/>
          </a:xfrm>
          <a:prstGeom prst="roundRect">
            <a:avLst>
              <a:gd name="adj" fmla="val 38889"/>
            </a:avLst>
          </a:prstGeom>
          <a:solidFill>
            <a:srgbClr val="1D4885"/>
          </a:solidFill>
          <a:ln w="12700">
            <a:solidFill>
              <a:srgbClr val="1D4885"/>
            </a:solidFill>
            <a:prstDash val="solid"/>
          </a:ln>
        </p:spPr>
      </p:sp>
      <p:sp>
        <p:nvSpPr>
          <p:cNvPr id="8" name="Text 6"/>
          <p:cNvSpPr/>
          <p:nvPr/>
        </p:nvSpPr>
        <p:spPr>
          <a:xfrm>
            <a:off x="841248" y="2619756"/>
            <a:ext cx="374904" cy="210312"/>
          </a:xfrm>
          <a:prstGeom prst="rect">
            <a:avLst/>
          </a:prstGeom>
          <a:noFill/>
          <a:ln/>
        </p:spPr>
        <p:txBody>
          <a:bodyPr wrap="square" lIns="0" tIns="0" rIns="0" bIns="0" rtlCol="0" anchor="ctr">
            <a:normAutofit/>
          </a:bodyPr>
          <a:lstStyle/>
          <a:p>
            <a:pPr algn="ctr" indent="0" marL="0">
              <a:buNone/>
            </a:pPr>
            <a:r>
              <a:rPr lang="en-US" sz="1020" b="1" spc="70" kern="0" dirty="0">
                <a:solidFill>
                  <a:srgbClr val="B5D6FF"/>
                </a:solidFill>
                <a:latin typeface="Aptos" pitchFamily="34" charset="0"/>
                <a:ea typeface="Aptos" pitchFamily="34" charset="-122"/>
                <a:cs typeface="Aptos" pitchFamily="34" charset="-120"/>
              </a:rPr>
              <a:t>01</a:t>
            </a:r>
            <a:endParaRPr lang="en-US" sz="1020" dirty="0"/>
          </a:p>
        </p:txBody>
      </p:sp>
      <p:sp>
        <p:nvSpPr>
          <p:cNvPr id="9" name="Text 7"/>
          <p:cNvSpPr/>
          <p:nvPr/>
        </p:nvSpPr>
        <p:spPr>
          <a:xfrm>
            <a:off x="1517904" y="2560320"/>
            <a:ext cx="5440680" cy="32004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ptos" pitchFamily="34" charset="0"/>
                <a:ea typeface="Aptos" pitchFamily="34" charset="-122"/>
                <a:cs typeface="Aptos" pitchFamily="34" charset="-120"/>
              </a:rPr>
              <a:t>Identity and scoped permissions</a:t>
            </a:r>
            <a:endParaRPr lang="en-US" sz="1800" dirty="0"/>
          </a:p>
        </p:txBody>
      </p:sp>
      <p:sp>
        <p:nvSpPr>
          <p:cNvPr id="10" name="Shape 8"/>
          <p:cNvSpPr/>
          <p:nvPr/>
        </p:nvSpPr>
        <p:spPr>
          <a:xfrm>
            <a:off x="566928" y="3191256"/>
            <a:ext cx="6629400" cy="658368"/>
          </a:xfrm>
          <a:prstGeom prst="roundRect">
            <a:avLst>
              <a:gd name="adj" fmla="val 16667"/>
            </a:avLst>
          </a:prstGeom>
          <a:solidFill>
            <a:srgbClr val="152640"/>
          </a:solidFill>
          <a:ln w="12700">
            <a:solidFill>
              <a:srgbClr val="2B4569"/>
            </a:solidFill>
            <a:prstDash val="solid"/>
          </a:ln>
        </p:spPr>
      </p:sp>
      <p:sp>
        <p:nvSpPr>
          <p:cNvPr id="11" name="Shape 9"/>
          <p:cNvSpPr/>
          <p:nvPr/>
        </p:nvSpPr>
        <p:spPr>
          <a:xfrm>
            <a:off x="731520" y="3355848"/>
            <a:ext cx="594360" cy="329184"/>
          </a:xfrm>
          <a:prstGeom prst="roundRect">
            <a:avLst>
              <a:gd name="adj" fmla="val 38889"/>
            </a:avLst>
          </a:prstGeom>
          <a:solidFill>
            <a:srgbClr val="1D4885"/>
          </a:solidFill>
          <a:ln w="12700">
            <a:solidFill>
              <a:srgbClr val="1D4885"/>
            </a:solidFill>
            <a:prstDash val="solid"/>
          </a:ln>
        </p:spPr>
      </p:sp>
      <p:sp>
        <p:nvSpPr>
          <p:cNvPr id="12" name="Text 10"/>
          <p:cNvSpPr/>
          <p:nvPr/>
        </p:nvSpPr>
        <p:spPr>
          <a:xfrm>
            <a:off x="841248" y="3415284"/>
            <a:ext cx="374904" cy="210312"/>
          </a:xfrm>
          <a:prstGeom prst="rect">
            <a:avLst/>
          </a:prstGeom>
          <a:noFill/>
          <a:ln/>
        </p:spPr>
        <p:txBody>
          <a:bodyPr wrap="square" lIns="0" tIns="0" rIns="0" bIns="0" rtlCol="0" anchor="ctr">
            <a:normAutofit/>
          </a:bodyPr>
          <a:lstStyle/>
          <a:p>
            <a:pPr algn="ctr" indent="0" marL="0">
              <a:buNone/>
            </a:pPr>
            <a:r>
              <a:rPr lang="en-US" sz="1020" b="1" spc="70" kern="0" dirty="0">
                <a:solidFill>
                  <a:srgbClr val="B5D6FF"/>
                </a:solidFill>
                <a:latin typeface="Aptos" pitchFamily="34" charset="0"/>
                <a:ea typeface="Aptos" pitchFamily="34" charset="-122"/>
                <a:cs typeface="Aptos" pitchFamily="34" charset="-120"/>
              </a:rPr>
              <a:t>02</a:t>
            </a:r>
            <a:endParaRPr lang="en-US" sz="1020" dirty="0"/>
          </a:p>
        </p:txBody>
      </p:sp>
      <p:sp>
        <p:nvSpPr>
          <p:cNvPr id="13" name="Text 11"/>
          <p:cNvSpPr/>
          <p:nvPr/>
        </p:nvSpPr>
        <p:spPr>
          <a:xfrm>
            <a:off x="1517904" y="3355848"/>
            <a:ext cx="5440680" cy="32004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ptos" pitchFamily="34" charset="0"/>
                <a:ea typeface="Aptos" pitchFamily="34" charset="-122"/>
                <a:cs typeface="Aptos" pitchFamily="34" charset="-120"/>
              </a:rPr>
              <a:t>Allowed data sources and tools</a:t>
            </a:r>
            <a:endParaRPr lang="en-US" sz="1800" dirty="0"/>
          </a:p>
        </p:txBody>
      </p:sp>
      <p:sp>
        <p:nvSpPr>
          <p:cNvPr id="14" name="Shape 12"/>
          <p:cNvSpPr/>
          <p:nvPr/>
        </p:nvSpPr>
        <p:spPr>
          <a:xfrm>
            <a:off x="566928" y="3986784"/>
            <a:ext cx="6629400" cy="658368"/>
          </a:xfrm>
          <a:prstGeom prst="roundRect">
            <a:avLst>
              <a:gd name="adj" fmla="val 16667"/>
            </a:avLst>
          </a:prstGeom>
          <a:solidFill>
            <a:srgbClr val="1B3151"/>
          </a:solidFill>
          <a:ln w="12700">
            <a:solidFill>
              <a:srgbClr val="2B4569"/>
            </a:solidFill>
            <a:prstDash val="solid"/>
          </a:ln>
        </p:spPr>
      </p:sp>
      <p:sp>
        <p:nvSpPr>
          <p:cNvPr id="15" name="Shape 13"/>
          <p:cNvSpPr/>
          <p:nvPr/>
        </p:nvSpPr>
        <p:spPr>
          <a:xfrm>
            <a:off x="731520" y="4151376"/>
            <a:ext cx="594360" cy="329184"/>
          </a:xfrm>
          <a:prstGeom prst="roundRect">
            <a:avLst>
              <a:gd name="adj" fmla="val 38889"/>
            </a:avLst>
          </a:prstGeom>
          <a:solidFill>
            <a:srgbClr val="1D4885"/>
          </a:solidFill>
          <a:ln w="12700">
            <a:solidFill>
              <a:srgbClr val="1D4885"/>
            </a:solidFill>
            <a:prstDash val="solid"/>
          </a:ln>
        </p:spPr>
      </p:sp>
      <p:sp>
        <p:nvSpPr>
          <p:cNvPr id="16" name="Text 14"/>
          <p:cNvSpPr/>
          <p:nvPr/>
        </p:nvSpPr>
        <p:spPr>
          <a:xfrm>
            <a:off x="841248" y="4210812"/>
            <a:ext cx="374904" cy="210312"/>
          </a:xfrm>
          <a:prstGeom prst="rect">
            <a:avLst/>
          </a:prstGeom>
          <a:noFill/>
          <a:ln/>
        </p:spPr>
        <p:txBody>
          <a:bodyPr wrap="square" lIns="0" tIns="0" rIns="0" bIns="0" rtlCol="0" anchor="ctr">
            <a:normAutofit/>
          </a:bodyPr>
          <a:lstStyle/>
          <a:p>
            <a:pPr algn="ctr" indent="0" marL="0">
              <a:buNone/>
            </a:pPr>
            <a:r>
              <a:rPr lang="en-US" sz="1020" b="1" spc="70" kern="0" dirty="0">
                <a:solidFill>
                  <a:srgbClr val="B5D6FF"/>
                </a:solidFill>
                <a:latin typeface="Aptos" pitchFamily="34" charset="0"/>
                <a:ea typeface="Aptos" pitchFamily="34" charset="-122"/>
                <a:cs typeface="Aptos" pitchFamily="34" charset="-120"/>
              </a:rPr>
              <a:t>03</a:t>
            </a:r>
            <a:endParaRPr lang="en-US" sz="1020" dirty="0"/>
          </a:p>
        </p:txBody>
      </p:sp>
      <p:sp>
        <p:nvSpPr>
          <p:cNvPr id="17" name="Text 15"/>
          <p:cNvSpPr/>
          <p:nvPr/>
        </p:nvSpPr>
        <p:spPr>
          <a:xfrm>
            <a:off x="1517904" y="4151376"/>
            <a:ext cx="5440680" cy="32004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ptos" pitchFamily="34" charset="0"/>
                <a:ea typeface="Aptos" pitchFamily="34" charset="-122"/>
                <a:cs typeface="Aptos" pitchFamily="34" charset="-120"/>
              </a:rPr>
              <a:t>Policy check and human approval</a:t>
            </a:r>
            <a:endParaRPr lang="en-US" sz="1800" dirty="0"/>
          </a:p>
        </p:txBody>
      </p:sp>
      <p:sp>
        <p:nvSpPr>
          <p:cNvPr id="18" name="Shape 16"/>
          <p:cNvSpPr/>
          <p:nvPr/>
        </p:nvSpPr>
        <p:spPr>
          <a:xfrm>
            <a:off x="566928" y="4782312"/>
            <a:ext cx="6629400" cy="658368"/>
          </a:xfrm>
          <a:prstGeom prst="roundRect">
            <a:avLst>
              <a:gd name="adj" fmla="val 16667"/>
            </a:avLst>
          </a:prstGeom>
          <a:solidFill>
            <a:srgbClr val="152640"/>
          </a:solidFill>
          <a:ln w="12700">
            <a:solidFill>
              <a:srgbClr val="2B4569"/>
            </a:solidFill>
            <a:prstDash val="solid"/>
          </a:ln>
        </p:spPr>
      </p:sp>
      <p:sp>
        <p:nvSpPr>
          <p:cNvPr id="19" name="Shape 17"/>
          <p:cNvSpPr/>
          <p:nvPr/>
        </p:nvSpPr>
        <p:spPr>
          <a:xfrm>
            <a:off x="731520" y="4946904"/>
            <a:ext cx="594360" cy="329184"/>
          </a:xfrm>
          <a:prstGeom prst="roundRect">
            <a:avLst>
              <a:gd name="adj" fmla="val 38889"/>
            </a:avLst>
          </a:prstGeom>
          <a:solidFill>
            <a:srgbClr val="1D4885"/>
          </a:solidFill>
          <a:ln w="12700">
            <a:solidFill>
              <a:srgbClr val="1D4885"/>
            </a:solidFill>
            <a:prstDash val="solid"/>
          </a:ln>
        </p:spPr>
      </p:sp>
      <p:sp>
        <p:nvSpPr>
          <p:cNvPr id="20" name="Text 18"/>
          <p:cNvSpPr/>
          <p:nvPr/>
        </p:nvSpPr>
        <p:spPr>
          <a:xfrm>
            <a:off x="841248" y="5006340"/>
            <a:ext cx="374904" cy="210312"/>
          </a:xfrm>
          <a:prstGeom prst="rect">
            <a:avLst/>
          </a:prstGeom>
          <a:noFill/>
          <a:ln/>
        </p:spPr>
        <p:txBody>
          <a:bodyPr wrap="square" lIns="0" tIns="0" rIns="0" bIns="0" rtlCol="0" anchor="ctr">
            <a:normAutofit/>
          </a:bodyPr>
          <a:lstStyle/>
          <a:p>
            <a:pPr algn="ctr" indent="0" marL="0">
              <a:buNone/>
            </a:pPr>
            <a:r>
              <a:rPr lang="en-US" sz="1020" b="1" spc="70" kern="0" dirty="0">
                <a:solidFill>
                  <a:srgbClr val="B5D6FF"/>
                </a:solidFill>
                <a:latin typeface="Aptos" pitchFamily="34" charset="0"/>
                <a:ea typeface="Aptos" pitchFamily="34" charset="-122"/>
                <a:cs typeface="Aptos" pitchFamily="34" charset="-120"/>
              </a:rPr>
              <a:t>04</a:t>
            </a:r>
            <a:endParaRPr lang="en-US" sz="1020" dirty="0"/>
          </a:p>
        </p:txBody>
      </p:sp>
      <p:sp>
        <p:nvSpPr>
          <p:cNvPr id="21" name="Text 19"/>
          <p:cNvSpPr/>
          <p:nvPr/>
        </p:nvSpPr>
        <p:spPr>
          <a:xfrm>
            <a:off x="1517904" y="4946904"/>
            <a:ext cx="5440680" cy="32004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ptos" pitchFamily="34" charset="0"/>
                <a:ea typeface="Aptos" pitchFamily="34" charset="-122"/>
                <a:cs typeface="Aptos" pitchFamily="34" charset="-120"/>
              </a:rPr>
              <a:t>Recorded actions and outcomes</a:t>
            </a:r>
            <a:endParaRPr lang="en-US" sz="1800" dirty="0"/>
          </a:p>
        </p:txBody>
      </p:sp>
      <p:sp>
        <p:nvSpPr>
          <p:cNvPr id="22" name="Shape 20"/>
          <p:cNvSpPr/>
          <p:nvPr/>
        </p:nvSpPr>
        <p:spPr>
          <a:xfrm>
            <a:off x="7534656" y="2404872"/>
            <a:ext cx="4041648" cy="3008376"/>
          </a:xfrm>
          <a:prstGeom prst="roundRect">
            <a:avLst>
              <a:gd name="adj" fmla="val 5167"/>
            </a:avLst>
          </a:prstGeom>
          <a:solidFill>
            <a:srgbClr val="152640"/>
          </a:solidFill>
          <a:ln w="12700">
            <a:solidFill>
              <a:srgbClr val="34547F"/>
            </a:solidFill>
            <a:prstDash val="solid"/>
          </a:ln>
        </p:spPr>
      </p:sp>
      <p:sp>
        <p:nvSpPr>
          <p:cNvPr id="23" name="Text 21"/>
          <p:cNvSpPr/>
          <p:nvPr/>
        </p:nvSpPr>
        <p:spPr>
          <a:xfrm>
            <a:off x="7799832" y="2697480"/>
            <a:ext cx="3419856" cy="310896"/>
          </a:xfrm>
          <a:prstGeom prst="rect">
            <a:avLst/>
          </a:prstGeom>
          <a:noFill/>
          <a:ln/>
        </p:spPr>
        <p:txBody>
          <a:bodyPr wrap="square" lIns="0" tIns="0" rIns="0" bIns="0" rtlCol="0" anchor="ctr">
            <a:normAutofit/>
          </a:bodyPr>
          <a:lstStyle/>
          <a:p>
            <a:pPr indent="0" marL="0">
              <a:buNone/>
            </a:pPr>
            <a:r>
              <a:rPr lang="en-US" sz="1350" b="1" spc="100" kern="0" dirty="0">
                <a:solidFill>
                  <a:srgbClr val="8FBFFF"/>
                </a:solidFill>
                <a:latin typeface="Aptos" pitchFamily="34" charset="0"/>
                <a:ea typeface="Aptos" pitchFamily="34" charset="-122"/>
                <a:cs typeface="Aptos" pitchFamily="34" charset="-120"/>
              </a:rPr>
              <a:t>PROPOSED DEMO POLICY</a:t>
            </a:r>
            <a:endParaRPr lang="en-US" sz="1350" dirty="0"/>
          </a:p>
        </p:txBody>
      </p:sp>
      <p:sp>
        <p:nvSpPr>
          <p:cNvPr id="24" name="Text 22"/>
          <p:cNvSpPr/>
          <p:nvPr/>
        </p:nvSpPr>
        <p:spPr>
          <a:xfrm>
            <a:off x="7818120" y="3163824"/>
            <a:ext cx="3246120" cy="32918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Incident agent</a:t>
            </a:r>
            <a:endParaRPr lang="en-US" sz="1600" dirty="0"/>
          </a:p>
        </p:txBody>
      </p:sp>
      <p:sp>
        <p:nvSpPr>
          <p:cNvPr id="25" name="Text 23"/>
          <p:cNvSpPr/>
          <p:nvPr/>
        </p:nvSpPr>
        <p:spPr>
          <a:xfrm>
            <a:off x="7818120" y="3557016"/>
            <a:ext cx="3246120" cy="603504"/>
          </a:xfrm>
          <a:prstGeom prst="rect">
            <a:avLst/>
          </a:prstGeom>
          <a:noFill/>
          <a:ln/>
        </p:spPr>
        <p:txBody>
          <a:bodyPr wrap="square" lIns="0" tIns="0" rIns="0" bIns="0" rtlCol="0" anchor="t">
            <a:normAutofit/>
          </a:bodyPr>
          <a:lstStyle/>
          <a:p>
            <a:pPr indent="0" marL="0">
              <a:buNone/>
            </a:pPr>
            <a:r>
              <a:rPr lang="en-US" sz="1350" dirty="0">
                <a:solidFill>
                  <a:srgbClr val="B9CAE0"/>
                </a:solidFill>
                <a:latin typeface="Aptos" pitchFamily="34" charset="0"/>
                <a:ea typeface="Aptos" pitchFamily="34" charset="-122"/>
                <a:cs typeface="Aptos" pitchFamily="34" charset="-120"/>
              </a:rPr>
              <a:t>Read pods, events and logs.</a:t>
            </a:r>
            <a:endParaRPr lang="en-US" sz="1350" dirty="0"/>
          </a:p>
          <a:p>
            <a:pPr indent="0" marL="0">
              <a:buNone/>
            </a:pPr>
            <a:r>
              <a:rPr lang="en-US" sz="1350" dirty="0">
                <a:solidFill>
                  <a:srgbClr val="B9CAE0"/>
                </a:solidFill>
                <a:latin typeface="Aptos" pitchFamily="34" charset="0"/>
                <a:ea typeface="Aptos" pitchFamily="34" charset="-122"/>
                <a:cs typeface="Aptos" pitchFamily="34" charset="-120"/>
              </a:rPr>
              <a:t>No deploys or pod deletion.</a:t>
            </a:r>
            <a:endParaRPr lang="en-US" sz="1350" dirty="0"/>
          </a:p>
        </p:txBody>
      </p:sp>
      <p:sp>
        <p:nvSpPr>
          <p:cNvPr id="26" name="Shape 24"/>
          <p:cNvSpPr/>
          <p:nvPr/>
        </p:nvSpPr>
        <p:spPr>
          <a:xfrm>
            <a:off x="7808976" y="4279392"/>
            <a:ext cx="3401568" cy="0"/>
          </a:xfrm>
          <a:prstGeom prst="line">
            <a:avLst/>
          </a:prstGeom>
          <a:noFill/>
          <a:ln w="12700">
            <a:solidFill>
              <a:srgbClr val="2C4468"/>
            </a:solidFill>
            <a:prstDash val="solid"/>
          </a:ln>
        </p:spPr>
      </p:sp>
      <p:sp>
        <p:nvSpPr>
          <p:cNvPr id="27" name="Text 25"/>
          <p:cNvSpPr/>
          <p:nvPr/>
        </p:nvSpPr>
        <p:spPr>
          <a:xfrm>
            <a:off x="7818120" y="4416552"/>
            <a:ext cx="3246120" cy="32004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PR reviewer</a:t>
            </a:r>
            <a:endParaRPr lang="en-US" sz="1600" dirty="0"/>
          </a:p>
        </p:txBody>
      </p:sp>
      <p:sp>
        <p:nvSpPr>
          <p:cNvPr id="28" name="Text 26"/>
          <p:cNvSpPr/>
          <p:nvPr/>
        </p:nvSpPr>
        <p:spPr>
          <a:xfrm>
            <a:off x="7818120" y="4773168"/>
            <a:ext cx="3236976" cy="566928"/>
          </a:xfrm>
          <a:prstGeom prst="rect">
            <a:avLst/>
          </a:prstGeom>
          <a:noFill/>
          <a:ln/>
        </p:spPr>
        <p:txBody>
          <a:bodyPr wrap="square" lIns="0" tIns="0" rIns="0" bIns="0" rtlCol="0" anchor="t">
            <a:normAutofit/>
          </a:bodyPr>
          <a:lstStyle/>
          <a:p>
            <a:pPr indent="0" marL="0">
              <a:buNone/>
            </a:pPr>
            <a:r>
              <a:rPr lang="en-US" sz="1350" dirty="0">
                <a:solidFill>
                  <a:srgbClr val="B9CAE0"/>
                </a:solidFill>
                <a:latin typeface="Aptos" pitchFamily="34" charset="0"/>
                <a:ea typeface="Aptos" pitchFamily="34" charset="-122"/>
                <a:cs typeface="Aptos" pitchFamily="34" charset="-120"/>
              </a:rPr>
              <a:t>Read diff, post a review.</a:t>
            </a:r>
            <a:endParaRPr lang="en-US" sz="1350" dirty="0"/>
          </a:p>
          <a:p>
            <a:pPr indent="0" marL="0">
              <a:buNone/>
            </a:pPr>
            <a:r>
              <a:rPr lang="en-US" sz="1350" dirty="0">
                <a:solidFill>
                  <a:srgbClr val="B9CAE0"/>
                </a:solidFill>
                <a:latin typeface="Aptos" pitchFamily="34" charset="0"/>
                <a:ea typeface="Aptos" pitchFamily="34" charset="-122"/>
                <a:cs typeface="Aptos" pitchFamily="34" charset="-120"/>
              </a:rPr>
              <a:t>No merge or deployment authority.</a:t>
            </a:r>
            <a:endParaRPr lang="en-US" sz="1350" dirty="0"/>
          </a:p>
        </p:txBody>
      </p:sp>
      <p:sp>
        <p:nvSpPr>
          <p:cNvPr id="29" name="Text 27"/>
          <p:cNvSpPr/>
          <p:nvPr/>
        </p:nvSpPr>
        <p:spPr>
          <a:xfrm>
            <a:off x="585216" y="5843016"/>
            <a:ext cx="10789920" cy="274320"/>
          </a:xfrm>
          <a:prstGeom prst="rect">
            <a:avLst/>
          </a:prstGeom>
          <a:noFill/>
          <a:ln/>
        </p:spPr>
        <p:txBody>
          <a:bodyPr wrap="square" lIns="0" tIns="0" rIns="0" bIns="0" rtlCol="0" anchor="ctr">
            <a:normAutofit/>
          </a:bodyPr>
          <a:lstStyle/>
          <a:p>
            <a:pPr indent="0" marL="0">
              <a:buNone/>
            </a:pPr>
            <a:r>
              <a:rPr lang="en-US" sz="1200" dirty="0">
                <a:solidFill>
                  <a:srgbClr val="90A4BF"/>
                </a:solidFill>
                <a:latin typeface="Aptos" pitchFamily="34" charset="0"/>
                <a:ea typeface="Aptos" pitchFamily="34" charset="-122"/>
                <a:cs typeface="Aptos" pitchFamily="34" charset="-120"/>
              </a:rPr>
              <a:t>Proposed least-privilege scopes; enforce and verify inside the KAOP workspace.</a:t>
            </a:r>
            <a:endParaRPr lang="en-US" sz="1200" dirty="0"/>
          </a:p>
        </p:txBody>
      </p:sp>
      <p:sp>
        <p:nvSpPr>
          <p:cNvPr id="30" name="Shape 28"/>
          <p:cNvSpPr/>
          <p:nvPr/>
        </p:nvSpPr>
        <p:spPr>
          <a:xfrm>
            <a:off x="548640" y="6455664"/>
            <a:ext cx="11082528" cy="0"/>
          </a:xfrm>
          <a:prstGeom prst="line">
            <a:avLst/>
          </a:prstGeom>
          <a:noFill/>
          <a:ln w="10160">
            <a:solidFill>
              <a:srgbClr val="28415F"/>
            </a:solidFill>
            <a:prstDash val="solid"/>
          </a:ln>
        </p:spPr>
      </p:sp>
      <p:sp>
        <p:nvSpPr>
          <p:cNvPr id="31" name="Text 29"/>
          <p:cNvSpPr/>
          <p:nvPr/>
        </p:nvSpPr>
        <p:spPr>
          <a:xfrm>
            <a:off x="548640" y="6510528"/>
            <a:ext cx="7315200" cy="182880"/>
          </a:xfrm>
          <a:prstGeom prst="rect">
            <a:avLst/>
          </a:prstGeom>
          <a:noFill/>
          <a:ln/>
        </p:spPr>
        <p:txBody>
          <a:bodyPr wrap="square" lIns="0" tIns="0" rIns="0" bIns="0" rtlCol="0" anchor="ctr">
            <a:normAutofit/>
          </a:bodyPr>
          <a:lstStyle/>
          <a:p>
            <a:pPr indent="0" marL="0">
              <a:buNone/>
            </a:pPr>
            <a:r>
              <a:rPr lang="en-US" sz="900" spc="105" kern="0" dirty="0">
                <a:solidFill>
                  <a:srgbClr val="7F9AB5"/>
                </a:solidFill>
                <a:latin typeface="Aptos" pitchFamily="34" charset="0"/>
                <a:ea typeface="Aptos" pitchFamily="34" charset="-122"/>
                <a:cs typeface="Aptos" pitchFamily="34" charset="-120"/>
              </a:rPr>
              <a:t>PLATFORM ENGINEERING  •  CUSTOMER DISCUSSION</a:t>
            </a:r>
            <a:endParaRPr lang="en-US" sz="900" dirty="0"/>
          </a:p>
        </p:txBody>
      </p:sp>
      <p:sp>
        <p:nvSpPr>
          <p:cNvPr id="32" name="Text 30"/>
          <p:cNvSpPr/>
          <p:nvPr/>
        </p:nvSpPr>
        <p:spPr>
          <a:xfrm>
            <a:off x="11064240" y="6510528"/>
            <a:ext cx="594360" cy="173736"/>
          </a:xfrm>
          <a:prstGeom prst="rect">
            <a:avLst/>
          </a:prstGeom>
          <a:noFill/>
          <a:ln/>
        </p:spPr>
        <p:txBody>
          <a:bodyPr wrap="square" lIns="0" tIns="0" rIns="0" bIns="0" rtlCol="0" anchor="ctr">
            <a:normAutofit/>
          </a:bodyPr>
          <a:lstStyle/>
          <a:p>
            <a:pPr algn="r" indent="0" marL="0">
              <a:buNone/>
            </a:pPr>
            <a:r>
              <a:rPr lang="en-US" sz="900" dirty="0">
                <a:solidFill>
                  <a:srgbClr val="7F9AB5"/>
                </a:solidFill>
                <a:latin typeface="Aptos" pitchFamily="34" charset="0"/>
                <a:ea typeface="Aptos" pitchFamily="34" charset="-122"/>
                <a:cs typeface="Aptos" pitchFamily="34" charset="-120"/>
              </a:rPr>
              <a:t>4 / 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30352" y="292608"/>
            <a:ext cx="3474720" cy="246888"/>
          </a:xfrm>
          <a:prstGeom prst="rect">
            <a:avLst/>
          </a:prstGeom>
          <a:noFill/>
          <a:ln/>
        </p:spPr>
        <p:txBody>
          <a:bodyPr wrap="square" lIns="0" tIns="0" rIns="0" bIns="0" rtlCol="0" anchor="ctr">
            <a:normAutofit/>
          </a:bodyPr>
          <a:lstStyle/>
          <a:p>
            <a:pPr indent="0" marL="0">
              <a:buNone/>
            </a:pPr>
            <a:r>
              <a:rPr lang="en-US" sz="1250" b="1" spc="200" kern="0" dirty="0">
                <a:solidFill>
                  <a:srgbClr val="2563EB"/>
                </a:solidFill>
                <a:latin typeface="Aptos" pitchFamily="34" charset="0"/>
                <a:ea typeface="Aptos" pitchFamily="34" charset="-122"/>
                <a:cs typeface="Aptos" pitchFamily="34" charset="-120"/>
              </a:rPr>
              <a:t>KAOP  /  KOMODOR</a:t>
            </a:r>
            <a:endParaRPr lang="en-US" sz="1250" dirty="0"/>
          </a:p>
        </p:txBody>
      </p:sp>
      <p:sp>
        <p:nvSpPr>
          <p:cNvPr id="3" name="Text 1"/>
          <p:cNvSpPr/>
          <p:nvPr/>
        </p:nvSpPr>
        <p:spPr>
          <a:xfrm>
            <a:off x="10835640" y="292608"/>
            <a:ext cx="822960" cy="228600"/>
          </a:xfrm>
          <a:prstGeom prst="rect">
            <a:avLst/>
          </a:prstGeom>
          <a:noFill/>
          <a:ln/>
        </p:spPr>
        <p:txBody>
          <a:bodyPr wrap="square" lIns="0" tIns="0" rIns="0" bIns="0" rtlCol="0" anchor="ctr">
            <a:normAutofit/>
          </a:bodyPr>
          <a:lstStyle/>
          <a:p>
            <a:pPr algn="r" indent="0" marL="0">
              <a:buNone/>
            </a:pPr>
            <a:r>
              <a:rPr lang="en-US" sz="1000" spc="100" kern="0" dirty="0">
                <a:solidFill>
                  <a:srgbClr val="64748B"/>
                </a:solidFill>
                <a:latin typeface="Aptos" pitchFamily="34" charset="0"/>
                <a:ea typeface="Aptos" pitchFamily="34" charset="-122"/>
                <a:cs typeface="Aptos" pitchFamily="34" charset="-120"/>
              </a:rPr>
              <a:t>05 / 07</a:t>
            </a:r>
            <a:endParaRPr lang="en-US" sz="1000" dirty="0"/>
          </a:p>
        </p:txBody>
      </p:sp>
      <p:sp>
        <p:nvSpPr>
          <p:cNvPr id="4" name="Text 2"/>
          <p:cNvSpPr/>
          <p:nvPr/>
        </p:nvSpPr>
        <p:spPr>
          <a:xfrm>
            <a:off x="530352" y="914400"/>
            <a:ext cx="11064240" cy="1097280"/>
          </a:xfrm>
          <a:prstGeom prst="rect">
            <a:avLst/>
          </a:prstGeom>
          <a:noFill/>
          <a:ln/>
        </p:spPr>
        <p:txBody>
          <a:bodyPr wrap="square" lIns="0" tIns="0" rIns="0" bIns="0" rtlCol="0" anchor="t">
            <a:normAutofit/>
          </a:bodyPr>
          <a:lstStyle/>
          <a:p>
            <a:pPr indent="0" marL="0">
              <a:buNone/>
            </a:pPr>
            <a:r>
              <a:rPr lang="en-US" sz="3100" b="1" dirty="0">
                <a:solidFill>
                  <a:srgbClr val="111827"/>
                </a:solidFill>
                <a:latin typeface="Aptos Display" pitchFamily="34" charset="0"/>
                <a:ea typeface="Aptos Display" pitchFamily="34" charset="-122"/>
                <a:cs typeface="Aptos Display" pitchFamily="34" charset="-120"/>
              </a:rPr>
              <a:t>One incident. Two workflows. One control plane.</a:t>
            </a:r>
            <a:endParaRPr lang="en-US" sz="3100" dirty="0"/>
          </a:p>
        </p:txBody>
      </p:sp>
      <p:sp>
        <p:nvSpPr>
          <p:cNvPr id="5" name="Text 3"/>
          <p:cNvSpPr/>
          <p:nvPr/>
        </p:nvSpPr>
        <p:spPr>
          <a:xfrm>
            <a:off x="548640" y="1828800"/>
            <a:ext cx="10972800" cy="530352"/>
          </a:xfrm>
          <a:prstGeom prst="rect">
            <a:avLst/>
          </a:prstGeom>
          <a:noFill/>
          <a:ln/>
        </p:spPr>
        <p:txBody>
          <a:bodyPr wrap="square" lIns="0" tIns="0" rIns="0" bIns="0" rtlCol="0" anchor="t">
            <a:normAutofit/>
          </a:bodyPr>
          <a:lstStyle/>
          <a:p>
            <a:pPr indent="0" marL="0">
              <a:buNone/>
            </a:pPr>
            <a:r>
              <a:rPr lang="en-US" sz="1450" dirty="0">
                <a:solidFill>
                  <a:srgbClr val="64748B"/>
                </a:solidFill>
                <a:latin typeface="Aptos" pitchFamily="34" charset="0"/>
                <a:ea typeface="Aptos" pitchFamily="34" charset="-122"/>
                <a:cs typeface="Aptos" pitchFamily="34" charset="-120"/>
              </a:rPr>
              <a:t>Target workflows: separate triggers; shared controls verified after setup.</a:t>
            </a:r>
            <a:endParaRPr lang="en-US" sz="1450" dirty="0"/>
          </a:p>
        </p:txBody>
      </p:sp>
      <p:sp>
        <p:nvSpPr>
          <p:cNvPr id="6" name="Shape 4"/>
          <p:cNvSpPr/>
          <p:nvPr/>
        </p:nvSpPr>
        <p:spPr>
          <a:xfrm>
            <a:off x="566928" y="2404872"/>
            <a:ext cx="5358384" cy="2688336"/>
          </a:xfrm>
          <a:prstGeom prst="roundRect">
            <a:avLst>
              <a:gd name="adj" fmla="val 4762"/>
            </a:avLst>
          </a:prstGeom>
          <a:solidFill>
            <a:srgbClr val="FFFFFF"/>
          </a:solidFill>
          <a:ln w="12700">
            <a:solidFill>
              <a:srgbClr val="E5EAF2"/>
            </a:solidFill>
            <a:prstDash val="solid"/>
          </a:ln>
        </p:spPr>
      </p:sp>
      <p:sp>
        <p:nvSpPr>
          <p:cNvPr id="7" name="Text 5"/>
          <p:cNvSpPr/>
          <p:nvPr/>
        </p:nvSpPr>
        <p:spPr>
          <a:xfrm>
            <a:off x="795528" y="2651760"/>
            <a:ext cx="4846320" cy="310896"/>
          </a:xfrm>
          <a:prstGeom prst="rect">
            <a:avLst/>
          </a:prstGeom>
          <a:noFill/>
          <a:ln/>
        </p:spPr>
        <p:txBody>
          <a:bodyPr wrap="square" lIns="0" tIns="0" rIns="0" bIns="0" rtlCol="0" anchor="ctr">
            <a:normAutofit/>
          </a:bodyPr>
          <a:lstStyle/>
          <a:p>
            <a:pPr indent="0" marL="0">
              <a:buNone/>
            </a:pPr>
            <a:r>
              <a:rPr lang="en-US" sz="1400" b="1" spc="85" kern="0" dirty="0">
                <a:solidFill>
                  <a:srgbClr val="2563EB"/>
                </a:solidFill>
                <a:latin typeface="Aptos" pitchFamily="34" charset="0"/>
                <a:ea typeface="Aptos" pitchFamily="34" charset="-122"/>
                <a:cs typeface="Aptos" pitchFamily="34" charset="-120"/>
              </a:rPr>
              <a:t>01  INCIDENT INVESTIGATION</a:t>
            </a:r>
            <a:endParaRPr lang="en-US" sz="1400" dirty="0"/>
          </a:p>
        </p:txBody>
      </p:sp>
      <p:sp>
        <p:nvSpPr>
          <p:cNvPr id="8" name="Shape 6"/>
          <p:cNvSpPr/>
          <p:nvPr/>
        </p:nvSpPr>
        <p:spPr>
          <a:xfrm>
            <a:off x="795528" y="3127248"/>
            <a:ext cx="1828800" cy="329184"/>
          </a:xfrm>
          <a:prstGeom prst="roundRect">
            <a:avLst>
              <a:gd name="adj" fmla="val 38889"/>
            </a:avLst>
          </a:prstGeom>
          <a:solidFill>
            <a:srgbClr val="DBEAFE"/>
          </a:solidFill>
          <a:ln w="12700">
            <a:solidFill>
              <a:srgbClr val="DBEAFE"/>
            </a:solidFill>
            <a:prstDash val="solid"/>
          </a:ln>
        </p:spPr>
      </p:sp>
      <p:sp>
        <p:nvSpPr>
          <p:cNvPr id="9" name="Text 7"/>
          <p:cNvSpPr/>
          <p:nvPr/>
        </p:nvSpPr>
        <p:spPr>
          <a:xfrm>
            <a:off x="905256" y="3186684"/>
            <a:ext cx="1609344" cy="210312"/>
          </a:xfrm>
          <a:prstGeom prst="rect">
            <a:avLst/>
          </a:prstGeom>
          <a:noFill/>
          <a:ln/>
        </p:spPr>
        <p:txBody>
          <a:bodyPr wrap="square" lIns="0" tIns="0" rIns="0" bIns="0" rtlCol="0" anchor="ctr">
            <a:normAutofit/>
          </a:bodyPr>
          <a:lstStyle/>
          <a:p>
            <a:pPr algn="ctr" indent="0" marL="0">
              <a:buNone/>
            </a:pPr>
            <a:r>
              <a:rPr lang="en-US" sz="1020" b="1" spc="70" kern="0" dirty="0">
                <a:solidFill>
                  <a:srgbClr val="2563EB"/>
                </a:solidFill>
                <a:latin typeface="Aptos" pitchFamily="34" charset="0"/>
                <a:ea typeface="Aptos" pitchFamily="34" charset="-122"/>
                <a:cs typeface="Aptos" pitchFamily="34" charset="-120"/>
              </a:rPr>
              <a:t>Grafana alert</a:t>
            </a:r>
            <a:endParaRPr lang="en-US" sz="1020" dirty="0"/>
          </a:p>
        </p:txBody>
      </p:sp>
      <p:sp>
        <p:nvSpPr>
          <p:cNvPr id="10" name="Shape 8"/>
          <p:cNvSpPr/>
          <p:nvPr/>
        </p:nvSpPr>
        <p:spPr>
          <a:xfrm>
            <a:off x="822960" y="3694176"/>
            <a:ext cx="1106424" cy="795528"/>
          </a:xfrm>
          <a:prstGeom prst="roundRect">
            <a:avLst>
              <a:gd name="adj" fmla="val 9195"/>
            </a:avLst>
          </a:prstGeom>
          <a:solidFill>
            <a:srgbClr val="EDF3FC"/>
          </a:solidFill>
          <a:ln w="12700">
            <a:solidFill>
              <a:srgbClr val="E0E8F3"/>
            </a:solidFill>
            <a:prstDash val="solid"/>
          </a:ln>
        </p:spPr>
      </p:sp>
      <p:sp>
        <p:nvSpPr>
          <p:cNvPr id="11" name="Text 9"/>
          <p:cNvSpPr/>
          <p:nvPr/>
        </p:nvSpPr>
        <p:spPr>
          <a:xfrm>
            <a:off x="886968" y="3867912"/>
            <a:ext cx="978408" cy="384048"/>
          </a:xfrm>
          <a:prstGeom prst="rect">
            <a:avLst/>
          </a:prstGeom>
          <a:noFill/>
          <a:ln/>
        </p:spPr>
        <p:txBody>
          <a:bodyPr wrap="square" lIns="0" tIns="0" rIns="0" bIns="0" rtlCol="0" anchor="ctr">
            <a:normAutofit/>
          </a:bodyPr>
          <a:lstStyle/>
          <a:p>
            <a:pPr algn="ctr" indent="0" marL="0">
              <a:buNone/>
            </a:pPr>
            <a:r>
              <a:rPr lang="en-US" sz="1170" b="1" dirty="0">
                <a:solidFill>
                  <a:srgbClr val="0B1020"/>
                </a:solidFill>
                <a:latin typeface="Aptos" pitchFamily="34" charset="0"/>
                <a:ea typeface="Aptos" pitchFamily="34" charset="-122"/>
                <a:cs typeface="Aptos" pitchFamily="34" charset="-120"/>
              </a:rPr>
              <a:t>Grafana fires</a:t>
            </a:r>
            <a:endParaRPr lang="en-US" sz="1170" dirty="0"/>
          </a:p>
        </p:txBody>
      </p:sp>
      <p:sp>
        <p:nvSpPr>
          <p:cNvPr id="12" name="Shape 10"/>
          <p:cNvSpPr/>
          <p:nvPr/>
        </p:nvSpPr>
        <p:spPr>
          <a:xfrm>
            <a:off x="1929384" y="4087368"/>
            <a:ext cx="137160" cy="0"/>
          </a:xfrm>
          <a:prstGeom prst="line">
            <a:avLst/>
          </a:prstGeom>
          <a:noFill/>
          <a:ln w="25400">
            <a:solidFill>
              <a:srgbClr val="2563EB"/>
            </a:solidFill>
            <a:prstDash val="solid"/>
            <a:tailEnd type="triangle"/>
          </a:ln>
        </p:spPr>
      </p:sp>
      <p:sp>
        <p:nvSpPr>
          <p:cNvPr id="13" name="Shape 11"/>
          <p:cNvSpPr/>
          <p:nvPr/>
        </p:nvSpPr>
        <p:spPr>
          <a:xfrm>
            <a:off x="2084832" y="3694176"/>
            <a:ext cx="1106424" cy="795528"/>
          </a:xfrm>
          <a:prstGeom prst="roundRect">
            <a:avLst>
              <a:gd name="adj" fmla="val 9195"/>
            </a:avLst>
          </a:prstGeom>
          <a:solidFill>
            <a:srgbClr val="EDF3FC"/>
          </a:solidFill>
          <a:ln w="12700">
            <a:solidFill>
              <a:srgbClr val="E0E8F3"/>
            </a:solidFill>
            <a:prstDash val="solid"/>
          </a:ln>
        </p:spPr>
      </p:sp>
      <p:sp>
        <p:nvSpPr>
          <p:cNvPr id="14" name="Text 12"/>
          <p:cNvSpPr/>
          <p:nvPr/>
        </p:nvSpPr>
        <p:spPr>
          <a:xfrm>
            <a:off x="2148840" y="3867912"/>
            <a:ext cx="978408" cy="384048"/>
          </a:xfrm>
          <a:prstGeom prst="rect">
            <a:avLst/>
          </a:prstGeom>
          <a:noFill/>
          <a:ln/>
        </p:spPr>
        <p:txBody>
          <a:bodyPr wrap="square" lIns="0" tIns="0" rIns="0" bIns="0" rtlCol="0" anchor="ctr">
            <a:normAutofit/>
          </a:bodyPr>
          <a:lstStyle/>
          <a:p>
            <a:pPr algn="ctr" indent="0" marL="0">
              <a:buNone/>
            </a:pPr>
            <a:r>
              <a:rPr lang="en-US" sz="1170" b="1" dirty="0">
                <a:solidFill>
                  <a:srgbClr val="0B1020"/>
                </a:solidFill>
                <a:latin typeface="Aptos" pitchFamily="34" charset="0"/>
                <a:ea typeface="Aptos" pitchFamily="34" charset="-122"/>
                <a:cs typeface="Aptos" pitchFamily="34" charset="-120"/>
              </a:rPr>
              <a:t>KAOP routes</a:t>
            </a:r>
            <a:endParaRPr lang="en-US" sz="1170" dirty="0"/>
          </a:p>
        </p:txBody>
      </p:sp>
      <p:sp>
        <p:nvSpPr>
          <p:cNvPr id="15" name="Shape 13"/>
          <p:cNvSpPr/>
          <p:nvPr/>
        </p:nvSpPr>
        <p:spPr>
          <a:xfrm>
            <a:off x="3191256" y="4087368"/>
            <a:ext cx="137160" cy="0"/>
          </a:xfrm>
          <a:prstGeom prst="line">
            <a:avLst/>
          </a:prstGeom>
          <a:noFill/>
          <a:ln w="25400">
            <a:solidFill>
              <a:srgbClr val="2563EB"/>
            </a:solidFill>
            <a:prstDash val="solid"/>
            <a:tailEnd type="triangle"/>
          </a:ln>
        </p:spPr>
      </p:sp>
      <p:sp>
        <p:nvSpPr>
          <p:cNvPr id="16" name="Shape 14"/>
          <p:cNvSpPr/>
          <p:nvPr/>
        </p:nvSpPr>
        <p:spPr>
          <a:xfrm>
            <a:off x="3346704" y="3694176"/>
            <a:ext cx="1106424" cy="795528"/>
          </a:xfrm>
          <a:prstGeom prst="roundRect">
            <a:avLst>
              <a:gd name="adj" fmla="val 9195"/>
            </a:avLst>
          </a:prstGeom>
          <a:solidFill>
            <a:srgbClr val="EDF3FC"/>
          </a:solidFill>
          <a:ln w="12700">
            <a:solidFill>
              <a:srgbClr val="E0E8F3"/>
            </a:solidFill>
            <a:prstDash val="solid"/>
          </a:ln>
        </p:spPr>
      </p:sp>
      <p:sp>
        <p:nvSpPr>
          <p:cNvPr id="17" name="Text 15"/>
          <p:cNvSpPr/>
          <p:nvPr/>
        </p:nvSpPr>
        <p:spPr>
          <a:xfrm>
            <a:off x="3410712" y="3867912"/>
            <a:ext cx="978408" cy="384048"/>
          </a:xfrm>
          <a:prstGeom prst="rect">
            <a:avLst/>
          </a:prstGeom>
          <a:noFill/>
          <a:ln/>
        </p:spPr>
        <p:txBody>
          <a:bodyPr wrap="square" lIns="0" tIns="0" rIns="0" bIns="0" rtlCol="0" anchor="ctr">
            <a:normAutofit/>
          </a:bodyPr>
          <a:lstStyle/>
          <a:p>
            <a:pPr algn="ctr" indent="0" marL="0">
              <a:buNone/>
            </a:pPr>
            <a:r>
              <a:rPr lang="en-US" sz="1170" b="1" dirty="0">
                <a:solidFill>
                  <a:srgbClr val="0B1020"/>
                </a:solidFill>
                <a:latin typeface="Aptos" pitchFamily="34" charset="0"/>
                <a:ea typeface="Aptos" pitchFamily="34" charset="-122"/>
                <a:cs typeface="Aptos" pitchFamily="34" charset="-120"/>
              </a:rPr>
              <a:t>K8s RCA</a:t>
            </a:r>
            <a:endParaRPr lang="en-US" sz="1170" dirty="0"/>
          </a:p>
        </p:txBody>
      </p:sp>
      <p:sp>
        <p:nvSpPr>
          <p:cNvPr id="18" name="Shape 16"/>
          <p:cNvSpPr/>
          <p:nvPr/>
        </p:nvSpPr>
        <p:spPr>
          <a:xfrm>
            <a:off x="4453128" y="4087368"/>
            <a:ext cx="137160" cy="0"/>
          </a:xfrm>
          <a:prstGeom prst="line">
            <a:avLst/>
          </a:prstGeom>
          <a:noFill/>
          <a:ln w="25400">
            <a:solidFill>
              <a:srgbClr val="2563EB"/>
            </a:solidFill>
            <a:prstDash val="solid"/>
            <a:tailEnd type="triangle"/>
          </a:ln>
        </p:spPr>
      </p:sp>
      <p:sp>
        <p:nvSpPr>
          <p:cNvPr id="19" name="Shape 17"/>
          <p:cNvSpPr/>
          <p:nvPr/>
        </p:nvSpPr>
        <p:spPr>
          <a:xfrm>
            <a:off x="4608576" y="3694176"/>
            <a:ext cx="1106424" cy="795528"/>
          </a:xfrm>
          <a:prstGeom prst="roundRect">
            <a:avLst>
              <a:gd name="adj" fmla="val 9195"/>
            </a:avLst>
          </a:prstGeom>
          <a:solidFill>
            <a:srgbClr val="2563EB"/>
          </a:solidFill>
          <a:ln w="12700">
            <a:solidFill>
              <a:srgbClr val="2563EB"/>
            </a:solidFill>
            <a:prstDash val="solid"/>
          </a:ln>
        </p:spPr>
      </p:sp>
      <p:sp>
        <p:nvSpPr>
          <p:cNvPr id="20" name="Text 18"/>
          <p:cNvSpPr/>
          <p:nvPr/>
        </p:nvSpPr>
        <p:spPr>
          <a:xfrm>
            <a:off x="4672584" y="3867912"/>
            <a:ext cx="978408" cy="384048"/>
          </a:xfrm>
          <a:prstGeom prst="rect">
            <a:avLst/>
          </a:prstGeom>
          <a:noFill/>
          <a:ln/>
        </p:spPr>
        <p:txBody>
          <a:bodyPr wrap="square" lIns="0" tIns="0" rIns="0" bIns="0" rtlCol="0" anchor="ctr">
            <a:normAutofit/>
          </a:bodyPr>
          <a:lstStyle/>
          <a:p>
            <a:pPr algn="ctr" indent="0" marL="0">
              <a:buNone/>
            </a:pPr>
            <a:r>
              <a:rPr lang="en-US" sz="1170" b="1" dirty="0">
                <a:solidFill>
                  <a:srgbClr val="FFFFFF"/>
                </a:solidFill>
                <a:latin typeface="Aptos" pitchFamily="34" charset="0"/>
                <a:ea typeface="Aptos" pitchFamily="34" charset="-122"/>
                <a:cs typeface="Aptos" pitchFamily="34" charset="-120"/>
              </a:rPr>
              <a:t>Evidence + fix</a:t>
            </a:r>
            <a:endParaRPr lang="en-US" sz="1170" dirty="0"/>
          </a:p>
        </p:txBody>
      </p:sp>
      <p:sp>
        <p:nvSpPr>
          <p:cNvPr id="21" name="Shape 19"/>
          <p:cNvSpPr/>
          <p:nvPr/>
        </p:nvSpPr>
        <p:spPr>
          <a:xfrm>
            <a:off x="6291072" y="2404872"/>
            <a:ext cx="5358384" cy="2688336"/>
          </a:xfrm>
          <a:prstGeom prst="roundRect">
            <a:avLst>
              <a:gd name="adj" fmla="val 4762"/>
            </a:avLst>
          </a:prstGeom>
          <a:solidFill>
            <a:srgbClr val="FFFFFF"/>
          </a:solidFill>
          <a:ln w="12700">
            <a:solidFill>
              <a:srgbClr val="E5EAF2"/>
            </a:solidFill>
            <a:prstDash val="solid"/>
          </a:ln>
        </p:spPr>
      </p:sp>
      <p:sp>
        <p:nvSpPr>
          <p:cNvPr id="22" name="Text 20"/>
          <p:cNvSpPr/>
          <p:nvPr/>
        </p:nvSpPr>
        <p:spPr>
          <a:xfrm>
            <a:off x="6519672" y="2651760"/>
            <a:ext cx="4846320" cy="310896"/>
          </a:xfrm>
          <a:prstGeom prst="rect">
            <a:avLst/>
          </a:prstGeom>
          <a:noFill/>
          <a:ln/>
        </p:spPr>
        <p:txBody>
          <a:bodyPr wrap="square" lIns="0" tIns="0" rIns="0" bIns="0" rtlCol="0" anchor="ctr">
            <a:normAutofit/>
          </a:bodyPr>
          <a:lstStyle/>
          <a:p>
            <a:pPr indent="0" marL="0">
              <a:buNone/>
            </a:pPr>
            <a:r>
              <a:rPr lang="en-US" sz="1400" b="1" spc="85" kern="0" dirty="0">
                <a:solidFill>
                  <a:srgbClr val="0F766E"/>
                </a:solidFill>
                <a:latin typeface="Aptos" pitchFamily="34" charset="0"/>
                <a:ea typeface="Aptos" pitchFamily="34" charset="-122"/>
                <a:cs typeface="Aptos" pitchFamily="34" charset="-120"/>
              </a:rPr>
              <a:t>02  CODE REVIEW</a:t>
            </a:r>
            <a:endParaRPr lang="en-US" sz="1400" dirty="0"/>
          </a:p>
        </p:txBody>
      </p:sp>
      <p:sp>
        <p:nvSpPr>
          <p:cNvPr id="23" name="Shape 21"/>
          <p:cNvSpPr/>
          <p:nvPr/>
        </p:nvSpPr>
        <p:spPr>
          <a:xfrm>
            <a:off x="6519672" y="3127248"/>
            <a:ext cx="1828800" cy="329184"/>
          </a:xfrm>
          <a:prstGeom prst="roundRect">
            <a:avLst>
              <a:gd name="adj" fmla="val 38889"/>
            </a:avLst>
          </a:prstGeom>
          <a:solidFill>
            <a:srgbClr val="CCFBF1"/>
          </a:solidFill>
          <a:ln w="12700">
            <a:solidFill>
              <a:srgbClr val="CCFBF1"/>
            </a:solidFill>
            <a:prstDash val="solid"/>
          </a:ln>
        </p:spPr>
      </p:sp>
      <p:sp>
        <p:nvSpPr>
          <p:cNvPr id="24" name="Text 22"/>
          <p:cNvSpPr/>
          <p:nvPr/>
        </p:nvSpPr>
        <p:spPr>
          <a:xfrm>
            <a:off x="6629400" y="3186684"/>
            <a:ext cx="1609344" cy="210312"/>
          </a:xfrm>
          <a:prstGeom prst="rect">
            <a:avLst/>
          </a:prstGeom>
          <a:noFill/>
          <a:ln/>
        </p:spPr>
        <p:txBody>
          <a:bodyPr wrap="square" lIns="0" tIns="0" rIns="0" bIns="0" rtlCol="0" anchor="ctr">
            <a:normAutofit/>
          </a:bodyPr>
          <a:lstStyle/>
          <a:p>
            <a:pPr algn="ctr" indent="0" marL="0">
              <a:buNone/>
            </a:pPr>
            <a:r>
              <a:rPr lang="en-US" sz="1020" b="1" spc="70" kern="0" dirty="0">
                <a:solidFill>
                  <a:srgbClr val="0F766E"/>
                </a:solidFill>
                <a:latin typeface="Aptos" pitchFamily="34" charset="0"/>
                <a:ea typeface="Aptos" pitchFamily="34" charset="-122"/>
                <a:cs typeface="Aptos" pitchFamily="34" charset="-120"/>
              </a:rPr>
              <a:t>Fresh GitHub PR</a:t>
            </a:r>
            <a:endParaRPr lang="en-US" sz="1020" dirty="0"/>
          </a:p>
        </p:txBody>
      </p:sp>
      <p:sp>
        <p:nvSpPr>
          <p:cNvPr id="25" name="Shape 23"/>
          <p:cNvSpPr/>
          <p:nvPr/>
        </p:nvSpPr>
        <p:spPr>
          <a:xfrm>
            <a:off x="6547104" y="3694176"/>
            <a:ext cx="1106424" cy="795528"/>
          </a:xfrm>
          <a:prstGeom prst="roundRect">
            <a:avLst>
              <a:gd name="adj" fmla="val 9195"/>
            </a:avLst>
          </a:prstGeom>
          <a:solidFill>
            <a:srgbClr val="EDF3FC"/>
          </a:solidFill>
          <a:ln w="12700">
            <a:solidFill>
              <a:srgbClr val="E0E8F3"/>
            </a:solidFill>
            <a:prstDash val="solid"/>
          </a:ln>
        </p:spPr>
      </p:sp>
      <p:sp>
        <p:nvSpPr>
          <p:cNvPr id="26" name="Text 24"/>
          <p:cNvSpPr/>
          <p:nvPr/>
        </p:nvSpPr>
        <p:spPr>
          <a:xfrm>
            <a:off x="6611112" y="3867912"/>
            <a:ext cx="978408" cy="384048"/>
          </a:xfrm>
          <a:prstGeom prst="rect">
            <a:avLst/>
          </a:prstGeom>
          <a:noFill/>
          <a:ln/>
        </p:spPr>
        <p:txBody>
          <a:bodyPr wrap="square" lIns="0" tIns="0" rIns="0" bIns="0" rtlCol="0" anchor="ctr">
            <a:normAutofit/>
          </a:bodyPr>
          <a:lstStyle/>
          <a:p>
            <a:pPr algn="ctr" indent="0" marL="0">
              <a:buNone/>
            </a:pPr>
            <a:r>
              <a:rPr lang="en-US" sz="1170" b="1" dirty="0">
                <a:solidFill>
                  <a:srgbClr val="0B1020"/>
                </a:solidFill>
                <a:latin typeface="Aptos" pitchFamily="34" charset="0"/>
                <a:ea typeface="Aptos" pitchFamily="34" charset="-122"/>
                <a:cs typeface="Aptos" pitchFamily="34" charset="-120"/>
              </a:rPr>
              <a:t>PR opens</a:t>
            </a:r>
            <a:endParaRPr lang="en-US" sz="1170" dirty="0"/>
          </a:p>
        </p:txBody>
      </p:sp>
      <p:sp>
        <p:nvSpPr>
          <p:cNvPr id="27" name="Shape 25"/>
          <p:cNvSpPr/>
          <p:nvPr/>
        </p:nvSpPr>
        <p:spPr>
          <a:xfrm>
            <a:off x="7653528" y="4087368"/>
            <a:ext cx="137160" cy="0"/>
          </a:xfrm>
          <a:prstGeom prst="line">
            <a:avLst/>
          </a:prstGeom>
          <a:noFill/>
          <a:ln w="25400">
            <a:solidFill>
              <a:srgbClr val="0F766E"/>
            </a:solidFill>
            <a:prstDash val="solid"/>
            <a:tailEnd type="triangle"/>
          </a:ln>
        </p:spPr>
      </p:sp>
      <p:sp>
        <p:nvSpPr>
          <p:cNvPr id="28" name="Shape 26"/>
          <p:cNvSpPr/>
          <p:nvPr/>
        </p:nvSpPr>
        <p:spPr>
          <a:xfrm>
            <a:off x="7808976" y="3694176"/>
            <a:ext cx="1106424" cy="795528"/>
          </a:xfrm>
          <a:prstGeom prst="roundRect">
            <a:avLst>
              <a:gd name="adj" fmla="val 9195"/>
            </a:avLst>
          </a:prstGeom>
          <a:solidFill>
            <a:srgbClr val="EDF3FC"/>
          </a:solidFill>
          <a:ln w="12700">
            <a:solidFill>
              <a:srgbClr val="E0E8F3"/>
            </a:solidFill>
            <a:prstDash val="solid"/>
          </a:ln>
        </p:spPr>
      </p:sp>
      <p:sp>
        <p:nvSpPr>
          <p:cNvPr id="29" name="Text 27"/>
          <p:cNvSpPr/>
          <p:nvPr/>
        </p:nvSpPr>
        <p:spPr>
          <a:xfrm>
            <a:off x="7872984" y="3867912"/>
            <a:ext cx="978408" cy="384048"/>
          </a:xfrm>
          <a:prstGeom prst="rect">
            <a:avLst/>
          </a:prstGeom>
          <a:noFill/>
          <a:ln/>
        </p:spPr>
        <p:txBody>
          <a:bodyPr wrap="square" lIns="0" tIns="0" rIns="0" bIns="0" rtlCol="0" anchor="ctr">
            <a:normAutofit/>
          </a:bodyPr>
          <a:lstStyle/>
          <a:p>
            <a:pPr algn="ctr" indent="0" marL="0">
              <a:buNone/>
            </a:pPr>
            <a:r>
              <a:rPr lang="en-US" sz="1170" b="1" dirty="0">
                <a:solidFill>
                  <a:srgbClr val="0B1020"/>
                </a:solidFill>
                <a:latin typeface="Aptos" pitchFamily="34" charset="0"/>
                <a:ea typeface="Aptos" pitchFamily="34" charset="-122"/>
                <a:cs typeface="Aptos" pitchFamily="34" charset="-120"/>
              </a:rPr>
              <a:t>KAOP routes</a:t>
            </a:r>
            <a:endParaRPr lang="en-US" sz="1170" dirty="0"/>
          </a:p>
        </p:txBody>
      </p:sp>
      <p:sp>
        <p:nvSpPr>
          <p:cNvPr id="30" name="Shape 28"/>
          <p:cNvSpPr/>
          <p:nvPr/>
        </p:nvSpPr>
        <p:spPr>
          <a:xfrm>
            <a:off x="8915400" y="4087368"/>
            <a:ext cx="137160" cy="0"/>
          </a:xfrm>
          <a:prstGeom prst="line">
            <a:avLst/>
          </a:prstGeom>
          <a:noFill/>
          <a:ln w="25400">
            <a:solidFill>
              <a:srgbClr val="0F766E"/>
            </a:solidFill>
            <a:prstDash val="solid"/>
            <a:tailEnd type="triangle"/>
          </a:ln>
        </p:spPr>
      </p:sp>
      <p:sp>
        <p:nvSpPr>
          <p:cNvPr id="31" name="Shape 29"/>
          <p:cNvSpPr/>
          <p:nvPr/>
        </p:nvSpPr>
        <p:spPr>
          <a:xfrm>
            <a:off x="9070848" y="3694176"/>
            <a:ext cx="1106424" cy="795528"/>
          </a:xfrm>
          <a:prstGeom prst="roundRect">
            <a:avLst>
              <a:gd name="adj" fmla="val 9195"/>
            </a:avLst>
          </a:prstGeom>
          <a:solidFill>
            <a:srgbClr val="EDF3FC"/>
          </a:solidFill>
          <a:ln w="12700">
            <a:solidFill>
              <a:srgbClr val="E0E8F3"/>
            </a:solidFill>
            <a:prstDash val="solid"/>
          </a:ln>
        </p:spPr>
      </p:sp>
      <p:sp>
        <p:nvSpPr>
          <p:cNvPr id="32" name="Text 30"/>
          <p:cNvSpPr/>
          <p:nvPr/>
        </p:nvSpPr>
        <p:spPr>
          <a:xfrm>
            <a:off x="9134856" y="3867912"/>
            <a:ext cx="978408" cy="384048"/>
          </a:xfrm>
          <a:prstGeom prst="rect">
            <a:avLst/>
          </a:prstGeom>
          <a:noFill/>
          <a:ln/>
        </p:spPr>
        <p:txBody>
          <a:bodyPr wrap="square" lIns="0" tIns="0" rIns="0" bIns="0" rtlCol="0" anchor="ctr">
            <a:normAutofit/>
          </a:bodyPr>
          <a:lstStyle/>
          <a:p>
            <a:pPr algn="ctr" indent="0" marL="0">
              <a:buNone/>
            </a:pPr>
            <a:r>
              <a:rPr lang="en-US" sz="1170" b="1" dirty="0">
                <a:solidFill>
                  <a:srgbClr val="0B1020"/>
                </a:solidFill>
                <a:latin typeface="Aptos" pitchFamily="34" charset="0"/>
                <a:ea typeface="Aptos" pitchFamily="34" charset="-122"/>
                <a:cs typeface="Aptos" pitchFamily="34" charset="-120"/>
              </a:rPr>
              <a:t>Reviewer</a:t>
            </a:r>
            <a:endParaRPr lang="en-US" sz="1170" dirty="0"/>
          </a:p>
        </p:txBody>
      </p:sp>
      <p:sp>
        <p:nvSpPr>
          <p:cNvPr id="33" name="Shape 31"/>
          <p:cNvSpPr/>
          <p:nvPr/>
        </p:nvSpPr>
        <p:spPr>
          <a:xfrm>
            <a:off x="10177272" y="4087368"/>
            <a:ext cx="137160" cy="0"/>
          </a:xfrm>
          <a:prstGeom prst="line">
            <a:avLst/>
          </a:prstGeom>
          <a:noFill/>
          <a:ln w="25400">
            <a:solidFill>
              <a:srgbClr val="0F766E"/>
            </a:solidFill>
            <a:prstDash val="solid"/>
            <a:tailEnd type="triangle"/>
          </a:ln>
        </p:spPr>
      </p:sp>
      <p:sp>
        <p:nvSpPr>
          <p:cNvPr id="34" name="Shape 32"/>
          <p:cNvSpPr/>
          <p:nvPr/>
        </p:nvSpPr>
        <p:spPr>
          <a:xfrm>
            <a:off x="10332720" y="3694176"/>
            <a:ext cx="1106424" cy="795528"/>
          </a:xfrm>
          <a:prstGeom prst="roundRect">
            <a:avLst>
              <a:gd name="adj" fmla="val 9195"/>
            </a:avLst>
          </a:prstGeom>
          <a:solidFill>
            <a:srgbClr val="0F766E"/>
          </a:solidFill>
          <a:ln w="12700">
            <a:solidFill>
              <a:srgbClr val="0F766E"/>
            </a:solidFill>
            <a:prstDash val="solid"/>
          </a:ln>
        </p:spPr>
      </p:sp>
      <p:sp>
        <p:nvSpPr>
          <p:cNvPr id="35" name="Text 33"/>
          <p:cNvSpPr/>
          <p:nvPr/>
        </p:nvSpPr>
        <p:spPr>
          <a:xfrm>
            <a:off x="10396728" y="3867912"/>
            <a:ext cx="978408" cy="384048"/>
          </a:xfrm>
          <a:prstGeom prst="rect">
            <a:avLst/>
          </a:prstGeom>
          <a:noFill/>
          <a:ln/>
        </p:spPr>
        <p:txBody>
          <a:bodyPr wrap="square" lIns="0" tIns="0" rIns="0" bIns="0" rtlCol="0" anchor="ctr">
            <a:normAutofit/>
          </a:bodyPr>
          <a:lstStyle/>
          <a:p>
            <a:pPr algn="ctr" indent="0" marL="0">
              <a:buNone/>
            </a:pPr>
            <a:r>
              <a:rPr lang="en-US" sz="1170" b="1" dirty="0">
                <a:solidFill>
                  <a:srgbClr val="FFFFFF"/>
                </a:solidFill>
                <a:latin typeface="Aptos" pitchFamily="34" charset="0"/>
                <a:ea typeface="Aptos" pitchFamily="34" charset="-122"/>
                <a:cs typeface="Aptos" pitchFamily="34" charset="-120"/>
              </a:rPr>
              <a:t>Comment</a:t>
            </a:r>
            <a:endParaRPr lang="en-US" sz="1170" dirty="0"/>
          </a:p>
        </p:txBody>
      </p:sp>
      <p:sp>
        <p:nvSpPr>
          <p:cNvPr id="36" name="Shape 34"/>
          <p:cNvSpPr/>
          <p:nvPr/>
        </p:nvSpPr>
        <p:spPr>
          <a:xfrm>
            <a:off x="566928" y="5340096"/>
            <a:ext cx="11082528" cy="594360"/>
          </a:xfrm>
          <a:prstGeom prst="roundRect">
            <a:avLst>
              <a:gd name="adj" fmla="val 15385"/>
            </a:avLst>
          </a:prstGeom>
          <a:solidFill>
            <a:srgbClr val="15213B"/>
          </a:solidFill>
          <a:ln w="12700">
            <a:solidFill>
              <a:srgbClr val="15213B"/>
            </a:solidFill>
            <a:prstDash val="solid"/>
          </a:ln>
        </p:spPr>
      </p:sp>
      <p:sp>
        <p:nvSpPr>
          <p:cNvPr id="37" name="Text 35"/>
          <p:cNvSpPr/>
          <p:nvPr/>
        </p:nvSpPr>
        <p:spPr>
          <a:xfrm>
            <a:off x="786384" y="5513832"/>
            <a:ext cx="2103120" cy="256032"/>
          </a:xfrm>
          <a:prstGeom prst="rect">
            <a:avLst/>
          </a:prstGeom>
          <a:noFill/>
          <a:ln/>
        </p:spPr>
        <p:txBody>
          <a:bodyPr wrap="square" lIns="0" tIns="0" rIns="0" bIns="0" rtlCol="0" anchor="ctr">
            <a:normAutofit/>
          </a:bodyPr>
          <a:lstStyle/>
          <a:p>
            <a:pPr indent="0" marL="0">
              <a:buNone/>
            </a:pPr>
            <a:r>
              <a:rPr lang="en-US" sz="1270" b="1" spc="70" kern="0" dirty="0">
                <a:solidFill>
                  <a:srgbClr val="93C5FD"/>
                </a:solidFill>
                <a:latin typeface="Aptos" pitchFamily="34" charset="0"/>
                <a:ea typeface="Aptos" pitchFamily="34" charset="-122"/>
                <a:cs typeface="Aptos" pitchFamily="34" charset="-120"/>
              </a:rPr>
              <a:t>SHARED CONTROLS</a:t>
            </a:r>
            <a:endParaRPr lang="en-US" sz="1270" dirty="0"/>
          </a:p>
        </p:txBody>
      </p:sp>
      <p:sp>
        <p:nvSpPr>
          <p:cNvPr id="38" name="Text 36"/>
          <p:cNvSpPr/>
          <p:nvPr/>
        </p:nvSpPr>
        <p:spPr>
          <a:xfrm>
            <a:off x="2880360" y="5504688"/>
            <a:ext cx="8229600" cy="274320"/>
          </a:xfrm>
          <a:prstGeom prst="rect">
            <a:avLst/>
          </a:prstGeom>
          <a:noFill/>
          <a:ln/>
        </p:spPr>
        <p:txBody>
          <a:bodyPr wrap="square" lIns="0" tIns="0" rIns="0" bIns="0" rtlCol="0" anchor="ctr">
            <a:normAutofit/>
          </a:bodyPr>
          <a:lstStyle/>
          <a:p>
            <a:pPr indent="0" marL="0">
              <a:buNone/>
            </a:pPr>
            <a:r>
              <a:rPr lang="en-US" sz="1520" dirty="0">
                <a:solidFill>
                  <a:srgbClr val="FFFFFF"/>
                </a:solidFill>
                <a:latin typeface="Aptos" pitchFamily="34" charset="0"/>
                <a:ea typeface="Aptos" pitchFamily="34" charset="-122"/>
                <a:cs typeface="Aptos" pitchFamily="34" charset="-120"/>
              </a:rPr>
              <a:t>Identity  •  Permissions  •  Tool policy  •  Human gates  •  Audit trail</a:t>
            </a:r>
            <a:endParaRPr lang="en-US" sz="1520" dirty="0"/>
          </a:p>
        </p:txBody>
      </p:sp>
      <p:sp>
        <p:nvSpPr>
          <p:cNvPr id="39" name="Shape 37"/>
          <p:cNvSpPr/>
          <p:nvPr/>
        </p:nvSpPr>
        <p:spPr>
          <a:xfrm>
            <a:off x="548640" y="6455664"/>
            <a:ext cx="11082528" cy="0"/>
          </a:xfrm>
          <a:prstGeom prst="line">
            <a:avLst/>
          </a:prstGeom>
          <a:noFill/>
          <a:ln w="10160">
            <a:solidFill>
              <a:srgbClr val="E4E9F2"/>
            </a:solidFill>
            <a:prstDash val="solid"/>
          </a:ln>
        </p:spPr>
      </p:sp>
      <p:sp>
        <p:nvSpPr>
          <p:cNvPr id="40" name="Text 38"/>
          <p:cNvSpPr/>
          <p:nvPr/>
        </p:nvSpPr>
        <p:spPr>
          <a:xfrm>
            <a:off x="548640" y="6510528"/>
            <a:ext cx="7315200" cy="182880"/>
          </a:xfrm>
          <a:prstGeom prst="rect">
            <a:avLst/>
          </a:prstGeom>
          <a:noFill/>
          <a:ln/>
        </p:spPr>
        <p:txBody>
          <a:bodyPr wrap="square" lIns="0" tIns="0" rIns="0" bIns="0" rtlCol="0" anchor="ctr">
            <a:normAutofit/>
          </a:bodyPr>
          <a:lstStyle/>
          <a:p>
            <a:pPr indent="0" marL="0">
              <a:buNone/>
            </a:pPr>
            <a:r>
              <a:rPr lang="en-US" sz="900" spc="105" kern="0" dirty="0">
                <a:solidFill>
                  <a:srgbClr val="95A3B6"/>
                </a:solidFill>
                <a:latin typeface="Aptos" pitchFamily="34" charset="0"/>
                <a:ea typeface="Aptos" pitchFamily="34" charset="-122"/>
                <a:cs typeface="Aptos" pitchFamily="34" charset="-120"/>
              </a:rPr>
              <a:t>PLATFORM ENGINEERING  •  CUSTOMER DISCUSSION</a:t>
            </a:r>
            <a:endParaRPr lang="en-US" sz="900" dirty="0"/>
          </a:p>
        </p:txBody>
      </p:sp>
      <p:sp>
        <p:nvSpPr>
          <p:cNvPr id="41" name="Text 39"/>
          <p:cNvSpPr/>
          <p:nvPr/>
        </p:nvSpPr>
        <p:spPr>
          <a:xfrm>
            <a:off x="11064240" y="6510528"/>
            <a:ext cx="594360" cy="173736"/>
          </a:xfrm>
          <a:prstGeom prst="rect">
            <a:avLst/>
          </a:prstGeom>
          <a:noFill/>
          <a:ln/>
        </p:spPr>
        <p:txBody>
          <a:bodyPr wrap="square" lIns="0" tIns="0" rIns="0" bIns="0" rtlCol="0" anchor="ctr">
            <a:normAutofit/>
          </a:bodyPr>
          <a:lstStyle/>
          <a:p>
            <a:pPr algn="r" indent="0" marL="0">
              <a:buNone/>
            </a:pPr>
            <a:r>
              <a:rPr lang="en-US" sz="900" dirty="0">
                <a:solidFill>
                  <a:srgbClr val="95A3B6"/>
                </a:solidFill>
                <a:latin typeface="Aptos" pitchFamily="34" charset="0"/>
                <a:ea typeface="Aptos" pitchFamily="34" charset="-122"/>
                <a:cs typeface="Aptos" pitchFamily="34" charset="-120"/>
              </a:rPr>
              <a:t>5 / 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30352" y="292608"/>
            <a:ext cx="3474720" cy="246888"/>
          </a:xfrm>
          <a:prstGeom prst="rect">
            <a:avLst/>
          </a:prstGeom>
          <a:noFill/>
          <a:ln/>
        </p:spPr>
        <p:txBody>
          <a:bodyPr wrap="square" lIns="0" tIns="0" rIns="0" bIns="0" rtlCol="0" anchor="ctr">
            <a:normAutofit/>
          </a:bodyPr>
          <a:lstStyle/>
          <a:p>
            <a:pPr indent="0" marL="0">
              <a:buNone/>
            </a:pPr>
            <a:r>
              <a:rPr lang="en-US" sz="1250" b="1" spc="200" kern="0" dirty="0">
                <a:solidFill>
                  <a:srgbClr val="2563EB"/>
                </a:solidFill>
                <a:latin typeface="Aptos" pitchFamily="34" charset="0"/>
                <a:ea typeface="Aptos" pitchFamily="34" charset="-122"/>
                <a:cs typeface="Aptos" pitchFamily="34" charset="-120"/>
              </a:rPr>
              <a:t>KAOP  /  KOMODOR</a:t>
            </a:r>
            <a:endParaRPr lang="en-US" sz="1250" dirty="0"/>
          </a:p>
        </p:txBody>
      </p:sp>
      <p:sp>
        <p:nvSpPr>
          <p:cNvPr id="3" name="Text 1"/>
          <p:cNvSpPr/>
          <p:nvPr/>
        </p:nvSpPr>
        <p:spPr>
          <a:xfrm>
            <a:off x="10835640" y="292608"/>
            <a:ext cx="822960" cy="228600"/>
          </a:xfrm>
          <a:prstGeom prst="rect">
            <a:avLst/>
          </a:prstGeom>
          <a:noFill/>
          <a:ln/>
        </p:spPr>
        <p:txBody>
          <a:bodyPr wrap="square" lIns="0" tIns="0" rIns="0" bIns="0" rtlCol="0" anchor="ctr">
            <a:normAutofit/>
          </a:bodyPr>
          <a:lstStyle/>
          <a:p>
            <a:pPr algn="r" indent="0" marL="0">
              <a:buNone/>
            </a:pPr>
            <a:r>
              <a:rPr lang="en-US" sz="1000" spc="100" kern="0" dirty="0">
                <a:solidFill>
                  <a:srgbClr val="64748B"/>
                </a:solidFill>
                <a:latin typeface="Aptos" pitchFamily="34" charset="0"/>
                <a:ea typeface="Aptos" pitchFamily="34" charset="-122"/>
                <a:cs typeface="Aptos" pitchFamily="34" charset="-120"/>
              </a:rPr>
              <a:t>06 / 07</a:t>
            </a:r>
            <a:endParaRPr lang="en-US" sz="1000" dirty="0"/>
          </a:p>
        </p:txBody>
      </p:sp>
      <p:sp>
        <p:nvSpPr>
          <p:cNvPr id="4" name="Text 2"/>
          <p:cNvSpPr/>
          <p:nvPr/>
        </p:nvSpPr>
        <p:spPr>
          <a:xfrm>
            <a:off x="530352" y="914400"/>
            <a:ext cx="11064240" cy="1097280"/>
          </a:xfrm>
          <a:prstGeom prst="rect">
            <a:avLst/>
          </a:prstGeom>
          <a:noFill/>
          <a:ln/>
        </p:spPr>
        <p:txBody>
          <a:bodyPr wrap="square" lIns="0" tIns="0" rIns="0" bIns="0" rtlCol="0" anchor="t">
            <a:normAutofit/>
          </a:bodyPr>
          <a:lstStyle/>
          <a:p>
            <a:pPr indent="0" marL="0">
              <a:buNone/>
            </a:pPr>
            <a:r>
              <a:rPr lang="en-US" sz="3100" b="1" dirty="0">
                <a:solidFill>
                  <a:srgbClr val="111827"/>
                </a:solidFill>
                <a:latin typeface="Aptos Display" pitchFamily="34" charset="0"/>
                <a:ea typeface="Aptos Display" pitchFamily="34" charset="-122"/>
                <a:cs typeface="Aptos Display" pitchFamily="34" charset="-120"/>
              </a:rPr>
              <a:t>LIVE  |  One fault. Follow every decision.</a:t>
            </a:r>
            <a:endParaRPr lang="en-US" sz="3100" dirty="0"/>
          </a:p>
        </p:txBody>
      </p:sp>
      <p:sp>
        <p:nvSpPr>
          <p:cNvPr id="5" name="Text 3"/>
          <p:cNvSpPr/>
          <p:nvPr/>
        </p:nvSpPr>
        <p:spPr>
          <a:xfrm>
            <a:off x="548640" y="1828800"/>
            <a:ext cx="10972800" cy="530352"/>
          </a:xfrm>
          <a:prstGeom prst="rect">
            <a:avLst/>
          </a:prstGeom>
          <a:noFill/>
          <a:ln/>
        </p:spPr>
        <p:txBody>
          <a:bodyPr wrap="square" lIns="0" tIns="0" rIns="0" bIns="0" rtlCol="0" anchor="t">
            <a:normAutofit/>
          </a:bodyPr>
          <a:lstStyle/>
          <a:p>
            <a:pPr indent="0" marL="0">
              <a:buNone/>
            </a:pPr>
            <a:r>
              <a:rPr lang="en-US" sz="1450" dirty="0">
                <a:solidFill>
                  <a:srgbClr val="64748B"/>
                </a:solidFill>
                <a:latin typeface="Aptos" pitchFamily="34" charset="0"/>
                <a:ea typeface="Aptos" pitchFamily="34" charset="-122"/>
                <a:cs typeface="Aptos" pitchFamily="34" charset="-120"/>
              </a:rPr>
              <a:t>Watch a Redis outage become an API restart, then a reviewable engineering fix.</a:t>
            </a:r>
            <a:endParaRPr lang="en-US" sz="1450" dirty="0"/>
          </a:p>
        </p:txBody>
      </p:sp>
      <p:sp>
        <p:nvSpPr>
          <p:cNvPr id="6" name="Shape 4"/>
          <p:cNvSpPr/>
          <p:nvPr/>
        </p:nvSpPr>
        <p:spPr>
          <a:xfrm>
            <a:off x="521208" y="2514600"/>
            <a:ext cx="2148840" cy="2039112"/>
          </a:xfrm>
          <a:prstGeom prst="roundRect">
            <a:avLst>
              <a:gd name="adj" fmla="val 5830"/>
            </a:avLst>
          </a:prstGeom>
          <a:solidFill>
            <a:srgbClr val="FFFFFF"/>
          </a:solidFill>
          <a:ln w="12700">
            <a:solidFill>
              <a:srgbClr val="E5EAF2"/>
            </a:solidFill>
            <a:prstDash val="solid"/>
          </a:ln>
        </p:spPr>
      </p:sp>
      <p:sp>
        <p:nvSpPr>
          <p:cNvPr id="7" name="Shape 5"/>
          <p:cNvSpPr/>
          <p:nvPr/>
        </p:nvSpPr>
        <p:spPr>
          <a:xfrm>
            <a:off x="704088" y="2734056"/>
            <a:ext cx="438912" cy="384048"/>
          </a:xfrm>
          <a:prstGeom prst="roundRect">
            <a:avLst>
              <a:gd name="adj" fmla="val 21429"/>
            </a:avLst>
          </a:prstGeom>
          <a:solidFill>
            <a:srgbClr val="1D4ED8"/>
          </a:solidFill>
          <a:ln w="12700">
            <a:solidFill>
              <a:srgbClr val="1D4ED8"/>
            </a:solidFill>
            <a:prstDash val="solid"/>
          </a:ln>
        </p:spPr>
      </p:sp>
      <p:sp>
        <p:nvSpPr>
          <p:cNvPr id="8" name="Text 6"/>
          <p:cNvSpPr/>
          <p:nvPr/>
        </p:nvSpPr>
        <p:spPr>
          <a:xfrm>
            <a:off x="749808" y="2807208"/>
            <a:ext cx="356616" cy="210312"/>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01</a:t>
            </a:r>
            <a:endParaRPr lang="en-US" sz="1250" dirty="0"/>
          </a:p>
        </p:txBody>
      </p:sp>
      <p:sp>
        <p:nvSpPr>
          <p:cNvPr id="9" name="Text 7"/>
          <p:cNvSpPr/>
          <p:nvPr/>
        </p:nvSpPr>
        <p:spPr>
          <a:xfrm>
            <a:off x="722376" y="3282696"/>
            <a:ext cx="1810512" cy="320040"/>
          </a:xfrm>
          <a:prstGeom prst="rect">
            <a:avLst/>
          </a:prstGeom>
          <a:noFill/>
          <a:ln/>
        </p:spPr>
        <p:txBody>
          <a:bodyPr wrap="square" lIns="0" tIns="0" rIns="0" bIns="0" rtlCol="0" anchor="ctr">
            <a:normAutofit/>
          </a:bodyPr>
          <a:lstStyle/>
          <a:p>
            <a:pPr indent="0" marL="0">
              <a:buNone/>
            </a:pPr>
            <a:r>
              <a:rPr lang="en-US" sz="1700" b="1" dirty="0">
                <a:solidFill>
                  <a:srgbClr val="0B1020"/>
                </a:solidFill>
                <a:latin typeface="Aptos" pitchFamily="34" charset="0"/>
                <a:ea typeface="Aptos" pitchFamily="34" charset="-122"/>
                <a:cs typeface="Aptos" pitchFamily="34" charset="-120"/>
              </a:rPr>
              <a:t>HEALTHY</a:t>
            </a:r>
            <a:endParaRPr lang="en-US" sz="1700" dirty="0"/>
          </a:p>
        </p:txBody>
      </p:sp>
      <p:sp>
        <p:nvSpPr>
          <p:cNvPr id="10" name="Text 8"/>
          <p:cNvSpPr/>
          <p:nvPr/>
        </p:nvSpPr>
        <p:spPr>
          <a:xfrm>
            <a:off x="722376" y="3776472"/>
            <a:ext cx="1773936" cy="585216"/>
          </a:xfrm>
          <a:prstGeom prst="rect">
            <a:avLst/>
          </a:prstGeom>
          <a:noFill/>
          <a:ln/>
        </p:spPr>
        <p:txBody>
          <a:bodyPr wrap="square" lIns="0" tIns="0" rIns="0" bIns="0" rtlCol="0" anchor="t">
            <a:normAutofit/>
          </a:bodyPr>
          <a:lstStyle/>
          <a:p>
            <a:pPr indent="0" marL="0">
              <a:buNone/>
            </a:pPr>
            <a:r>
              <a:rPr lang="en-US" sz="1310" dirty="0">
                <a:solidFill>
                  <a:srgbClr val="64748B"/>
                </a:solidFill>
                <a:latin typeface="Aptos" pitchFamily="34" charset="0"/>
                <a:ea typeface="Aptos" pitchFamily="34" charset="-122"/>
                <a:cs typeface="Aptos" pitchFamily="34" charset="-120"/>
              </a:rPr>
              <a:t>API ↔ Redis</a:t>
            </a:r>
            <a:endParaRPr lang="en-US" sz="1310" dirty="0"/>
          </a:p>
          <a:p>
            <a:pPr indent="0" marL="0">
              <a:buNone/>
            </a:pPr>
            <a:r>
              <a:rPr lang="en-US" sz="1310" dirty="0">
                <a:solidFill>
                  <a:srgbClr val="64748B"/>
                </a:solidFill>
                <a:latin typeface="Aptos" pitchFamily="34" charset="0"/>
                <a:ea typeface="Aptos" pitchFamily="34" charset="-122"/>
                <a:cs typeface="Aptos" pitchFamily="34" charset="-120"/>
              </a:rPr>
              <a:t>probes correct</a:t>
            </a:r>
            <a:endParaRPr lang="en-US" sz="1310" dirty="0"/>
          </a:p>
        </p:txBody>
      </p:sp>
      <p:sp>
        <p:nvSpPr>
          <p:cNvPr id="11" name="Shape 9"/>
          <p:cNvSpPr/>
          <p:nvPr/>
        </p:nvSpPr>
        <p:spPr>
          <a:xfrm>
            <a:off x="2679192" y="3520440"/>
            <a:ext cx="155448" cy="0"/>
          </a:xfrm>
          <a:prstGeom prst="line">
            <a:avLst/>
          </a:prstGeom>
          <a:noFill/>
          <a:ln w="25400">
            <a:solidFill>
              <a:srgbClr val="2563EB"/>
            </a:solidFill>
            <a:prstDash val="solid"/>
            <a:tailEnd type="triangle"/>
          </a:ln>
        </p:spPr>
      </p:sp>
      <p:sp>
        <p:nvSpPr>
          <p:cNvPr id="12" name="Shape 10"/>
          <p:cNvSpPr/>
          <p:nvPr/>
        </p:nvSpPr>
        <p:spPr>
          <a:xfrm>
            <a:off x="2852928" y="2514600"/>
            <a:ext cx="2148840" cy="2039112"/>
          </a:xfrm>
          <a:prstGeom prst="roundRect">
            <a:avLst>
              <a:gd name="adj" fmla="val 5830"/>
            </a:avLst>
          </a:prstGeom>
          <a:solidFill>
            <a:srgbClr val="FFFFFF"/>
          </a:solidFill>
          <a:ln w="12700">
            <a:solidFill>
              <a:srgbClr val="E5EAF2"/>
            </a:solidFill>
            <a:prstDash val="solid"/>
          </a:ln>
        </p:spPr>
      </p:sp>
      <p:sp>
        <p:nvSpPr>
          <p:cNvPr id="13" name="Shape 11"/>
          <p:cNvSpPr/>
          <p:nvPr/>
        </p:nvSpPr>
        <p:spPr>
          <a:xfrm>
            <a:off x="3035808" y="2734056"/>
            <a:ext cx="438912" cy="384048"/>
          </a:xfrm>
          <a:prstGeom prst="roundRect">
            <a:avLst>
              <a:gd name="adj" fmla="val 21429"/>
            </a:avLst>
          </a:prstGeom>
          <a:solidFill>
            <a:srgbClr val="B45309"/>
          </a:solidFill>
          <a:ln w="12700">
            <a:solidFill>
              <a:srgbClr val="B45309"/>
            </a:solidFill>
            <a:prstDash val="solid"/>
          </a:ln>
        </p:spPr>
      </p:sp>
      <p:sp>
        <p:nvSpPr>
          <p:cNvPr id="14" name="Text 12"/>
          <p:cNvSpPr/>
          <p:nvPr/>
        </p:nvSpPr>
        <p:spPr>
          <a:xfrm>
            <a:off x="3081528" y="2807208"/>
            <a:ext cx="356616" cy="210312"/>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02</a:t>
            </a:r>
            <a:endParaRPr lang="en-US" sz="1250" dirty="0"/>
          </a:p>
        </p:txBody>
      </p:sp>
      <p:sp>
        <p:nvSpPr>
          <p:cNvPr id="15" name="Text 13"/>
          <p:cNvSpPr/>
          <p:nvPr/>
        </p:nvSpPr>
        <p:spPr>
          <a:xfrm>
            <a:off x="3054096" y="3282696"/>
            <a:ext cx="1810512" cy="320040"/>
          </a:xfrm>
          <a:prstGeom prst="rect">
            <a:avLst/>
          </a:prstGeom>
          <a:noFill/>
          <a:ln/>
        </p:spPr>
        <p:txBody>
          <a:bodyPr wrap="square" lIns="0" tIns="0" rIns="0" bIns="0" rtlCol="0" anchor="ctr">
            <a:normAutofit/>
          </a:bodyPr>
          <a:lstStyle/>
          <a:p>
            <a:pPr indent="0" marL="0">
              <a:buNone/>
            </a:pPr>
            <a:r>
              <a:rPr lang="en-US" sz="1700" b="1" dirty="0">
                <a:solidFill>
                  <a:srgbClr val="0B1020"/>
                </a:solidFill>
                <a:latin typeface="Aptos" pitchFamily="34" charset="0"/>
                <a:ea typeface="Aptos" pitchFamily="34" charset="-122"/>
                <a:cs typeface="Aptos" pitchFamily="34" charset="-120"/>
              </a:rPr>
              <a:t>FAULT</a:t>
            </a:r>
            <a:endParaRPr lang="en-US" sz="1700" dirty="0"/>
          </a:p>
        </p:txBody>
      </p:sp>
      <p:sp>
        <p:nvSpPr>
          <p:cNvPr id="16" name="Text 14"/>
          <p:cNvSpPr/>
          <p:nvPr/>
        </p:nvSpPr>
        <p:spPr>
          <a:xfrm>
            <a:off x="3054096" y="3776472"/>
            <a:ext cx="1773936" cy="585216"/>
          </a:xfrm>
          <a:prstGeom prst="rect">
            <a:avLst/>
          </a:prstGeom>
          <a:noFill/>
          <a:ln/>
        </p:spPr>
        <p:txBody>
          <a:bodyPr wrap="square" lIns="0" tIns="0" rIns="0" bIns="0" rtlCol="0" anchor="t">
            <a:normAutofit/>
          </a:bodyPr>
          <a:lstStyle/>
          <a:p>
            <a:pPr indent="0" marL="0">
              <a:buNone/>
            </a:pPr>
            <a:r>
              <a:rPr lang="en-US" sz="1310" dirty="0">
                <a:solidFill>
                  <a:srgbClr val="64748B"/>
                </a:solidFill>
                <a:latin typeface="Aptos" pitchFamily="34" charset="0"/>
                <a:ea typeface="Aptos" pitchFamily="34" charset="-122"/>
                <a:cs typeface="Aptos" pitchFamily="34" charset="-120"/>
              </a:rPr>
              <a:t>Probe points to</a:t>
            </a:r>
            <a:endParaRPr lang="en-US" sz="1310" dirty="0"/>
          </a:p>
          <a:p>
            <a:pPr indent="0" marL="0">
              <a:buNone/>
            </a:pPr>
            <a:r>
              <a:rPr lang="en-US" sz="1310" dirty="0">
                <a:solidFill>
                  <a:srgbClr val="64748B"/>
                </a:solidFill>
                <a:latin typeface="Aptos" pitchFamily="34" charset="0"/>
                <a:ea typeface="Aptos" pitchFamily="34" charset="-122"/>
                <a:cs typeface="Aptos" pitchFamily="34" charset="-120"/>
              </a:rPr>
              <a:t>/readyz; Redis off</a:t>
            </a:r>
            <a:endParaRPr lang="en-US" sz="1310" dirty="0"/>
          </a:p>
        </p:txBody>
      </p:sp>
      <p:sp>
        <p:nvSpPr>
          <p:cNvPr id="17" name="Shape 15"/>
          <p:cNvSpPr/>
          <p:nvPr/>
        </p:nvSpPr>
        <p:spPr>
          <a:xfrm>
            <a:off x="5010912" y="3520440"/>
            <a:ext cx="155448" cy="0"/>
          </a:xfrm>
          <a:prstGeom prst="line">
            <a:avLst/>
          </a:prstGeom>
          <a:noFill/>
          <a:ln w="25400">
            <a:solidFill>
              <a:srgbClr val="2563EB"/>
            </a:solidFill>
            <a:prstDash val="solid"/>
            <a:tailEnd type="triangle"/>
          </a:ln>
        </p:spPr>
      </p:sp>
      <p:sp>
        <p:nvSpPr>
          <p:cNvPr id="18" name="Shape 16"/>
          <p:cNvSpPr/>
          <p:nvPr/>
        </p:nvSpPr>
        <p:spPr>
          <a:xfrm>
            <a:off x="5184648" y="2514600"/>
            <a:ext cx="2148840" cy="2039112"/>
          </a:xfrm>
          <a:prstGeom prst="roundRect">
            <a:avLst>
              <a:gd name="adj" fmla="val 5830"/>
            </a:avLst>
          </a:prstGeom>
          <a:solidFill>
            <a:srgbClr val="FFFFFF"/>
          </a:solidFill>
          <a:ln w="12700">
            <a:solidFill>
              <a:srgbClr val="E5EAF2"/>
            </a:solidFill>
            <a:prstDash val="solid"/>
          </a:ln>
        </p:spPr>
      </p:sp>
      <p:sp>
        <p:nvSpPr>
          <p:cNvPr id="19" name="Shape 17"/>
          <p:cNvSpPr/>
          <p:nvPr/>
        </p:nvSpPr>
        <p:spPr>
          <a:xfrm>
            <a:off x="5367528" y="2734056"/>
            <a:ext cx="438912" cy="384048"/>
          </a:xfrm>
          <a:prstGeom prst="roundRect">
            <a:avLst>
              <a:gd name="adj" fmla="val 21429"/>
            </a:avLst>
          </a:prstGeom>
          <a:solidFill>
            <a:srgbClr val="BE123C"/>
          </a:solidFill>
          <a:ln w="12700">
            <a:solidFill>
              <a:srgbClr val="BE123C"/>
            </a:solidFill>
            <a:prstDash val="solid"/>
          </a:ln>
        </p:spPr>
      </p:sp>
      <p:sp>
        <p:nvSpPr>
          <p:cNvPr id="20" name="Text 18"/>
          <p:cNvSpPr/>
          <p:nvPr/>
        </p:nvSpPr>
        <p:spPr>
          <a:xfrm>
            <a:off x="5413248" y="2807208"/>
            <a:ext cx="356616" cy="210312"/>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03</a:t>
            </a:r>
            <a:endParaRPr lang="en-US" sz="1250" dirty="0"/>
          </a:p>
        </p:txBody>
      </p:sp>
      <p:sp>
        <p:nvSpPr>
          <p:cNvPr id="21" name="Text 19"/>
          <p:cNvSpPr/>
          <p:nvPr/>
        </p:nvSpPr>
        <p:spPr>
          <a:xfrm>
            <a:off x="5385816" y="3282696"/>
            <a:ext cx="1810512" cy="320040"/>
          </a:xfrm>
          <a:prstGeom prst="rect">
            <a:avLst/>
          </a:prstGeom>
          <a:noFill/>
          <a:ln/>
        </p:spPr>
        <p:txBody>
          <a:bodyPr wrap="square" lIns="0" tIns="0" rIns="0" bIns="0" rtlCol="0" anchor="ctr">
            <a:normAutofit/>
          </a:bodyPr>
          <a:lstStyle/>
          <a:p>
            <a:pPr indent="0" marL="0">
              <a:buNone/>
            </a:pPr>
            <a:r>
              <a:rPr lang="en-US" sz="1700" b="1" dirty="0">
                <a:solidFill>
                  <a:srgbClr val="0B1020"/>
                </a:solidFill>
                <a:latin typeface="Aptos" pitchFamily="34" charset="0"/>
                <a:ea typeface="Aptos" pitchFamily="34" charset="-122"/>
                <a:cs typeface="Aptos" pitchFamily="34" charset="-120"/>
              </a:rPr>
              <a:t>DETECT</a:t>
            </a:r>
            <a:endParaRPr lang="en-US" sz="1700" dirty="0"/>
          </a:p>
        </p:txBody>
      </p:sp>
      <p:sp>
        <p:nvSpPr>
          <p:cNvPr id="22" name="Text 20"/>
          <p:cNvSpPr/>
          <p:nvPr/>
        </p:nvSpPr>
        <p:spPr>
          <a:xfrm>
            <a:off x="5385816" y="3776472"/>
            <a:ext cx="1773936" cy="585216"/>
          </a:xfrm>
          <a:prstGeom prst="rect">
            <a:avLst/>
          </a:prstGeom>
          <a:noFill/>
          <a:ln/>
        </p:spPr>
        <p:txBody>
          <a:bodyPr wrap="square" lIns="0" tIns="0" rIns="0" bIns="0" rtlCol="0" anchor="t">
            <a:normAutofit/>
          </a:bodyPr>
          <a:lstStyle/>
          <a:p>
            <a:pPr indent="0" marL="0">
              <a:buNone/>
            </a:pPr>
            <a:r>
              <a:rPr lang="en-US" sz="1310" dirty="0">
                <a:solidFill>
                  <a:srgbClr val="64748B"/>
                </a:solidFill>
                <a:latin typeface="Aptos" pitchFamily="34" charset="0"/>
                <a:ea typeface="Aptos" pitchFamily="34" charset="-122"/>
                <a:cs typeface="Aptos" pitchFamily="34" charset="-120"/>
              </a:rPr>
              <a:t>HTTP 503 + restart</a:t>
            </a:r>
            <a:endParaRPr lang="en-US" sz="1310" dirty="0"/>
          </a:p>
          <a:p>
            <a:pPr indent="0" marL="0">
              <a:buNone/>
            </a:pPr>
            <a:r>
              <a:rPr lang="en-US" sz="1310" dirty="0">
                <a:solidFill>
                  <a:srgbClr val="64748B"/>
                </a:solidFill>
                <a:latin typeface="Aptos" pitchFamily="34" charset="0"/>
                <a:ea typeface="Aptos" pitchFamily="34" charset="-122"/>
                <a:cs typeface="Aptos" pitchFamily="34" charset="-120"/>
              </a:rPr>
              <a:t>Grafana fires</a:t>
            </a:r>
            <a:endParaRPr lang="en-US" sz="1310" dirty="0"/>
          </a:p>
        </p:txBody>
      </p:sp>
      <p:sp>
        <p:nvSpPr>
          <p:cNvPr id="23" name="Shape 21"/>
          <p:cNvSpPr/>
          <p:nvPr/>
        </p:nvSpPr>
        <p:spPr>
          <a:xfrm>
            <a:off x="7342632" y="3520440"/>
            <a:ext cx="155448" cy="0"/>
          </a:xfrm>
          <a:prstGeom prst="line">
            <a:avLst/>
          </a:prstGeom>
          <a:noFill/>
          <a:ln w="25400">
            <a:solidFill>
              <a:srgbClr val="2563EB"/>
            </a:solidFill>
            <a:prstDash val="solid"/>
            <a:tailEnd type="triangle"/>
          </a:ln>
        </p:spPr>
      </p:sp>
      <p:sp>
        <p:nvSpPr>
          <p:cNvPr id="24" name="Shape 22"/>
          <p:cNvSpPr/>
          <p:nvPr/>
        </p:nvSpPr>
        <p:spPr>
          <a:xfrm>
            <a:off x="7516368" y="2514600"/>
            <a:ext cx="2148840" cy="2039112"/>
          </a:xfrm>
          <a:prstGeom prst="roundRect">
            <a:avLst>
              <a:gd name="adj" fmla="val 5830"/>
            </a:avLst>
          </a:prstGeom>
          <a:solidFill>
            <a:srgbClr val="FFFFFF"/>
          </a:solidFill>
          <a:ln w="12700">
            <a:solidFill>
              <a:srgbClr val="E5EAF2"/>
            </a:solidFill>
            <a:prstDash val="solid"/>
          </a:ln>
        </p:spPr>
      </p:sp>
      <p:sp>
        <p:nvSpPr>
          <p:cNvPr id="25" name="Shape 23"/>
          <p:cNvSpPr/>
          <p:nvPr/>
        </p:nvSpPr>
        <p:spPr>
          <a:xfrm>
            <a:off x="7699248" y="2734056"/>
            <a:ext cx="438912" cy="384048"/>
          </a:xfrm>
          <a:prstGeom prst="roundRect">
            <a:avLst>
              <a:gd name="adj" fmla="val 21429"/>
            </a:avLst>
          </a:prstGeom>
          <a:solidFill>
            <a:srgbClr val="7C3AED"/>
          </a:solidFill>
          <a:ln w="12700">
            <a:solidFill>
              <a:srgbClr val="7C3AED"/>
            </a:solidFill>
            <a:prstDash val="solid"/>
          </a:ln>
        </p:spPr>
      </p:sp>
      <p:sp>
        <p:nvSpPr>
          <p:cNvPr id="26" name="Text 24"/>
          <p:cNvSpPr/>
          <p:nvPr/>
        </p:nvSpPr>
        <p:spPr>
          <a:xfrm>
            <a:off x="7744968" y="2807208"/>
            <a:ext cx="356616" cy="210312"/>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04</a:t>
            </a:r>
            <a:endParaRPr lang="en-US" sz="1250" dirty="0"/>
          </a:p>
        </p:txBody>
      </p:sp>
      <p:sp>
        <p:nvSpPr>
          <p:cNvPr id="27" name="Text 25"/>
          <p:cNvSpPr/>
          <p:nvPr/>
        </p:nvSpPr>
        <p:spPr>
          <a:xfrm>
            <a:off x="7717536" y="3282696"/>
            <a:ext cx="1810512" cy="320040"/>
          </a:xfrm>
          <a:prstGeom prst="rect">
            <a:avLst/>
          </a:prstGeom>
          <a:noFill/>
          <a:ln/>
        </p:spPr>
        <p:txBody>
          <a:bodyPr wrap="square" lIns="0" tIns="0" rIns="0" bIns="0" rtlCol="0" anchor="ctr">
            <a:normAutofit/>
          </a:bodyPr>
          <a:lstStyle/>
          <a:p>
            <a:pPr indent="0" marL="0">
              <a:buNone/>
            </a:pPr>
            <a:r>
              <a:rPr lang="en-US" sz="1700" b="1" dirty="0">
                <a:solidFill>
                  <a:srgbClr val="0B1020"/>
                </a:solidFill>
                <a:latin typeface="Aptos" pitchFamily="34" charset="0"/>
                <a:ea typeface="Aptos" pitchFamily="34" charset="-122"/>
                <a:cs typeface="Aptos" pitchFamily="34" charset="-120"/>
              </a:rPr>
              <a:t>INVESTIGATE</a:t>
            </a:r>
            <a:endParaRPr lang="en-US" sz="1700" dirty="0"/>
          </a:p>
        </p:txBody>
      </p:sp>
      <p:sp>
        <p:nvSpPr>
          <p:cNvPr id="28" name="Text 26"/>
          <p:cNvSpPr/>
          <p:nvPr/>
        </p:nvSpPr>
        <p:spPr>
          <a:xfrm>
            <a:off x="7717536" y="3776472"/>
            <a:ext cx="1773936" cy="585216"/>
          </a:xfrm>
          <a:prstGeom prst="rect">
            <a:avLst/>
          </a:prstGeom>
          <a:noFill/>
          <a:ln/>
        </p:spPr>
        <p:txBody>
          <a:bodyPr wrap="square" lIns="0" tIns="0" rIns="0" bIns="0" rtlCol="0" anchor="t">
            <a:normAutofit/>
          </a:bodyPr>
          <a:lstStyle/>
          <a:p>
            <a:pPr indent="0" marL="0">
              <a:buNone/>
            </a:pPr>
            <a:r>
              <a:rPr lang="en-US" sz="1310" dirty="0">
                <a:solidFill>
                  <a:srgbClr val="64748B"/>
                </a:solidFill>
                <a:latin typeface="Aptos" pitchFamily="34" charset="0"/>
                <a:ea typeface="Aptos" pitchFamily="34" charset="-122"/>
                <a:cs typeface="Aptos" pitchFamily="34" charset="-120"/>
              </a:rPr>
              <a:t>KAOP RCA</a:t>
            </a:r>
            <a:endParaRPr lang="en-US" sz="1310" dirty="0"/>
          </a:p>
          <a:p>
            <a:pPr indent="0" marL="0">
              <a:buNone/>
            </a:pPr>
            <a:r>
              <a:rPr lang="en-US" sz="1310" dirty="0">
                <a:solidFill>
                  <a:srgbClr val="64748B"/>
                </a:solidFill>
                <a:latin typeface="Aptos" pitchFamily="34" charset="0"/>
                <a:ea typeface="Aptos" pitchFamily="34" charset="-122"/>
                <a:cs typeface="Aptos" pitchFamily="34" charset="-120"/>
              </a:rPr>
              <a:t>evidence + fix</a:t>
            </a:r>
            <a:endParaRPr lang="en-US" sz="1310" dirty="0"/>
          </a:p>
        </p:txBody>
      </p:sp>
      <p:sp>
        <p:nvSpPr>
          <p:cNvPr id="29" name="Shape 27"/>
          <p:cNvSpPr/>
          <p:nvPr/>
        </p:nvSpPr>
        <p:spPr>
          <a:xfrm>
            <a:off x="9674352" y="3520440"/>
            <a:ext cx="155448" cy="0"/>
          </a:xfrm>
          <a:prstGeom prst="line">
            <a:avLst/>
          </a:prstGeom>
          <a:noFill/>
          <a:ln w="25400">
            <a:solidFill>
              <a:srgbClr val="2563EB"/>
            </a:solidFill>
            <a:prstDash val="solid"/>
            <a:tailEnd type="triangle"/>
          </a:ln>
        </p:spPr>
      </p:sp>
      <p:sp>
        <p:nvSpPr>
          <p:cNvPr id="30" name="Shape 28"/>
          <p:cNvSpPr/>
          <p:nvPr/>
        </p:nvSpPr>
        <p:spPr>
          <a:xfrm>
            <a:off x="9848088" y="2514600"/>
            <a:ext cx="2148840" cy="2039112"/>
          </a:xfrm>
          <a:prstGeom prst="roundRect">
            <a:avLst>
              <a:gd name="adj" fmla="val 5830"/>
            </a:avLst>
          </a:prstGeom>
          <a:solidFill>
            <a:srgbClr val="FFFFFF"/>
          </a:solidFill>
          <a:ln w="12700">
            <a:solidFill>
              <a:srgbClr val="E5EAF2"/>
            </a:solidFill>
            <a:prstDash val="solid"/>
          </a:ln>
        </p:spPr>
      </p:sp>
      <p:sp>
        <p:nvSpPr>
          <p:cNvPr id="31" name="Shape 29"/>
          <p:cNvSpPr/>
          <p:nvPr/>
        </p:nvSpPr>
        <p:spPr>
          <a:xfrm>
            <a:off x="10030968" y="2734056"/>
            <a:ext cx="438912" cy="384048"/>
          </a:xfrm>
          <a:prstGeom prst="roundRect">
            <a:avLst>
              <a:gd name="adj" fmla="val 21429"/>
            </a:avLst>
          </a:prstGeom>
          <a:solidFill>
            <a:srgbClr val="047857"/>
          </a:solidFill>
          <a:ln w="12700">
            <a:solidFill>
              <a:srgbClr val="047857"/>
            </a:solidFill>
            <a:prstDash val="solid"/>
          </a:ln>
        </p:spPr>
      </p:sp>
      <p:sp>
        <p:nvSpPr>
          <p:cNvPr id="32" name="Text 30"/>
          <p:cNvSpPr/>
          <p:nvPr/>
        </p:nvSpPr>
        <p:spPr>
          <a:xfrm>
            <a:off x="10076688" y="2807208"/>
            <a:ext cx="356616" cy="210312"/>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05</a:t>
            </a:r>
            <a:endParaRPr lang="en-US" sz="1250" dirty="0"/>
          </a:p>
        </p:txBody>
      </p:sp>
      <p:sp>
        <p:nvSpPr>
          <p:cNvPr id="33" name="Text 31"/>
          <p:cNvSpPr/>
          <p:nvPr/>
        </p:nvSpPr>
        <p:spPr>
          <a:xfrm>
            <a:off x="10049256" y="3282696"/>
            <a:ext cx="1810512" cy="320040"/>
          </a:xfrm>
          <a:prstGeom prst="rect">
            <a:avLst/>
          </a:prstGeom>
          <a:noFill/>
          <a:ln/>
        </p:spPr>
        <p:txBody>
          <a:bodyPr wrap="square" lIns="0" tIns="0" rIns="0" bIns="0" rtlCol="0" anchor="ctr">
            <a:normAutofit/>
          </a:bodyPr>
          <a:lstStyle/>
          <a:p>
            <a:pPr indent="0" marL="0">
              <a:buNone/>
            </a:pPr>
            <a:r>
              <a:rPr lang="en-US" sz="1700" b="1" dirty="0">
                <a:solidFill>
                  <a:srgbClr val="0B1020"/>
                </a:solidFill>
                <a:latin typeface="Aptos" pitchFamily="34" charset="0"/>
                <a:ea typeface="Aptos" pitchFamily="34" charset="-122"/>
                <a:cs typeface="Aptos" pitchFamily="34" charset="-120"/>
              </a:rPr>
              <a:t>REVIEW</a:t>
            </a:r>
            <a:endParaRPr lang="en-US" sz="1700" dirty="0"/>
          </a:p>
        </p:txBody>
      </p:sp>
      <p:sp>
        <p:nvSpPr>
          <p:cNvPr id="34" name="Text 32"/>
          <p:cNvSpPr/>
          <p:nvPr/>
        </p:nvSpPr>
        <p:spPr>
          <a:xfrm>
            <a:off x="10049256" y="3776472"/>
            <a:ext cx="1773936" cy="585216"/>
          </a:xfrm>
          <a:prstGeom prst="rect">
            <a:avLst/>
          </a:prstGeom>
          <a:noFill/>
          <a:ln/>
        </p:spPr>
        <p:txBody>
          <a:bodyPr wrap="square" lIns="0" tIns="0" rIns="0" bIns="0" rtlCol="0" anchor="t">
            <a:normAutofit/>
          </a:bodyPr>
          <a:lstStyle/>
          <a:p>
            <a:pPr indent="0" marL="0">
              <a:buNone/>
            </a:pPr>
            <a:r>
              <a:rPr lang="en-US" sz="1310" dirty="0">
                <a:solidFill>
                  <a:srgbClr val="64748B"/>
                </a:solidFill>
                <a:latin typeface="Aptos" pitchFamily="34" charset="0"/>
                <a:ea typeface="Aptos" pitchFamily="34" charset="-122"/>
                <a:cs typeface="Aptos" pitchFamily="34" charset="-120"/>
              </a:rPr>
              <a:t>Human opens PR</a:t>
            </a:r>
            <a:endParaRPr lang="en-US" sz="1310" dirty="0"/>
          </a:p>
          <a:p>
            <a:pPr indent="0" marL="0">
              <a:buNone/>
            </a:pPr>
            <a:r>
              <a:rPr lang="en-US" sz="1310" dirty="0">
                <a:solidFill>
                  <a:srgbClr val="64748B"/>
                </a:solidFill>
                <a:latin typeface="Aptos" pitchFamily="34" charset="0"/>
                <a:ea typeface="Aptos" pitchFamily="34" charset="-122"/>
                <a:cs typeface="Aptos" pitchFamily="34" charset="-120"/>
              </a:rPr>
              <a:t>agent comment</a:t>
            </a:r>
            <a:endParaRPr lang="en-US" sz="1310" dirty="0"/>
          </a:p>
        </p:txBody>
      </p:sp>
      <p:sp>
        <p:nvSpPr>
          <p:cNvPr id="35" name="Shape 33"/>
          <p:cNvSpPr/>
          <p:nvPr/>
        </p:nvSpPr>
        <p:spPr>
          <a:xfrm>
            <a:off x="566928" y="4828032"/>
            <a:ext cx="11000232" cy="768096"/>
          </a:xfrm>
          <a:prstGeom prst="roundRect">
            <a:avLst>
              <a:gd name="adj" fmla="val 14286"/>
            </a:avLst>
          </a:prstGeom>
          <a:solidFill>
            <a:srgbClr val="15213B"/>
          </a:solidFill>
          <a:ln w="12700">
            <a:solidFill>
              <a:srgbClr val="15213B"/>
            </a:solidFill>
            <a:prstDash val="solid"/>
          </a:ln>
        </p:spPr>
      </p:sp>
      <p:sp>
        <p:nvSpPr>
          <p:cNvPr id="36" name="Text 34"/>
          <p:cNvSpPr/>
          <p:nvPr/>
        </p:nvSpPr>
        <p:spPr>
          <a:xfrm>
            <a:off x="804672" y="5047488"/>
            <a:ext cx="3227832" cy="246888"/>
          </a:xfrm>
          <a:prstGeom prst="rect">
            <a:avLst/>
          </a:prstGeom>
          <a:noFill/>
          <a:ln/>
        </p:spPr>
        <p:txBody>
          <a:bodyPr wrap="square" lIns="0" tIns="0" rIns="0" bIns="0" rtlCol="0" anchor="ctr">
            <a:normAutofit/>
          </a:bodyPr>
          <a:lstStyle/>
          <a:p>
            <a:pPr indent="0" marL="0">
              <a:buNone/>
            </a:pPr>
            <a:r>
              <a:rPr lang="en-US" sz="1310" b="1" spc="70" kern="0" dirty="0">
                <a:solidFill>
                  <a:srgbClr val="93C5FD"/>
                </a:solidFill>
                <a:latin typeface="Aptos" pitchFamily="34" charset="0"/>
                <a:ea typeface="Aptos" pitchFamily="34" charset="-122"/>
                <a:cs typeface="Aptos" pitchFamily="34" charset="-120"/>
              </a:rPr>
              <a:t>WHAT THE CUSTOMER SEES</a:t>
            </a:r>
            <a:endParaRPr lang="en-US" sz="1310" dirty="0"/>
          </a:p>
        </p:txBody>
      </p:sp>
      <p:sp>
        <p:nvSpPr>
          <p:cNvPr id="37" name="Text 35"/>
          <p:cNvSpPr/>
          <p:nvPr/>
        </p:nvSpPr>
        <p:spPr>
          <a:xfrm>
            <a:off x="3703320" y="5020056"/>
            <a:ext cx="7461504" cy="310896"/>
          </a:xfrm>
          <a:prstGeom prst="rect">
            <a:avLst/>
          </a:prstGeom>
          <a:noFill/>
          <a:ln/>
        </p:spPr>
        <p:txBody>
          <a:bodyPr wrap="square" lIns="0" tIns="0" rIns="0" bIns="0" rtlCol="0" anchor="ctr">
            <a:normAutofit/>
          </a:bodyPr>
          <a:lstStyle/>
          <a:p>
            <a:pPr indent="0" marL="0">
              <a:buNone/>
            </a:pPr>
            <a:r>
              <a:rPr lang="en-US" sz="1720" b="1" dirty="0">
                <a:solidFill>
                  <a:srgbClr val="FFFFFF"/>
                </a:solidFill>
                <a:latin typeface="Aptos" pitchFamily="34" charset="0"/>
                <a:ea typeface="Aptos" pitchFamily="34" charset="-122"/>
                <a:cs typeface="Aptos" pitchFamily="34" charset="-120"/>
              </a:rPr>
              <a:t>Evidence  →  Root cause  →  Controlled action  →  Recorded outcome</a:t>
            </a:r>
            <a:endParaRPr lang="en-US" sz="1720" dirty="0"/>
          </a:p>
        </p:txBody>
      </p:sp>
      <p:sp>
        <p:nvSpPr>
          <p:cNvPr id="38" name="Text 36"/>
          <p:cNvSpPr/>
          <p:nvPr/>
        </p:nvSpPr>
        <p:spPr>
          <a:xfrm>
            <a:off x="603504" y="5806440"/>
            <a:ext cx="10972800" cy="338328"/>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Historical lab: 2 restarts + Grafana Alerting. KAOP verification pending.</a:t>
            </a:r>
            <a:endParaRPr lang="en-US" sz="1300" dirty="0"/>
          </a:p>
        </p:txBody>
      </p:sp>
      <p:sp>
        <p:nvSpPr>
          <p:cNvPr id="39" name="Shape 37"/>
          <p:cNvSpPr/>
          <p:nvPr/>
        </p:nvSpPr>
        <p:spPr>
          <a:xfrm>
            <a:off x="548640" y="6455664"/>
            <a:ext cx="11082528" cy="0"/>
          </a:xfrm>
          <a:prstGeom prst="line">
            <a:avLst/>
          </a:prstGeom>
          <a:noFill/>
          <a:ln w="10160">
            <a:solidFill>
              <a:srgbClr val="E4E9F2"/>
            </a:solidFill>
            <a:prstDash val="solid"/>
          </a:ln>
        </p:spPr>
      </p:sp>
      <p:sp>
        <p:nvSpPr>
          <p:cNvPr id="40" name="Text 38"/>
          <p:cNvSpPr/>
          <p:nvPr/>
        </p:nvSpPr>
        <p:spPr>
          <a:xfrm>
            <a:off x="548640" y="6510528"/>
            <a:ext cx="7315200" cy="182880"/>
          </a:xfrm>
          <a:prstGeom prst="rect">
            <a:avLst/>
          </a:prstGeom>
          <a:noFill/>
          <a:ln/>
        </p:spPr>
        <p:txBody>
          <a:bodyPr wrap="square" lIns="0" tIns="0" rIns="0" bIns="0" rtlCol="0" anchor="ctr">
            <a:normAutofit/>
          </a:bodyPr>
          <a:lstStyle/>
          <a:p>
            <a:pPr indent="0" marL="0">
              <a:buNone/>
            </a:pPr>
            <a:r>
              <a:rPr lang="en-US" sz="900" spc="105" kern="0" dirty="0">
                <a:solidFill>
                  <a:srgbClr val="95A3B6"/>
                </a:solidFill>
                <a:latin typeface="Aptos" pitchFamily="34" charset="0"/>
                <a:ea typeface="Aptos" pitchFamily="34" charset="-122"/>
                <a:cs typeface="Aptos" pitchFamily="34" charset="-120"/>
              </a:rPr>
              <a:t>PLATFORM ENGINEERING  •  CUSTOMER DISCUSSION</a:t>
            </a:r>
            <a:endParaRPr lang="en-US" sz="900" dirty="0"/>
          </a:p>
        </p:txBody>
      </p:sp>
      <p:sp>
        <p:nvSpPr>
          <p:cNvPr id="41" name="Text 39"/>
          <p:cNvSpPr/>
          <p:nvPr/>
        </p:nvSpPr>
        <p:spPr>
          <a:xfrm>
            <a:off x="11064240" y="6510528"/>
            <a:ext cx="594360" cy="173736"/>
          </a:xfrm>
          <a:prstGeom prst="rect">
            <a:avLst/>
          </a:prstGeom>
          <a:noFill/>
          <a:ln/>
        </p:spPr>
        <p:txBody>
          <a:bodyPr wrap="square" lIns="0" tIns="0" rIns="0" bIns="0" rtlCol="0" anchor="ctr">
            <a:normAutofit/>
          </a:bodyPr>
          <a:lstStyle/>
          <a:p>
            <a:pPr algn="r" indent="0" marL="0">
              <a:buNone/>
            </a:pPr>
            <a:r>
              <a:rPr lang="en-US" sz="900" dirty="0">
                <a:solidFill>
                  <a:srgbClr val="95A3B6"/>
                </a:solidFill>
                <a:latin typeface="Aptos" pitchFamily="34" charset="0"/>
                <a:ea typeface="Aptos" pitchFamily="34" charset="-122"/>
                <a:cs typeface="Aptos" pitchFamily="34" charset="-120"/>
              </a:rPr>
              <a:t>6 / 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30352" y="292608"/>
            <a:ext cx="3474720" cy="246888"/>
          </a:xfrm>
          <a:prstGeom prst="rect">
            <a:avLst/>
          </a:prstGeom>
          <a:noFill/>
          <a:ln/>
        </p:spPr>
        <p:txBody>
          <a:bodyPr wrap="square" lIns="0" tIns="0" rIns="0" bIns="0" rtlCol="0" anchor="ctr">
            <a:normAutofit/>
          </a:bodyPr>
          <a:lstStyle/>
          <a:p>
            <a:pPr indent="0" marL="0">
              <a:buNone/>
            </a:pPr>
            <a:r>
              <a:rPr lang="en-US" sz="1250" b="1" spc="200" kern="0" dirty="0">
                <a:solidFill>
                  <a:srgbClr val="2563EB"/>
                </a:solidFill>
                <a:latin typeface="Aptos" pitchFamily="34" charset="0"/>
                <a:ea typeface="Aptos" pitchFamily="34" charset="-122"/>
                <a:cs typeface="Aptos" pitchFamily="34" charset="-120"/>
              </a:rPr>
              <a:t>KAOP  /  KOMODOR</a:t>
            </a:r>
            <a:endParaRPr lang="en-US" sz="1250" dirty="0"/>
          </a:p>
        </p:txBody>
      </p:sp>
      <p:sp>
        <p:nvSpPr>
          <p:cNvPr id="3" name="Text 1"/>
          <p:cNvSpPr/>
          <p:nvPr/>
        </p:nvSpPr>
        <p:spPr>
          <a:xfrm>
            <a:off x="10835640" y="292608"/>
            <a:ext cx="822960" cy="228600"/>
          </a:xfrm>
          <a:prstGeom prst="rect">
            <a:avLst/>
          </a:prstGeom>
          <a:noFill/>
          <a:ln/>
        </p:spPr>
        <p:txBody>
          <a:bodyPr wrap="square" lIns="0" tIns="0" rIns="0" bIns="0" rtlCol="0" anchor="ctr">
            <a:normAutofit/>
          </a:bodyPr>
          <a:lstStyle/>
          <a:p>
            <a:pPr algn="r" indent="0" marL="0">
              <a:buNone/>
            </a:pPr>
            <a:r>
              <a:rPr lang="en-US" sz="1000" spc="100" kern="0" dirty="0">
                <a:solidFill>
                  <a:srgbClr val="64748B"/>
                </a:solidFill>
                <a:latin typeface="Aptos" pitchFamily="34" charset="0"/>
                <a:ea typeface="Aptos" pitchFamily="34" charset="-122"/>
                <a:cs typeface="Aptos" pitchFamily="34" charset="-120"/>
              </a:rPr>
              <a:t>07 / 07</a:t>
            </a:r>
            <a:endParaRPr lang="en-US" sz="1000" dirty="0"/>
          </a:p>
        </p:txBody>
      </p:sp>
      <p:sp>
        <p:nvSpPr>
          <p:cNvPr id="4" name="Text 2"/>
          <p:cNvSpPr/>
          <p:nvPr/>
        </p:nvSpPr>
        <p:spPr>
          <a:xfrm>
            <a:off x="530352" y="914400"/>
            <a:ext cx="11064240" cy="1097280"/>
          </a:xfrm>
          <a:prstGeom prst="rect">
            <a:avLst/>
          </a:prstGeom>
          <a:noFill/>
          <a:ln/>
        </p:spPr>
        <p:txBody>
          <a:bodyPr wrap="square" lIns="0" tIns="0" rIns="0" bIns="0" rtlCol="0" anchor="t">
            <a:normAutofit/>
          </a:bodyPr>
          <a:lstStyle/>
          <a:p>
            <a:pPr indent="0" marL="0">
              <a:buNone/>
            </a:pPr>
            <a:r>
              <a:rPr lang="en-US" sz="3100" b="1" dirty="0">
                <a:solidFill>
                  <a:srgbClr val="111827"/>
                </a:solidFill>
                <a:latin typeface="Aptos Display" pitchFamily="34" charset="0"/>
                <a:ea typeface="Aptos Display" pitchFamily="34" charset="-122"/>
                <a:cs typeface="Aptos Display" pitchFamily="34" charset="-120"/>
              </a:rPr>
              <a:t>Start with one owner and a measurable pilot.</a:t>
            </a:r>
            <a:endParaRPr lang="en-US" sz="3100" dirty="0"/>
          </a:p>
        </p:txBody>
      </p:sp>
      <p:sp>
        <p:nvSpPr>
          <p:cNvPr id="5" name="Text 3"/>
          <p:cNvSpPr/>
          <p:nvPr/>
        </p:nvSpPr>
        <p:spPr>
          <a:xfrm>
            <a:off x="548640" y="1828800"/>
            <a:ext cx="10972800" cy="530352"/>
          </a:xfrm>
          <a:prstGeom prst="rect">
            <a:avLst/>
          </a:prstGeom>
          <a:noFill/>
          <a:ln/>
        </p:spPr>
        <p:txBody>
          <a:bodyPr wrap="square" lIns="0" tIns="0" rIns="0" bIns="0" rtlCol="0" anchor="t">
            <a:normAutofit/>
          </a:bodyPr>
          <a:lstStyle/>
          <a:p>
            <a:pPr indent="0" marL="0">
              <a:buNone/>
            </a:pPr>
            <a:r>
              <a:rPr lang="en-US" sz="1450" dirty="0">
                <a:solidFill>
                  <a:srgbClr val="64748B"/>
                </a:solidFill>
                <a:latin typeface="Aptos" pitchFamily="34" charset="0"/>
                <a:ea typeface="Aptos" pitchFamily="34" charset="-122"/>
                <a:cs typeface="Aptos" pitchFamily="34" charset="-120"/>
              </a:rPr>
              <a:t>Two-week pilot: one owned workflow, scoped authority and agreed evidence.</a:t>
            </a:r>
            <a:endParaRPr lang="en-US" sz="1450" dirty="0"/>
          </a:p>
        </p:txBody>
      </p:sp>
      <p:sp>
        <p:nvSpPr>
          <p:cNvPr id="6" name="Shape 4"/>
          <p:cNvSpPr/>
          <p:nvPr/>
        </p:nvSpPr>
        <p:spPr>
          <a:xfrm>
            <a:off x="566928" y="2350008"/>
            <a:ext cx="3575304" cy="2331720"/>
          </a:xfrm>
          <a:prstGeom prst="roundRect">
            <a:avLst>
              <a:gd name="adj" fmla="val 5098"/>
            </a:avLst>
          </a:prstGeom>
          <a:solidFill>
            <a:srgbClr val="FFFFFF"/>
          </a:solidFill>
          <a:ln w="12700">
            <a:solidFill>
              <a:srgbClr val="E5EAF2"/>
            </a:solidFill>
            <a:prstDash val="solid"/>
          </a:ln>
        </p:spPr>
      </p:sp>
      <p:sp>
        <p:nvSpPr>
          <p:cNvPr id="7" name="Shape 5"/>
          <p:cNvSpPr/>
          <p:nvPr/>
        </p:nvSpPr>
        <p:spPr>
          <a:xfrm>
            <a:off x="777240" y="2587752"/>
            <a:ext cx="594360" cy="329184"/>
          </a:xfrm>
          <a:prstGeom prst="roundRect">
            <a:avLst>
              <a:gd name="adj" fmla="val 38889"/>
            </a:avLst>
          </a:prstGeom>
          <a:solidFill>
            <a:srgbClr val="DBEAFE"/>
          </a:solidFill>
          <a:ln w="12700">
            <a:solidFill>
              <a:srgbClr val="DBEAFE"/>
            </a:solidFill>
            <a:prstDash val="solid"/>
          </a:ln>
        </p:spPr>
      </p:sp>
      <p:sp>
        <p:nvSpPr>
          <p:cNvPr id="8" name="Text 6"/>
          <p:cNvSpPr/>
          <p:nvPr/>
        </p:nvSpPr>
        <p:spPr>
          <a:xfrm>
            <a:off x="886968" y="2647188"/>
            <a:ext cx="374904" cy="210312"/>
          </a:xfrm>
          <a:prstGeom prst="rect">
            <a:avLst/>
          </a:prstGeom>
          <a:noFill/>
          <a:ln/>
        </p:spPr>
        <p:txBody>
          <a:bodyPr wrap="square" lIns="0" tIns="0" rIns="0" bIns="0" rtlCol="0" anchor="ctr">
            <a:normAutofit/>
          </a:bodyPr>
          <a:lstStyle/>
          <a:p>
            <a:pPr algn="ctr" indent="0" marL="0">
              <a:buNone/>
            </a:pPr>
            <a:r>
              <a:rPr lang="en-US" sz="1020" b="1" spc="70" kern="0" dirty="0">
                <a:solidFill>
                  <a:srgbClr val="2563EB"/>
                </a:solidFill>
                <a:latin typeface="Aptos" pitchFamily="34" charset="0"/>
                <a:ea typeface="Aptos" pitchFamily="34" charset="-122"/>
                <a:cs typeface="Aptos" pitchFamily="34" charset="-120"/>
              </a:rPr>
              <a:t>01</a:t>
            </a:r>
            <a:endParaRPr lang="en-US" sz="1020" dirty="0"/>
          </a:p>
        </p:txBody>
      </p:sp>
      <p:sp>
        <p:nvSpPr>
          <p:cNvPr id="9" name="Text 7"/>
          <p:cNvSpPr/>
          <p:nvPr/>
        </p:nvSpPr>
        <p:spPr>
          <a:xfrm>
            <a:off x="786384" y="3054096"/>
            <a:ext cx="3017520" cy="310896"/>
          </a:xfrm>
          <a:prstGeom prst="rect">
            <a:avLst/>
          </a:prstGeom>
          <a:noFill/>
          <a:ln/>
        </p:spPr>
        <p:txBody>
          <a:bodyPr wrap="square" lIns="0" tIns="0" rIns="0" bIns="0" rtlCol="0" anchor="ctr">
            <a:normAutofit/>
          </a:bodyPr>
          <a:lstStyle/>
          <a:p>
            <a:pPr indent="0" marL="0">
              <a:buNone/>
            </a:pPr>
            <a:r>
              <a:rPr lang="en-US" sz="1900" b="1" dirty="0">
                <a:solidFill>
                  <a:srgbClr val="0B1020"/>
                </a:solidFill>
                <a:latin typeface="Aptos" pitchFamily="34" charset="0"/>
                <a:ea typeface="Aptos" pitchFamily="34" charset="-122"/>
                <a:cs typeface="Aptos" pitchFamily="34" charset="-120"/>
              </a:rPr>
              <a:t>PROVE</a:t>
            </a:r>
            <a:endParaRPr lang="en-US" sz="1900" dirty="0"/>
          </a:p>
        </p:txBody>
      </p:sp>
      <p:sp>
        <p:nvSpPr>
          <p:cNvPr id="10" name="Text 8"/>
          <p:cNvSpPr/>
          <p:nvPr/>
        </p:nvSpPr>
        <p:spPr>
          <a:xfrm>
            <a:off x="786384" y="3602736"/>
            <a:ext cx="3108960" cy="329184"/>
          </a:xfrm>
          <a:prstGeom prst="rect">
            <a:avLst/>
          </a:prstGeom>
          <a:noFill/>
          <a:ln/>
        </p:spPr>
        <p:txBody>
          <a:bodyPr wrap="square" lIns="0" tIns="0" rIns="0" bIns="0" rtlCol="0" anchor="ctr">
            <a:normAutofit/>
          </a:bodyPr>
          <a:lstStyle/>
          <a:p>
            <a:pPr indent="0" marL="0">
              <a:buNone/>
            </a:pPr>
            <a:r>
              <a:rPr lang="en-US" sz="1390" dirty="0">
                <a:solidFill>
                  <a:srgbClr val="64748B"/>
                </a:solidFill>
                <a:latin typeface="Aptos" pitchFamily="34" charset="0"/>
                <a:ea typeface="Aptos" pitchFamily="34" charset="-122"/>
                <a:cs typeface="Aptos" pitchFamily="34" charset="-120"/>
              </a:rPr>
              <a:t>One alert → credible RCA</a:t>
            </a:r>
            <a:endParaRPr lang="en-US" sz="1390" dirty="0"/>
          </a:p>
        </p:txBody>
      </p:sp>
      <p:sp>
        <p:nvSpPr>
          <p:cNvPr id="11" name="Text 9"/>
          <p:cNvSpPr/>
          <p:nvPr/>
        </p:nvSpPr>
        <p:spPr>
          <a:xfrm>
            <a:off x="786384" y="4078224"/>
            <a:ext cx="3118104" cy="338328"/>
          </a:xfrm>
          <a:prstGeom prst="rect">
            <a:avLst/>
          </a:prstGeom>
          <a:noFill/>
          <a:ln/>
        </p:spPr>
        <p:txBody>
          <a:bodyPr wrap="square" lIns="0" tIns="0" rIns="0" bIns="0" rtlCol="0" anchor="ctr">
            <a:normAutofit/>
          </a:bodyPr>
          <a:lstStyle/>
          <a:p>
            <a:pPr indent="0" marL="0">
              <a:buNone/>
            </a:pPr>
            <a:r>
              <a:rPr lang="en-US" sz="1300" b="1" dirty="0">
                <a:solidFill>
                  <a:srgbClr val="0F766E"/>
                </a:solidFill>
                <a:latin typeface="Aptos" pitchFamily="34" charset="0"/>
                <a:ea typeface="Aptos" pitchFamily="34" charset="-122"/>
                <a:cs typeface="Aptos" pitchFamily="34" charset="-120"/>
              </a:rPr>
              <a:t>One PR → useful review</a:t>
            </a:r>
            <a:endParaRPr lang="en-US" sz="1300" dirty="0"/>
          </a:p>
        </p:txBody>
      </p:sp>
      <p:sp>
        <p:nvSpPr>
          <p:cNvPr id="12" name="Shape 10"/>
          <p:cNvSpPr/>
          <p:nvPr/>
        </p:nvSpPr>
        <p:spPr>
          <a:xfrm>
            <a:off x="4389120" y="2350008"/>
            <a:ext cx="3575304" cy="2331720"/>
          </a:xfrm>
          <a:prstGeom prst="roundRect">
            <a:avLst>
              <a:gd name="adj" fmla="val 5098"/>
            </a:avLst>
          </a:prstGeom>
          <a:solidFill>
            <a:srgbClr val="FFFFFF"/>
          </a:solidFill>
          <a:ln w="12700">
            <a:solidFill>
              <a:srgbClr val="E5EAF2"/>
            </a:solidFill>
            <a:prstDash val="solid"/>
          </a:ln>
        </p:spPr>
      </p:sp>
      <p:sp>
        <p:nvSpPr>
          <p:cNvPr id="13" name="Shape 11"/>
          <p:cNvSpPr/>
          <p:nvPr/>
        </p:nvSpPr>
        <p:spPr>
          <a:xfrm>
            <a:off x="4599432" y="2587752"/>
            <a:ext cx="594360" cy="329184"/>
          </a:xfrm>
          <a:prstGeom prst="roundRect">
            <a:avLst>
              <a:gd name="adj" fmla="val 38889"/>
            </a:avLst>
          </a:prstGeom>
          <a:solidFill>
            <a:srgbClr val="DBEAFE"/>
          </a:solidFill>
          <a:ln w="12700">
            <a:solidFill>
              <a:srgbClr val="DBEAFE"/>
            </a:solidFill>
            <a:prstDash val="solid"/>
          </a:ln>
        </p:spPr>
      </p:sp>
      <p:sp>
        <p:nvSpPr>
          <p:cNvPr id="14" name="Text 12"/>
          <p:cNvSpPr/>
          <p:nvPr/>
        </p:nvSpPr>
        <p:spPr>
          <a:xfrm>
            <a:off x="4709160" y="2647188"/>
            <a:ext cx="374904" cy="210312"/>
          </a:xfrm>
          <a:prstGeom prst="rect">
            <a:avLst/>
          </a:prstGeom>
          <a:noFill/>
          <a:ln/>
        </p:spPr>
        <p:txBody>
          <a:bodyPr wrap="square" lIns="0" tIns="0" rIns="0" bIns="0" rtlCol="0" anchor="ctr">
            <a:normAutofit/>
          </a:bodyPr>
          <a:lstStyle/>
          <a:p>
            <a:pPr algn="ctr" indent="0" marL="0">
              <a:buNone/>
            </a:pPr>
            <a:r>
              <a:rPr lang="en-US" sz="1020" b="1" spc="70" kern="0" dirty="0">
                <a:solidFill>
                  <a:srgbClr val="2563EB"/>
                </a:solidFill>
                <a:latin typeface="Aptos" pitchFamily="34" charset="0"/>
                <a:ea typeface="Aptos" pitchFamily="34" charset="-122"/>
                <a:cs typeface="Aptos" pitchFamily="34" charset="-120"/>
              </a:rPr>
              <a:t>02</a:t>
            </a:r>
            <a:endParaRPr lang="en-US" sz="1020" dirty="0"/>
          </a:p>
        </p:txBody>
      </p:sp>
      <p:sp>
        <p:nvSpPr>
          <p:cNvPr id="15" name="Text 13"/>
          <p:cNvSpPr/>
          <p:nvPr/>
        </p:nvSpPr>
        <p:spPr>
          <a:xfrm>
            <a:off x="4608576" y="3054096"/>
            <a:ext cx="3017520" cy="310896"/>
          </a:xfrm>
          <a:prstGeom prst="rect">
            <a:avLst/>
          </a:prstGeom>
          <a:noFill/>
          <a:ln/>
        </p:spPr>
        <p:txBody>
          <a:bodyPr wrap="square" lIns="0" tIns="0" rIns="0" bIns="0" rtlCol="0" anchor="ctr">
            <a:normAutofit/>
          </a:bodyPr>
          <a:lstStyle/>
          <a:p>
            <a:pPr indent="0" marL="0">
              <a:buNone/>
            </a:pPr>
            <a:r>
              <a:rPr lang="en-US" sz="1900" b="1" dirty="0">
                <a:solidFill>
                  <a:srgbClr val="0B1020"/>
                </a:solidFill>
                <a:latin typeface="Aptos" pitchFamily="34" charset="0"/>
                <a:ea typeface="Aptos" pitchFamily="34" charset="-122"/>
                <a:cs typeface="Aptos" pitchFamily="34" charset="-120"/>
              </a:rPr>
              <a:t>CONTROL</a:t>
            </a:r>
            <a:endParaRPr lang="en-US" sz="1900" dirty="0"/>
          </a:p>
        </p:txBody>
      </p:sp>
      <p:sp>
        <p:nvSpPr>
          <p:cNvPr id="16" name="Text 14"/>
          <p:cNvSpPr/>
          <p:nvPr/>
        </p:nvSpPr>
        <p:spPr>
          <a:xfrm>
            <a:off x="4608576" y="3602736"/>
            <a:ext cx="3108960" cy="329184"/>
          </a:xfrm>
          <a:prstGeom prst="rect">
            <a:avLst/>
          </a:prstGeom>
          <a:noFill/>
          <a:ln/>
        </p:spPr>
        <p:txBody>
          <a:bodyPr wrap="square" lIns="0" tIns="0" rIns="0" bIns="0" rtlCol="0" anchor="ctr">
            <a:normAutofit/>
          </a:bodyPr>
          <a:lstStyle/>
          <a:p>
            <a:pPr indent="0" marL="0">
              <a:buNone/>
            </a:pPr>
            <a:r>
              <a:rPr lang="en-US" sz="1390" dirty="0">
                <a:solidFill>
                  <a:srgbClr val="64748B"/>
                </a:solidFill>
                <a:latin typeface="Aptos" pitchFamily="34" charset="0"/>
                <a:ea typeface="Aptos" pitchFamily="34" charset="-122"/>
                <a:cs typeface="Aptos" pitchFamily="34" charset="-120"/>
              </a:rPr>
              <a:t>Tool reach is explicit</a:t>
            </a:r>
            <a:endParaRPr lang="en-US" sz="1390" dirty="0"/>
          </a:p>
        </p:txBody>
      </p:sp>
      <p:sp>
        <p:nvSpPr>
          <p:cNvPr id="17" name="Text 15"/>
          <p:cNvSpPr/>
          <p:nvPr/>
        </p:nvSpPr>
        <p:spPr>
          <a:xfrm>
            <a:off x="4608576" y="4078224"/>
            <a:ext cx="3118104" cy="338328"/>
          </a:xfrm>
          <a:prstGeom prst="rect">
            <a:avLst/>
          </a:prstGeom>
          <a:noFill/>
          <a:ln/>
        </p:spPr>
        <p:txBody>
          <a:bodyPr wrap="square" lIns="0" tIns="0" rIns="0" bIns="0" rtlCol="0" anchor="ctr">
            <a:normAutofit/>
          </a:bodyPr>
          <a:lstStyle/>
          <a:p>
            <a:pPr indent="0" marL="0">
              <a:buNone/>
            </a:pPr>
            <a:r>
              <a:rPr lang="en-US" sz="1300" b="1" dirty="0">
                <a:solidFill>
                  <a:srgbClr val="0F766E"/>
                </a:solidFill>
                <a:latin typeface="Aptos" pitchFamily="34" charset="0"/>
                <a:ea typeface="Aptos" pitchFamily="34" charset="-122"/>
                <a:cs typeface="Aptos" pitchFamily="34" charset="-120"/>
              </a:rPr>
              <a:t>Gate higher-risk actions</a:t>
            </a:r>
            <a:endParaRPr lang="en-US" sz="1300" dirty="0"/>
          </a:p>
        </p:txBody>
      </p:sp>
      <p:sp>
        <p:nvSpPr>
          <p:cNvPr id="18" name="Shape 16"/>
          <p:cNvSpPr/>
          <p:nvPr/>
        </p:nvSpPr>
        <p:spPr>
          <a:xfrm>
            <a:off x="8211312" y="2350008"/>
            <a:ext cx="3575304" cy="2331720"/>
          </a:xfrm>
          <a:prstGeom prst="roundRect">
            <a:avLst>
              <a:gd name="adj" fmla="val 5098"/>
            </a:avLst>
          </a:prstGeom>
          <a:solidFill>
            <a:srgbClr val="FFFFFF"/>
          </a:solidFill>
          <a:ln w="12700">
            <a:solidFill>
              <a:srgbClr val="E5EAF2"/>
            </a:solidFill>
            <a:prstDash val="solid"/>
          </a:ln>
        </p:spPr>
      </p:sp>
      <p:sp>
        <p:nvSpPr>
          <p:cNvPr id="19" name="Shape 17"/>
          <p:cNvSpPr/>
          <p:nvPr/>
        </p:nvSpPr>
        <p:spPr>
          <a:xfrm>
            <a:off x="8421624" y="2587752"/>
            <a:ext cx="594360" cy="329184"/>
          </a:xfrm>
          <a:prstGeom prst="roundRect">
            <a:avLst>
              <a:gd name="adj" fmla="val 38889"/>
            </a:avLst>
          </a:prstGeom>
          <a:solidFill>
            <a:srgbClr val="DBEAFE"/>
          </a:solidFill>
          <a:ln w="12700">
            <a:solidFill>
              <a:srgbClr val="DBEAFE"/>
            </a:solidFill>
            <a:prstDash val="solid"/>
          </a:ln>
        </p:spPr>
      </p:sp>
      <p:sp>
        <p:nvSpPr>
          <p:cNvPr id="20" name="Text 18"/>
          <p:cNvSpPr/>
          <p:nvPr/>
        </p:nvSpPr>
        <p:spPr>
          <a:xfrm>
            <a:off x="8531352" y="2647188"/>
            <a:ext cx="374904" cy="210312"/>
          </a:xfrm>
          <a:prstGeom prst="rect">
            <a:avLst/>
          </a:prstGeom>
          <a:noFill/>
          <a:ln/>
        </p:spPr>
        <p:txBody>
          <a:bodyPr wrap="square" lIns="0" tIns="0" rIns="0" bIns="0" rtlCol="0" anchor="ctr">
            <a:normAutofit/>
          </a:bodyPr>
          <a:lstStyle/>
          <a:p>
            <a:pPr algn="ctr" indent="0" marL="0">
              <a:buNone/>
            </a:pPr>
            <a:r>
              <a:rPr lang="en-US" sz="1020" b="1" spc="70" kern="0" dirty="0">
                <a:solidFill>
                  <a:srgbClr val="2563EB"/>
                </a:solidFill>
                <a:latin typeface="Aptos" pitchFamily="34" charset="0"/>
                <a:ea typeface="Aptos" pitchFamily="34" charset="-122"/>
                <a:cs typeface="Aptos" pitchFamily="34" charset="-120"/>
              </a:rPr>
              <a:t>03</a:t>
            </a:r>
            <a:endParaRPr lang="en-US" sz="1020" dirty="0"/>
          </a:p>
        </p:txBody>
      </p:sp>
      <p:sp>
        <p:nvSpPr>
          <p:cNvPr id="21" name="Text 19"/>
          <p:cNvSpPr/>
          <p:nvPr/>
        </p:nvSpPr>
        <p:spPr>
          <a:xfrm>
            <a:off x="8430768" y="3054096"/>
            <a:ext cx="3017520" cy="310896"/>
          </a:xfrm>
          <a:prstGeom prst="rect">
            <a:avLst/>
          </a:prstGeom>
          <a:noFill/>
          <a:ln/>
        </p:spPr>
        <p:txBody>
          <a:bodyPr wrap="square" lIns="0" tIns="0" rIns="0" bIns="0" rtlCol="0" anchor="ctr">
            <a:normAutofit/>
          </a:bodyPr>
          <a:lstStyle/>
          <a:p>
            <a:pPr indent="0" marL="0">
              <a:buNone/>
            </a:pPr>
            <a:r>
              <a:rPr lang="en-US" sz="1900" b="1" dirty="0">
                <a:solidFill>
                  <a:srgbClr val="0B1020"/>
                </a:solidFill>
                <a:latin typeface="Aptos" pitchFamily="34" charset="0"/>
                <a:ea typeface="Aptos" pitchFamily="34" charset="-122"/>
                <a:cs typeface="Aptos" pitchFamily="34" charset="-120"/>
              </a:rPr>
              <a:t>SCALE</a:t>
            </a:r>
            <a:endParaRPr lang="en-US" sz="1900" dirty="0"/>
          </a:p>
        </p:txBody>
      </p:sp>
      <p:sp>
        <p:nvSpPr>
          <p:cNvPr id="22" name="Text 20"/>
          <p:cNvSpPr/>
          <p:nvPr/>
        </p:nvSpPr>
        <p:spPr>
          <a:xfrm>
            <a:off x="8430768" y="3602736"/>
            <a:ext cx="3108960" cy="329184"/>
          </a:xfrm>
          <a:prstGeom prst="rect">
            <a:avLst/>
          </a:prstGeom>
          <a:noFill/>
          <a:ln/>
        </p:spPr>
        <p:txBody>
          <a:bodyPr wrap="square" lIns="0" tIns="0" rIns="0" bIns="0" rtlCol="0" anchor="ctr">
            <a:normAutofit/>
          </a:bodyPr>
          <a:lstStyle/>
          <a:p>
            <a:pPr indent="0" marL="0">
              <a:buNone/>
            </a:pPr>
            <a:r>
              <a:rPr lang="en-US" sz="1390" dirty="0">
                <a:solidFill>
                  <a:srgbClr val="64748B"/>
                </a:solidFill>
                <a:latin typeface="Aptos" pitchFamily="34" charset="0"/>
                <a:ea typeface="Aptos" pitchFamily="34" charset="-122"/>
                <a:cs typeface="Aptos" pitchFamily="34" charset="-120"/>
              </a:rPr>
              <a:t>Adopt the operating standard</a:t>
            </a:r>
            <a:endParaRPr lang="en-US" sz="1390" dirty="0"/>
          </a:p>
        </p:txBody>
      </p:sp>
      <p:sp>
        <p:nvSpPr>
          <p:cNvPr id="23" name="Text 21"/>
          <p:cNvSpPr/>
          <p:nvPr/>
        </p:nvSpPr>
        <p:spPr>
          <a:xfrm>
            <a:off x="8430768" y="4078224"/>
            <a:ext cx="3118104" cy="338328"/>
          </a:xfrm>
          <a:prstGeom prst="rect">
            <a:avLst/>
          </a:prstGeom>
          <a:noFill/>
          <a:ln/>
        </p:spPr>
        <p:txBody>
          <a:bodyPr wrap="square" lIns="0" tIns="0" rIns="0" bIns="0" rtlCol="0" anchor="ctr">
            <a:normAutofit/>
          </a:bodyPr>
          <a:lstStyle/>
          <a:p>
            <a:pPr indent="0" marL="0">
              <a:buNone/>
            </a:pPr>
            <a:r>
              <a:rPr lang="en-US" sz="1300" b="1" dirty="0">
                <a:solidFill>
                  <a:srgbClr val="0F766E"/>
                </a:solidFill>
                <a:latin typeface="Aptos" pitchFamily="34" charset="0"/>
                <a:ea typeface="Aptos" pitchFamily="34" charset="-122"/>
                <a:cs typeface="Aptos" pitchFamily="34" charset="-120"/>
              </a:rPr>
              <a:t>Measure quality, speed and cost</a:t>
            </a:r>
            <a:endParaRPr lang="en-US" sz="1300" dirty="0"/>
          </a:p>
        </p:txBody>
      </p:sp>
      <p:sp>
        <p:nvSpPr>
          <p:cNvPr id="24" name="Text 22"/>
          <p:cNvSpPr/>
          <p:nvPr/>
        </p:nvSpPr>
        <p:spPr>
          <a:xfrm>
            <a:off x="594360" y="5001768"/>
            <a:ext cx="3108960" cy="301752"/>
          </a:xfrm>
          <a:prstGeom prst="rect">
            <a:avLst/>
          </a:prstGeom>
          <a:noFill/>
          <a:ln/>
        </p:spPr>
        <p:txBody>
          <a:bodyPr wrap="square" lIns="0" tIns="0" rIns="0" bIns="0" rtlCol="0" anchor="ctr">
            <a:normAutofit/>
          </a:bodyPr>
          <a:lstStyle/>
          <a:p>
            <a:pPr indent="0" marL="0">
              <a:buNone/>
            </a:pPr>
            <a:r>
              <a:rPr lang="en-US" sz="1700" b="1" dirty="0">
                <a:solidFill>
                  <a:srgbClr val="0B1020"/>
                </a:solidFill>
                <a:latin typeface="Aptos" pitchFamily="34" charset="0"/>
                <a:ea typeface="Aptos" pitchFamily="34" charset="-122"/>
                <a:cs typeface="Aptos" pitchFamily="34" charset="-120"/>
              </a:rPr>
              <a:t>Pilot scorecard</a:t>
            </a:r>
            <a:endParaRPr lang="en-US" sz="1700" dirty="0"/>
          </a:p>
        </p:txBody>
      </p:sp>
      <p:sp>
        <p:nvSpPr>
          <p:cNvPr id="25" name="Text 23"/>
          <p:cNvSpPr/>
          <p:nvPr/>
        </p:nvSpPr>
        <p:spPr>
          <a:xfrm>
            <a:off x="594360" y="5431536"/>
            <a:ext cx="10927080" cy="438912"/>
          </a:xfrm>
          <a:prstGeom prst="rect">
            <a:avLst/>
          </a:prstGeom>
          <a:noFill/>
          <a:ln/>
        </p:spPr>
        <p:txBody>
          <a:bodyPr wrap="square" lIns="0" tIns="0" rIns="0" bIns="0" rtlCol="0" anchor="ctr">
            <a:normAutofit/>
          </a:bodyPr>
          <a:lstStyle/>
          <a:p>
            <a:pPr indent="0" marL="0">
              <a:buNone/>
            </a:pPr>
            <a:r>
              <a:rPr lang="en-US" sz="1520" dirty="0">
                <a:solidFill>
                  <a:srgbClr val="64748B"/>
                </a:solidFill>
                <a:latin typeface="Aptos" pitchFamily="34" charset="0"/>
                <a:ea typeface="Aptos" pitchFamily="34" charset="-122"/>
                <a:cs typeface="Aptos" pitchFamily="34" charset="-120"/>
              </a:rPr>
              <a:t>Time to useful RCA  •  Review usefulness  •  Policy adherence  •  Cost per run</a:t>
            </a:r>
            <a:endParaRPr lang="en-US" sz="1520" dirty="0"/>
          </a:p>
        </p:txBody>
      </p:sp>
      <p:sp>
        <p:nvSpPr>
          <p:cNvPr id="26" name="Shape 24"/>
          <p:cNvSpPr/>
          <p:nvPr/>
        </p:nvSpPr>
        <p:spPr>
          <a:xfrm>
            <a:off x="566928" y="5925312"/>
            <a:ext cx="11018520" cy="384048"/>
          </a:xfrm>
          <a:prstGeom prst="roundRect">
            <a:avLst>
              <a:gd name="adj" fmla="val 19048"/>
            </a:avLst>
          </a:prstGeom>
          <a:solidFill>
            <a:srgbClr val="0B1020"/>
          </a:solidFill>
          <a:ln w="12700">
            <a:solidFill>
              <a:srgbClr val="0B1020"/>
            </a:solidFill>
            <a:prstDash val="solid"/>
          </a:ln>
        </p:spPr>
      </p:sp>
      <p:sp>
        <p:nvSpPr>
          <p:cNvPr id="27" name="Text 25"/>
          <p:cNvSpPr/>
          <p:nvPr/>
        </p:nvSpPr>
        <p:spPr>
          <a:xfrm>
            <a:off x="795528" y="5989320"/>
            <a:ext cx="10515600" cy="21945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Can we agree one workflow, one owner and a two-week pilot?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KAOP: Agentic Operations, Under Control</dc:title>
  <dc:subject>Customer-facing platform engineering pitch</dc:subject>
  <dc:creator>Komodor KAOP product engineering demo</dc:creator>
  <cp:lastModifiedBy>Komodor KAOP product engineering demo</cp:lastModifiedBy>
  <cp:revision>1</cp:revision>
  <dcterms:created xsi:type="dcterms:W3CDTF">2026-10-24T05:28:34Z</dcterms:created>
  <dcterms:modified xsi:type="dcterms:W3CDTF">2026-10-24T05:28:34Z</dcterms:modified>
</cp:coreProperties>
</file>